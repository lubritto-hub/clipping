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Tese em uma frase: a casca de coco é uma biomassa naturalmente boa para pirólise, e o biochar conversa com o que a PepsiCo já decidiu. Não pedir nada — o deck mostra o porquê.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Entra casca, acontece calor com pouco oxigênio (400–600 °C), sai biochar e energia. Os gases recirculam como calor. ~300 kg/t é benchmark de literatura para casca de coco, a validar com a biomassa da unidade.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Lignina alta e cinzas baixas favorecem rendimento e chars aromáticos estáveis. 80–85% da massa do fruto é resíduo. A secção transversal ao lado é o próprio argumento: o fruto é quase todo casca.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Falar das propriedades do material, não de como a unidade lida hoje. Casca úmida é volumosa e perecível; biochar é seco, ~30% da massa, inerte e estável por séculos — não vira passivo.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Net-zero 2050 validado SBTi; 2030 vs 2022: Escopos 1+2 −50%, Escopo 3 E&amp;I −42%, FLAG −30%; 10 milhões de acres regenerativos até 2030 (3,5 mi até 2024). A PepsiCo declara comprar instrumentos gerados dentro da própria cadeia.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por que vale investigar, sem preço nem TIR. Microsoft × Exomad Green: ≥1,24 Mt CO₂ em 10 anos (mai/2025), certificação Puro.earth, biochar entregue a produtores locais — o mesmo desenho de uma cadeia agroindustrial.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pedido. As três condições são a aderência dita de forma indireta — deixar o gerente reagir a cada uma. Se ele puxar o próximo passo: dados, amostra, teste, tecnologia, business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937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4D6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/ 01 · PEPSICO · PETROLINA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5760720" y="384048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66928"/>
            <a:ext cx="3840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09°23′S / 40°30′W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03120"/>
            <a:ext cx="4389120" cy="1184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64"/>
              </a:lnSpc>
              <a:buNone/>
            </a:pPr>
            <a:r>
              <a:rPr lang="en-US" sz="4400" spc="-100" kern="0" dirty="0">
                <a:solidFill>
                  <a:srgbClr val="2F3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nova rota</a:t>
            </a:r>
            <a:endParaRPr lang="en-US" sz="4400" dirty="0"/>
          </a:p>
          <a:p>
            <a:pPr indent="0" marL="0">
              <a:lnSpc>
                <a:spcPts val="4664"/>
              </a:lnSpc>
              <a:buNone/>
            </a:pPr>
            <a:r>
              <a:rPr lang="en-US" sz="4400" spc="-100" kern="0" dirty="0">
                <a:solidFill>
                  <a:srgbClr val="2F3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 coco.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52958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5C5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a pirólise faz sentido para a biomassa de coco — e o que ela pode representar para Petrolina.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4279392"/>
            <a:ext cx="3840480" cy="7315"/>
          </a:xfrm>
          <a:prstGeom prst="rect">
            <a:avLst/>
          </a:prstGeom>
          <a:solidFill>
            <a:srgbClr val="4D6640">
              <a:alpha val="5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4389120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4D6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BIOMASSA   →   BIOCHAR   →   VALOR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57200" y="4626864"/>
            <a:ext cx="8229600" cy="7315"/>
          </a:xfrm>
          <a:prstGeom prst="rect">
            <a:avLst/>
          </a:prstGeom>
          <a:solidFill>
            <a:srgbClr val="8A7050">
              <a:alpha val="3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4718304"/>
            <a:ext cx="8229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DOCUMENTO NÃO É UMA PROPOSTA COMERCIAL — É O PORQUÊ TÉCNICO E ESTRATÉGICO</a:t>
            </a:r>
            <a:endParaRPr lang="en-US" sz="6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937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4D6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PROCESS · BIOMASS / PYROLYSIS / BIOCHAR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5760720" y="384048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PETROLINA / PE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68096"/>
            <a:ext cx="4572000" cy="457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4"/>
              </a:lnSpc>
              <a:buNone/>
            </a:pPr>
            <a:r>
              <a:rPr lang="en-US" sz="3400" spc="-100" kern="0" dirty="0">
                <a:solidFill>
                  <a:srgbClr val="2F3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coco ao biochar.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89888"/>
            <a:ext cx="4572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4D6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CALOR.  POUCO OXIGÊNIO.  CARBONO ESTÁVEL.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956816"/>
            <a:ext cx="20116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 SECA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475488" y="3017520"/>
            <a:ext cx="1463040" cy="561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160" kern="0" dirty="0">
                <a:solidFill>
                  <a:srgbClr val="A887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t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1664208"/>
            <a:ext cx="1554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87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400–600 °C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1883664"/>
            <a:ext cx="1920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0" spc="260" kern="0" dirty="0">
                <a:solidFill>
                  <a:srgbClr val="4D6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PIRÓLISE · POUCO OXIGÊNIO</a:t>
            </a:r>
            <a:endParaRPr lang="en-US" sz="62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4261104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spc="260" kern="0" dirty="0">
                <a:solidFill>
                  <a:srgbClr val="6D8F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GASES RECIRCULAM COMO CALOR</a:t>
            </a:r>
            <a:endParaRPr lang="en-US" sz="62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2103120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3D2A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5413248" y="2798064"/>
            <a:ext cx="2194560" cy="561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160" kern="0" dirty="0">
                <a:solidFill>
                  <a:srgbClr val="2F3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~300 kg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5449824" y="3474720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−70% DE MASSA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4078224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0" spc="260" kern="0" dirty="0">
                <a:solidFill>
                  <a:srgbClr val="4D6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 COMERCIAL · OPERAÇÃO CONTÍNUA</a:t>
            </a:r>
            <a:endParaRPr lang="en-US" sz="620" dirty="0"/>
          </a:p>
        </p:txBody>
      </p:sp>
      <p:sp>
        <p:nvSpPr>
          <p:cNvPr id="15" name="Text 13"/>
          <p:cNvSpPr txBox="1"/>
          <p:nvPr/>
        </p:nvSpPr>
        <p:spPr>
          <a:xfrm>
            <a:off x="5486400" y="4261104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60" kern="0" dirty="0">
                <a:solidFill>
                  <a:srgbClr val="2F3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CERTIFICÁVEL · PURO.EARTH · EBC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57200" y="4626864"/>
            <a:ext cx="8229600" cy="7315"/>
          </a:xfrm>
          <a:prstGeom prst="rect">
            <a:avLst/>
          </a:prstGeom>
          <a:solidFill>
            <a:srgbClr val="8A7050">
              <a:alpha val="32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4718304"/>
            <a:ext cx="8229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TÉCNICO PARA CASCA DE COCO EM ENSAIOS PUBLICADOS — A VALIDAR COM A BIOMASSA DA UNIDADE</a:t>
            </a:r>
            <a:endParaRPr lang="en-US" sz="62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882896"/>
            <a:ext cx="8229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ALTURA DA BANDA DE CHAR É 30% DA BANDA DE CASCA PORQUE ESSE É O RENDIMENTO; A PROPORÇÃO É O DADO</a:t>
            </a:r>
            <a:endParaRPr lang="en-US" sz="6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937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4D6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WHY COCONUT · CARACTERIZAÇÃO DE CASCA E FIBRA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5760720" y="384048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PETROLINA / PE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68096"/>
            <a:ext cx="4206240" cy="91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4"/>
              </a:lnSpc>
              <a:buNone/>
            </a:pPr>
            <a:r>
              <a:rPr lang="en-US" sz="3400" spc="-100" kern="0" dirty="0">
                <a:solidFill>
                  <a:srgbClr val="2F3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já nasce</a:t>
            </a:r>
            <a:endParaRPr lang="en-US" sz="3400" dirty="0"/>
          </a:p>
          <a:p>
            <a:pPr indent="0" marL="0">
              <a:lnSpc>
                <a:spcPts val="3604"/>
              </a:lnSpc>
              <a:buNone/>
            </a:pPr>
            <a:r>
              <a:rPr lang="en-US" sz="3400" spc="-100" kern="0" dirty="0">
                <a:solidFill>
                  <a:srgbClr val="2F3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pronta para isso.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73936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5C5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propriedades da casca e da fibra fazem dela uma biomassa naturalmente boa para pirólise.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2432304"/>
            <a:ext cx="4023360" cy="7315"/>
          </a:xfrm>
          <a:prstGeom prst="rect">
            <a:avLst/>
          </a:prstGeom>
          <a:solidFill>
            <a:srgbClr val="8A7050">
              <a:alpha val="3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2523744"/>
            <a:ext cx="1371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-160" kern="0" dirty="0">
                <a:solidFill>
                  <a:srgbClr val="2F3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25–53%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578608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4D6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LIGNINA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2761488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C5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lignina, mais carbono fixo — e um char mais estável.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3218688"/>
            <a:ext cx="4023360" cy="7315"/>
          </a:xfrm>
          <a:prstGeom prst="rect">
            <a:avLst/>
          </a:prstGeom>
          <a:solidFill>
            <a:srgbClr val="8A7050">
              <a:alpha val="3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310128"/>
            <a:ext cx="13716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spc="-160" kern="0" dirty="0">
                <a:solidFill>
                  <a:srgbClr val="4D6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4%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3364992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4D6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CINZAS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3547872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C5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Pouca cinza, biochar limpo e com alto teor de carbono.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4005072"/>
            <a:ext cx="4023360" cy="7315"/>
          </a:xfrm>
          <a:prstGeom prst="rect">
            <a:avLst/>
          </a:prstGeom>
          <a:solidFill>
            <a:srgbClr val="8A7050">
              <a:alpha val="3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4096512"/>
            <a:ext cx="13716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spc="-160" kern="0" dirty="0">
                <a:solidFill>
                  <a:srgbClr val="A887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80–85%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1920240" y="4151376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4D6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MASSA DO FRUTO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33425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C5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fruto é majoritariamente casca: biomassa abundante por natureza.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4626864"/>
            <a:ext cx="8229600" cy="7315"/>
          </a:xfrm>
          <a:prstGeom prst="rect">
            <a:avLst/>
          </a:prstGeom>
          <a:solidFill>
            <a:srgbClr val="8A7050">
              <a:alpha val="32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4718304"/>
            <a:ext cx="8229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LITERATURA TÉCNICA DE CARACTERIZAÇÃO · DEVENS ET AL., 2018 · WINDEATT ET AL., 2014</a:t>
            </a:r>
            <a:endParaRPr lang="en-US" sz="62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882896"/>
            <a:ext cx="8229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UMIDADE AS-RECEIVED DE 30–70% É O DESAFIO CONHECIDO — SECAGEM INTEGRADA COM CALOR DO PROCESSO</a:t>
            </a:r>
            <a:endParaRPr lang="en-US" sz="6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937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4D6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OPERATION · PROPRIEDADES DO MATERIAL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5760720" y="384048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PETROLINA / PE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68096"/>
            <a:ext cx="4206240" cy="91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4"/>
              </a:lnSpc>
              <a:buNone/>
            </a:pPr>
            <a:r>
              <a:rPr lang="en-US" sz="3400" spc="-100" kern="0" dirty="0">
                <a:solidFill>
                  <a:srgbClr val="2F3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pilha.</a:t>
            </a:r>
            <a:endParaRPr lang="en-US" sz="3400" dirty="0"/>
          </a:p>
          <a:p>
            <a:pPr indent="0" marL="0">
              <a:lnSpc>
                <a:spcPts val="3604"/>
              </a:lnSpc>
              <a:buNone/>
            </a:pPr>
            <a:r>
              <a:rPr lang="en-US" sz="3400" spc="-100" kern="0" dirty="0">
                <a:solidFill>
                  <a:srgbClr val="2F3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estabilidade.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962656"/>
            <a:ext cx="20116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 ÚMIDA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163824"/>
            <a:ext cx="2194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F3A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30–70% de umidade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01568"/>
            <a:ext cx="20116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B8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PERECÍVEL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66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5C5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pilha: chorume, odor e metano.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2962656"/>
            <a:ext cx="20116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3D2A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5120640" y="3163824"/>
            <a:ext cx="2194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F3A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seco · inerte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401568"/>
            <a:ext cx="20116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4D6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SÉCULOS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3566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5C5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Carbono estável, sem decomposição.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2331720" y="2560320"/>
            <a:ext cx="2651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−70% DE MASSA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2331720" y="2724912"/>
            <a:ext cx="2651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ÁREA DE CADA QUADRADO É A MASSA</a:t>
            </a:r>
            <a:endParaRPr lang="en-US" sz="620" dirty="0"/>
          </a:p>
        </p:txBody>
      </p:sp>
      <p:sp>
        <p:nvSpPr>
          <p:cNvPr id="15" name="Shape 13"/>
          <p:cNvSpPr/>
          <p:nvPr/>
        </p:nvSpPr>
        <p:spPr>
          <a:xfrm>
            <a:off x="457200" y="4626864"/>
            <a:ext cx="8229600" cy="7315"/>
          </a:xfrm>
          <a:prstGeom prst="rect">
            <a:avLst/>
          </a:prstGeom>
          <a:solidFill>
            <a:srgbClr val="8A7050">
              <a:alpha val="32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4718304"/>
            <a:ext cx="8229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UMIDADE E RENDIMENTO: LITERATURA TÉCNICA PARA CASCA DE COCO</a:t>
            </a:r>
            <a:endParaRPr lang="en-US" sz="62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882896"/>
            <a:ext cx="8229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METANO EM PILHAS ÚMIDAS: METODOLOGIA PURO.EARTH (2025)</a:t>
            </a:r>
            <a:endParaRPr lang="en-US" sz="6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937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4D6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STRATEGY · PEP+ · CLIMATE TRANSITION PLAN 2025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5760720" y="384048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PETROLINA / PE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68096"/>
            <a:ext cx="4937760" cy="91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4"/>
              </a:lnSpc>
              <a:buNone/>
            </a:pPr>
            <a:r>
              <a:rPr lang="en-US" sz="3400" spc="-100" kern="0" dirty="0">
                <a:solidFill>
                  <a:srgbClr val="2F3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 com o que</a:t>
            </a:r>
            <a:endParaRPr lang="en-US" sz="3400" dirty="0"/>
          </a:p>
          <a:p>
            <a:pPr indent="0" marL="0">
              <a:lnSpc>
                <a:spcPts val="3604"/>
              </a:lnSpc>
              <a:buNone/>
            </a:pPr>
            <a:r>
              <a:rPr lang="en-US" sz="3400" spc="-100" kern="0" dirty="0">
                <a:solidFill>
                  <a:srgbClr val="2F3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PepsiCo já decidiu.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5564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5C5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Remoções de carbono geradas dentro da própria cadeia agrícola — o tipo de instrumento que o plano já admite.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41956"/>
            <a:ext cx="18288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spc="-160" kern="0" dirty="0">
                <a:solidFill>
                  <a:srgbClr val="2F3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−30%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108960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spc="260" kern="0" dirty="0">
                <a:solidFill>
                  <a:srgbClr val="4D6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ESCOPO 3 AGRÍCOLA</a:t>
            </a:r>
            <a:endParaRPr lang="en-US" sz="62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255264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 · ATÉ 2030</a:t>
            </a:r>
            <a:endParaRPr lang="en-US" sz="6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474976"/>
            <a:ext cx="18288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spc="-160" kern="0" dirty="0">
                <a:solidFill>
                  <a:srgbClr val="4D6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3108960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spc="260" kern="0" dirty="0">
                <a:solidFill>
                  <a:srgbClr val="4D6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ACRES REGENERATIVOS</a:t>
            </a:r>
            <a:endParaRPr lang="en-US" sz="62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3255264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2030 · 3,5 MI EM 2024</a:t>
            </a:r>
            <a:endParaRPr lang="en-US" sz="6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507996"/>
            <a:ext cx="18288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spc="-160" kern="0" dirty="0">
                <a:solidFill>
                  <a:srgbClr val="A887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−42%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303520" y="3108960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spc="260" kern="0" dirty="0">
                <a:solidFill>
                  <a:srgbClr val="4D6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ESCOPO 3 · ENERGIA</a:t>
            </a:r>
            <a:endParaRPr lang="en-US" sz="620" dirty="0"/>
          </a:p>
        </p:txBody>
      </p:sp>
      <p:sp>
        <p:nvSpPr>
          <p:cNvPr id="14" name="Text 12"/>
          <p:cNvSpPr txBox="1"/>
          <p:nvPr/>
        </p:nvSpPr>
        <p:spPr>
          <a:xfrm>
            <a:off x="5303520" y="3255264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2030 · BASE 2022</a:t>
            </a:r>
            <a:endParaRPr lang="en-US" sz="6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2541016"/>
            <a:ext cx="155448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spc="-1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2050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0" y="3108960"/>
            <a:ext cx="1554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0" spc="260" kern="0" dirty="0">
                <a:solidFill>
                  <a:srgbClr val="4D6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NET-ZERO · SBTI</a:t>
            </a:r>
            <a:endParaRPr lang="en-US" sz="620" dirty="0"/>
          </a:p>
        </p:txBody>
      </p:sp>
      <p:sp>
        <p:nvSpPr>
          <p:cNvPr id="17" name="Text 15"/>
          <p:cNvSpPr txBox="1"/>
          <p:nvPr/>
        </p:nvSpPr>
        <p:spPr>
          <a:xfrm>
            <a:off x="7132320" y="3255264"/>
            <a:ext cx="1554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LONGO PRAZO</a:t>
            </a:r>
            <a:endParaRPr lang="en-US" sz="600" dirty="0"/>
          </a:p>
        </p:txBody>
      </p:sp>
      <p:sp>
        <p:nvSpPr>
          <p:cNvPr id="18" name="Shape 16"/>
          <p:cNvSpPr/>
          <p:nvPr/>
        </p:nvSpPr>
        <p:spPr>
          <a:xfrm>
            <a:off x="457200" y="3712464"/>
            <a:ext cx="8229600" cy="7315"/>
          </a:xfrm>
          <a:prstGeom prst="rect">
            <a:avLst/>
          </a:prstGeom>
          <a:solidFill>
            <a:srgbClr val="4D6640">
              <a:alpha val="50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822192"/>
            <a:ext cx="237744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-160" kern="0" dirty="0">
                <a:solidFill>
                  <a:srgbClr val="4D6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+42 p.p.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2926080" y="389534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2F3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sobrevivência de mudas de caju com biochar no Semiárido — 26% → 68%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3913632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ENSAIO EMBRAPA SEMIÁRIDO, PETROLINA · 2026</a:t>
            </a:r>
            <a:endParaRPr lang="en-US" sz="620" dirty="0"/>
          </a:p>
        </p:txBody>
      </p:sp>
      <p:sp>
        <p:nvSpPr>
          <p:cNvPr id="22" name="Shape 20"/>
          <p:cNvSpPr/>
          <p:nvPr/>
        </p:nvSpPr>
        <p:spPr>
          <a:xfrm>
            <a:off x="457200" y="4626864"/>
            <a:ext cx="8229600" cy="7315"/>
          </a:xfrm>
          <a:prstGeom prst="rect">
            <a:avLst/>
          </a:prstGeom>
          <a:solidFill>
            <a:srgbClr val="8A7050">
              <a:alpha val="32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4718304"/>
            <a:ext cx="8229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PEPSICO CLIMATE TRANSITION PLAN, MAI/2025 · METAS VALIDADAS PELA SBTI · BASE 2022 · PEPSICO.COM/ESG</a:t>
            </a:r>
            <a:endParaRPr lang="en-US" sz="62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882896"/>
            <a:ext cx="8229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 NO SOLO DOS PRODUTORES DA CADEIA É PRÁTICA REGENERATIVA COM RESULTADO MEDIDO NESTA REGIÃO</a:t>
            </a:r>
            <a:endParaRPr lang="en-US" sz="6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937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4D6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VALUE · BIOCHAR · MACRO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5760720" y="384048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PETROLINA / PE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68096"/>
            <a:ext cx="3108960" cy="1292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92"/>
              </a:lnSpc>
              <a:buNone/>
            </a:pPr>
            <a:r>
              <a:rPr lang="en-US" sz="3200" spc="-100" kern="0" dirty="0">
                <a:solidFill>
                  <a:srgbClr val="2F3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biomassa.</a:t>
            </a:r>
            <a:endParaRPr lang="en-US" sz="3200" dirty="0"/>
          </a:p>
          <a:p>
            <a:pPr indent="0" marL="0">
              <a:lnSpc>
                <a:spcPts val="3392"/>
              </a:lnSpc>
              <a:buNone/>
            </a:pPr>
            <a:r>
              <a:rPr lang="en-US" sz="3200" spc="-100" kern="0" dirty="0">
                <a:solidFill>
                  <a:srgbClr val="2F3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caminhos</a:t>
            </a:r>
            <a:endParaRPr lang="en-US" sz="3200" dirty="0"/>
          </a:p>
          <a:p>
            <a:pPr indent="0" marL="0">
              <a:lnSpc>
                <a:spcPts val="3392"/>
              </a:lnSpc>
              <a:buNone/>
            </a:pPr>
            <a:r>
              <a:rPr lang="en-US" sz="3200" spc="-100" kern="0" dirty="0">
                <a:solidFill>
                  <a:srgbClr val="2F3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valor.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340864"/>
            <a:ext cx="292608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spc="-160" kern="0" dirty="0">
                <a:solidFill>
                  <a:srgbClr val="2F3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1,24 Mt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54096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5C5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remoções de biochar contratadas pela Microsoft em 10 anos — o maior acordo do mundo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12464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EXOMAD GREEN · MAI/2025 · PURO.EARTH</a:t>
            </a:r>
            <a:endParaRPr lang="en-US" sz="620" dirty="0"/>
          </a:p>
        </p:txBody>
      </p:sp>
      <p:sp>
        <p:nvSpPr>
          <p:cNvPr id="8" name="Text 6"/>
          <p:cNvSpPr txBox="1"/>
          <p:nvPr/>
        </p:nvSpPr>
        <p:spPr>
          <a:xfrm>
            <a:off x="4261104" y="859536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D66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681728" y="868680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4D6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4261104" y="106070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F3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rota de valorização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261104" y="131673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C5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Massa −70%, material seco e estável — sem novo passivo.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3803904" y="2148840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D66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224528" y="2157984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4D6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3803904" y="235000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F3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803904" y="2606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C5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Solo, substratos e materiais: um produto físico com mercado real.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626864" y="3438144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D66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5047488" y="3447288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4D6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CARBONO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4626864" y="36393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F3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 removal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626864" y="389534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C5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≈2,5–3 t de CO₂ por t de biochar (benchmark) — certificável e já comprado em escala.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57200" y="4626864"/>
            <a:ext cx="8229600" cy="7315"/>
          </a:xfrm>
          <a:prstGeom prst="rect">
            <a:avLst/>
          </a:prstGeom>
          <a:solidFill>
            <a:srgbClr val="8A7050">
              <a:alpha val="32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4718304"/>
            <a:ext cx="8229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 DE LITERATURA E DE MERCADO — A VALIDAR COM A BIOMASSA DA UNIDADE</a:t>
            </a:r>
            <a:endParaRPr lang="en-US" sz="62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882896"/>
            <a:ext cx="8229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8A7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≈2,5–3,0 T DE CO₂ POR T DE BIOCHAR É FAIXA DE LITERATURA, NÃO COMPROMISSO DESTE DOCUMENTO</a:t>
            </a:r>
            <a:endParaRPr lang="en-US" sz="6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937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A9C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WHAT MUST BE TRUE · 09°23′S / 40°30′W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5760720" y="384048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A9C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09°23′S / 40°30′W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68096"/>
            <a:ext cx="4572000" cy="1023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800" spc="-100" kern="0" dirty="0">
                <a:solidFill>
                  <a:srgbClr val="D9E7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precisa</a:t>
            </a:r>
            <a:endParaRPr lang="en-US" sz="38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800" spc="-100" kern="0" dirty="0">
                <a:solidFill>
                  <a:srgbClr val="D9E7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 verdade.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75104"/>
            <a:ext cx="4572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A9C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CONDIÇÕES — NENHUMA DELAS É UM PEDIDO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676656" y="221284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C4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2414016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7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biomassa regular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2724912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A9C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e frequência que sustentem uma operação contínua.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76656" y="3401568"/>
            <a:ext cx="2212848" cy="7315"/>
          </a:xfrm>
          <a:prstGeom prst="rect">
            <a:avLst/>
          </a:prstGeom>
          <a:solidFill>
            <a:srgbClr val="A9C48F">
              <a:alpha val="40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6656" y="3474720"/>
            <a:ext cx="22128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93B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FOR VERDADE</a:t>
            </a:r>
            <a:endParaRPr lang="en-US" sz="600" dirty="0"/>
          </a:p>
        </p:txBody>
      </p:sp>
      <p:sp>
        <p:nvSpPr>
          <p:cNvPr id="11" name="Text 9"/>
          <p:cNvSpPr txBox="1"/>
          <p:nvPr/>
        </p:nvSpPr>
        <p:spPr>
          <a:xfrm>
            <a:off x="676656" y="36393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D9E7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rota térmica dimensionada, não um experimento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419856" y="221284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C4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19856" y="2414016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7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 na rotina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419856" y="2724912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A9C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etapa térmica que caiba na operação da unidade.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19856" y="3401568"/>
            <a:ext cx="2212848" cy="7315"/>
          </a:xfrm>
          <a:prstGeom prst="rect">
            <a:avLst/>
          </a:prstGeom>
          <a:solidFill>
            <a:srgbClr val="A9C48F">
              <a:alpha val="40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19856" y="3474720"/>
            <a:ext cx="22128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93B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FOR VERDADE</a:t>
            </a:r>
            <a:endParaRPr lang="en-US" sz="600" dirty="0"/>
          </a:p>
        </p:txBody>
      </p:sp>
      <p:sp>
        <p:nvSpPr>
          <p:cNvPr id="17" name="Text 15"/>
          <p:cNvSpPr txBox="1"/>
          <p:nvPr/>
        </p:nvSpPr>
        <p:spPr>
          <a:xfrm>
            <a:off x="3419856" y="36393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D9E7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deixa de ser uma pilha e vira um fluxo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C4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163056" y="2414016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7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destino para o biochar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163056" y="2724912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A9C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Solo, produtores ou materiais que absorvam o produto.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163056" y="3401568"/>
            <a:ext cx="2212848" cy="7315"/>
          </a:xfrm>
          <a:prstGeom prst="rect">
            <a:avLst/>
          </a:prstGeom>
          <a:solidFill>
            <a:srgbClr val="A9C48F">
              <a:alpha val="40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63056" y="3474720"/>
            <a:ext cx="22128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93B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FOR VERDADE</a:t>
            </a:r>
            <a:endParaRPr lang="en-US" sz="600" dirty="0"/>
          </a:p>
        </p:txBody>
      </p:sp>
      <p:sp>
        <p:nvSpPr>
          <p:cNvPr id="23" name="Text 21"/>
          <p:cNvSpPr txBox="1"/>
          <p:nvPr/>
        </p:nvSpPr>
        <p:spPr>
          <a:xfrm>
            <a:off x="6163056" y="36393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D9E7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remoção fica dentro da própria cadeia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261104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spc="-40" kern="0" dirty="0">
                <a:solidFill>
                  <a:srgbClr val="D9E7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isso for verdade, o coco tem uma segunda vida.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57200" y="4626864"/>
            <a:ext cx="8229600" cy="7315"/>
          </a:xfrm>
          <a:prstGeom prst="rect">
            <a:avLst/>
          </a:prstGeom>
          <a:solidFill>
            <a:srgbClr val="A9C48F">
              <a:alpha val="38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7200" y="4718304"/>
            <a:ext cx="8229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A9C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DENSIDADE DE CADA MEMBRANA CAI À MEDIDA QUE A CONDIÇÃO SE RESOLVE</a:t>
            </a:r>
            <a:endParaRPr lang="en-US" sz="6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PepsiCo Petrolina — por que o coco</dc:title>
  <dc:subject>PptxGenJS Presentation</dc:subject>
  <dc:creator>RECICLAR · EPA</dc:creator>
  <cp:lastModifiedBy>RECICLAR · EPA</cp:lastModifiedBy>
  <cp:revision>1</cp:revision>
  <dcterms:created xsi:type="dcterms:W3CDTF">2026-09-01T23:44:28Z</dcterms:created>
  <dcterms:modified xsi:type="dcterms:W3CDTF">2026-09-01T23:44:28Z</dcterms:modified>
</cp:coreProperties>
</file>