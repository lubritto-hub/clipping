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Tese em uma frase: a casca de coco é uma biomassa naturalmente boa para pirólise, e o biochar conversa com o que a PepsiCo já decidiu. Não pedir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80–85% da massa do fruto é casca. A biomassa já está no pátio, hoje, nesta quantidade. A umidade as-received de 30–70% é o desafio conhecido — secagem integrada com calor do próprio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Lignina alta e cinzas baixas favorecem rendimento e chars aromáticos estáveis. A secção ao lado é o argumento: o fruto é quase todo casca.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casca, acontece calor com pouco oxigênio (400–600 °C), sai biochar e energia. Os gases recirculam como calor. ~300 kg/t é benchmark de literatura, a validar com a biomassa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Casca úmida é volumosa e perecível; biochar é seco, ~30% da massa, inerte e estável por séculos — não vira passivo.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Net-zero 2050 validado SBTi; 2030 vs 2022: Escopo 3 FLAG −30%, Escopo 3 E&amp;I −42%; 10 milhões de acres regenerativos até 2030 (3,5 mi em 2024). Biochar no solo dos produtores é prática regenerativa com resultado medido nesta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pedido. As três condições são a aderência dita de forma indireta — deixar o gerente reagir a cada uma. Se ele puxar o próximo passo: dados, amostra, teste, tecnologia, business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645920" cy="274320"/>
          </a:xfrm>
          <a:prstGeom prst="roundRect">
            <a:avLst>
              <a:gd name="adj" fmla="val 166667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· PE</a:t>
            </a:r>
            <a:endParaRPr lang="en-US" sz="900" dirty="0"/>
          </a:p>
        </p:txBody>
      </p:sp>
      <p:pic>
        <p:nvPicPr>
          <p:cNvPr id="4" name="Image 0" descr="/home/user/clipping/design-system/.preview/deck-assets/ico/estrel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12" y="438912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188720"/>
            <a:ext cx="4572000" cy="245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448"/>
              </a:lnSpc>
              <a:buNone/>
            </a:pPr>
            <a:r>
              <a:rPr lang="en-US" sz="62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</a:t>
            </a:r>
            <a:endParaRPr lang="en-US" sz="6200" dirty="0"/>
          </a:p>
          <a:p>
            <a:pPr indent="0" marL="0">
              <a:lnSpc>
                <a:spcPts val="6448"/>
              </a:lnSpc>
              <a:buNone/>
            </a:pPr>
            <a:r>
              <a:rPr lang="en-US" sz="62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</a:t>
            </a:r>
            <a:endParaRPr lang="en-US" sz="6200" dirty="0"/>
          </a:p>
          <a:p>
            <a:pPr indent="0" marL="0">
              <a:lnSpc>
                <a:spcPts val="6448"/>
              </a:lnSpc>
              <a:buNone/>
            </a:pPr>
            <a:r>
              <a:rPr lang="en-US" sz="62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931920" cy="457200"/>
          </a:xfrm>
          <a:prstGeom prst="roundRect">
            <a:avLst>
              <a:gd name="adj" fmla="val 28000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7" name="Image 1" descr="/home/user/clipping/design-system/.preview/deck-assets/ico/coc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86784"/>
            <a:ext cx="310896" cy="3108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15568" y="40050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 pirólise faz sentido para a casca de coco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técnico e estratégico · não é proposta comercial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914400" cy="274320"/>
          </a:xfrm>
          <a:prstGeom prst="roundRect">
            <a:avLst>
              <a:gd name="adj" fmla="val 166667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84048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60"/>
              </a:lnSpc>
              <a:buNone/>
            </a:pPr>
            <a:r>
              <a:rPr lang="en-US" sz="40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pilha</a:t>
            </a:r>
            <a:endParaRPr lang="en-US" sz="4000" dirty="0"/>
          </a:p>
          <a:p>
            <a:pPr indent="0" marL="0">
              <a:lnSpc>
                <a:spcPts val="4160"/>
              </a:lnSpc>
              <a:buNone/>
            </a:pPr>
            <a:r>
              <a:rPr lang="en-US" sz="40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existe.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02920" y="2084832"/>
            <a:ext cx="3703320" cy="1481328"/>
          </a:xfrm>
          <a:prstGeom prst="roundRect">
            <a:avLst>
              <a:gd name="adj" fmla="val 6173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49424"/>
            <a:ext cx="3200400" cy="913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spc="-3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80–85%</a:t>
            </a:r>
            <a:endParaRPr lang="en-US" sz="6200" dirty="0"/>
          </a:p>
        </p:txBody>
      </p:sp>
      <p:pic>
        <p:nvPicPr>
          <p:cNvPr id="7" name="Image 0" descr="/home/user/clipping/design-system/.preview/deck-assets/ico/secao-cre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896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70432" y="31455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massa do fruto é casca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712464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785616"/>
            <a:ext cx="146304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30–70%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16966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423160" y="3712464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8A5A34"/>
          </a:solidFill>
          <a:ln w="12700">
            <a:solidFill>
              <a:srgbClr val="8A5A34"/>
            </a:solidFill>
            <a:prstDash val="solid"/>
          </a:ln>
        </p:spPr>
      </p:sp>
      <p:pic>
        <p:nvPicPr>
          <p:cNvPr id="13" name="Image 1" descr="/home/user/clipping/design-system/.preview/deck-assets/ico/pilha-c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3803904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06040" y="416966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perecível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de casca e fibra · Devens et al., 2018 ·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MATERIAL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2062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Nasce pronta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queimar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oxigênio.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248716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6" name="Image 0" descr="/home/user/clipping/design-system/.preview/deck-assets/ico/endocarp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33472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962656"/>
            <a:ext cx="1554480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25–53%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52958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lignina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50592" y="248716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5F1E6"/>
          </a:solidFill>
          <a:ln w="12700">
            <a:solidFill>
              <a:srgbClr val="F5F1E6"/>
            </a:solidFill>
            <a:prstDash val="solid"/>
          </a:ln>
        </p:spPr>
      </p:sp>
      <p:pic>
        <p:nvPicPr>
          <p:cNvPr id="10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263347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33472" y="2962656"/>
            <a:ext cx="1554480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4%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2633472" y="352958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cinzas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404164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lignina, mais carbono fixo   ·   menos cinza, char mais limpo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literatura técnica · Devens et al., 2018 ·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023360" cy="89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 oxigênio.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617720" y="822960"/>
            <a:ext cx="4023360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8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400–600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737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5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graus celsius, sem oxigênio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60120" y="2615184"/>
            <a:ext cx="6126480" cy="12802"/>
          </a:xfrm>
          <a:prstGeom prst="rect">
            <a:avLst/>
          </a:prstGeom>
          <a:solidFill>
            <a:srgbClr val="16331F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76656" y="2331720"/>
            <a:ext cx="566928" cy="566928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9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" y="2456444"/>
            <a:ext cx="317480" cy="3174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" y="3035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208276" y="2331720"/>
            <a:ext cx="566928" cy="566928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12" name="Image 1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000" y="245644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51660" y="3035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39896" y="2331720"/>
            <a:ext cx="566928" cy="566928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15" name="Image 2" descr="/home/user/clipping/design-system/.preview/deck-assets/ico/reat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620" y="2456444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83280" y="3035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271516" y="2331720"/>
            <a:ext cx="566928" cy="566928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18" name="Image 3" descr="/home/user/clipping/design-system/.preview/deck-assets/ico/gases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6240" y="2456444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4900" y="3035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6803136" y="2331720"/>
            <a:ext cx="566928" cy="566928"/>
          </a:xfrm>
          <a:prstGeom prst="ellipse">
            <a:avLst/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21" name="Image 4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860" y="2456444"/>
            <a:ext cx="317480" cy="3174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30358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3639312"/>
            <a:ext cx="146304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16966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seca entra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120640" y="3639312"/>
            <a:ext cx="237744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kg</a:t>
            </a:r>
            <a:endParaRPr lang="en-US" sz="3200" dirty="0"/>
          </a:p>
        </p:txBody>
      </p:sp>
      <p:sp>
        <p:nvSpPr>
          <p:cNvPr id="26" name="Text 19"/>
          <p:cNvSpPr txBox="1"/>
          <p:nvPr/>
        </p:nvSpPr>
        <p:spPr>
          <a:xfrm>
            <a:off x="5120640" y="416966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sai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de benchmark de literatura para casca de coco — a validar com a biomassa da unidade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2918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um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sólido preto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estável.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57984"/>
            <a:ext cx="3291840" cy="135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b="1" spc="-3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−70%</a:t>
            </a:r>
            <a:endParaRPr lang="en-US" sz="9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5295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5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massa, em relação à casca úmida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3913632"/>
            <a:ext cx="1024128" cy="603504"/>
          </a:xfrm>
          <a:prstGeom prst="roundRect">
            <a:avLst>
              <a:gd name="adj" fmla="val 18182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8" name="Image 0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00507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0936" y="433425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36776" y="3913632"/>
            <a:ext cx="1024128" cy="603504"/>
          </a:xfrm>
          <a:prstGeom prst="roundRect">
            <a:avLst>
              <a:gd name="adj" fmla="val 18182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11" name="Image 1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4005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64792" y="433425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inerte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2770632" y="3913632"/>
            <a:ext cx="1024128" cy="603504"/>
          </a:xfrm>
          <a:prstGeom prst="roundRect">
            <a:avLst>
              <a:gd name="adj" fmla="val 18182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14" name="Image 2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8648" y="40050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898648" y="433425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séculos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estável · Puro.earth · EBC · metano evitado em pilhas úmidas: metodologia Puro.earth (2025)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554480" cy="274320"/>
          </a:xfrm>
          <a:prstGeom prst="roundRect">
            <a:avLst>
              <a:gd name="adj" fmla="val 166667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PUBLICADO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51206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20"/>
              </a:lnSpc>
              <a:buNone/>
            </a:pPr>
            <a:r>
              <a:rPr lang="en-US" sz="3000" b="1" spc="-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 com o que já foi decidido.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1874520" cy="1170432"/>
          </a:xfrm>
          <a:prstGeom prst="roundRect">
            <a:avLst>
              <a:gd name="adj" fmla="val 7813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6" name="Image 0" descr="/home/user/clipping/design-system/.preview/deck-assets/ico/solo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755648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7512" y="2048256"/>
            <a:ext cx="164592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667512" y="252374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agrícola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578608" y="1627632"/>
            <a:ext cx="1874520" cy="1170432"/>
          </a:xfrm>
          <a:prstGeom prst="roundRect">
            <a:avLst>
              <a:gd name="adj" fmla="val 7813"/>
            </a:avLst>
          </a:prstGeom>
          <a:solidFill>
            <a:srgbClr val="F5F1E6"/>
          </a:solidFill>
          <a:ln w="12700">
            <a:solidFill>
              <a:srgbClr val="F5F1E6"/>
            </a:solidFill>
            <a:prstDash val="solid"/>
          </a:ln>
        </p:spPr>
      </p:sp>
      <p:pic>
        <p:nvPicPr>
          <p:cNvPr id="10" name="Image 1" descr="/home/user/clipping/design-system/.preview/deck-assets/ico/palmeira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75564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43200" y="2048256"/>
            <a:ext cx="164592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52374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5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 regenerativos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54296" y="1627632"/>
            <a:ext cx="1874520" cy="1170432"/>
          </a:xfrm>
          <a:prstGeom prst="roundRect">
            <a:avLst>
              <a:gd name="adj" fmla="val 7813"/>
            </a:avLst>
          </a:prstGeom>
          <a:solidFill>
            <a:srgbClr val="F5F1E6"/>
          </a:solidFill>
          <a:ln w="12700">
            <a:solidFill>
              <a:srgbClr val="F5F1E6"/>
            </a:solidFill>
            <a:prstDash val="solid"/>
          </a:ln>
        </p:spPr>
      </p:sp>
      <p:pic>
        <p:nvPicPr>
          <p:cNvPr id="14" name="Image 2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175564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18888" y="2048256"/>
            <a:ext cx="164592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−42%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4818888" y="252374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5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· energia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729984" y="1627632"/>
            <a:ext cx="1874520" cy="1170432"/>
          </a:xfrm>
          <a:prstGeom prst="roundRect">
            <a:avLst>
              <a:gd name="adj" fmla="val 7813"/>
            </a:avLst>
          </a:prstGeom>
          <a:solidFill>
            <a:srgbClr val="F5F1E6"/>
          </a:solidFill>
          <a:ln w="12700">
            <a:solidFill>
              <a:srgbClr val="F5F1E6"/>
            </a:solidFill>
            <a:prstDash val="solid"/>
          </a:ln>
        </p:spPr>
      </p:sp>
      <p:pic>
        <p:nvPicPr>
          <p:cNvPr id="18" name="Image 3" descr="/home/user/clipping/design-system/.preview/deck-assets/ico/removal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1755648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8256"/>
            <a:ext cx="164592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</a:t>
            </a:r>
            <a:endParaRPr lang="en-US" sz="3000" dirty="0"/>
          </a:p>
        </p:txBody>
      </p:sp>
      <p:sp>
        <p:nvSpPr>
          <p:cNvPr id="20" name="Text 14"/>
          <p:cNvSpPr txBox="1"/>
          <p:nvPr/>
        </p:nvSpPr>
        <p:spPr>
          <a:xfrm>
            <a:off x="6894576" y="252374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5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net-zero · SBTi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502920" y="3072384"/>
            <a:ext cx="8138160" cy="841248"/>
          </a:xfrm>
          <a:prstGeom prst="roundRect">
            <a:avLst>
              <a:gd name="adj" fmla="val 10870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22" name="Image 4" descr="/home/user/clipping/design-system/.preview/deck-assets/ico/muda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2918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98448" y="3182112"/>
            <a:ext cx="2103120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 p.p.</a:t>
            </a:r>
            <a:endParaRPr lang="en-US" sz="3400" dirty="0"/>
          </a:p>
        </p:txBody>
      </p:sp>
      <p:sp>
        <p:nvSpPr>
          <p:cNvPr id="24" name="Text 17"/>
          <p:cNvSpPr txBox="1"/>
          <p:nvPr/>
        </p:nvSpPr>
        <p:spPr>
          <a:xfrm>
            <a:off x="3493008" y="334670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sobrevivência de mudas de caju com biochar: 26% → 68%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44439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Embrapa Semiárido, Petrolina · 2026   ·   PepsiCo Climate Transition Plan, mai/2025 · metas validadas pela SBTi   ·   1,24 Mt já contratadas pela Microsoft (Exomad Green, Puro.earth)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920240" cy="274320"/>
          </a:xfrm>
          <a:prstGeom prst="roundRect">
            <a:avLst>
              <a:gd name="adj" fmla="val 166667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CONDIÇÕES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5852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956816"/>
            <a:ext cx="2615184" cy="1773936"/>
          </a:xfrm>
          <a:prstGeom prst="roundRect">
            <a:avLst>
              <a:gd name="adj" fmla="val 4639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121408"/>
            <a:ext cx="548640" cy="548640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1" y="2242109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35608" y="2194560"/>
            <a:ext cx="73152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18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2834640"/>
            <a:ext cx="2139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regular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336499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e frequência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64408" y="1956816"/>
            <a:ext cx="2615184" cy="1773936"/>
          </a:xfrm>
          <a:prstGeom prst="roundRect">
            <a:avLst>
              <a:gd name="adj" fmla="val 4639"/>
            </a:avLst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47288" y="2121408"/>
            <a:ext cx="548640" cy="548640"/>
          </a:xfrm>
          <a:prstGeom prst="ellipse">
            <a:avLst/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pic>
        <p:nvPicPr>
          <p:cNvPr id="13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989" y="2242109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096" y="2194560"/>
            <a:ext cx="73152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18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3502152" y="2834640"/>
            <a:ext cx="2139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na rotina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502152" y="336499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63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etapa térmica que caiba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025896" y="1956816"/>
            <a:ext cx="2615184" cy="1773936"/>
          </a:xfrm>
          <a:prstGeom prst="roundRect">
            <a:avLst>
              <a:gd name="adj" fmla="val 4639"/>
            </a:avLst>
          </a:prstGeom>
          <a:solidFill>
            <a:srgbClr val="16331F"/>
          </a:solidFill>
          <a:ln w="12700">
            <a:solidFill>
              <a:srgbClr val="16331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08776" y="2121408"/>
            <a:ext cx="548640" cy="548640"/>
          </a:xfrm>
          <a:prstGeom prst="ellipse">
            <a:avLst/>
          </a:prstGeom>
          <a:solidFill>
            <a:srgbClr val="C8E85C"/>
          </a:solidFill>
          <a:ln w="12700">
            <a:solidFill>
              <a:srgbClr val="C8E85C"/>
            </a:solidFill>
            <a:prstDash val="solid"/>
          </a:ln>
        </p:spPr>
      </p:sp>
      <p:pic>
        <p:nvPicPr>
          <p:cNvPr id="19" name="Image 2" descr="/home/user/clipping/design-system/.preview/deck-assets/ico/sol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477" y="2242109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58584" y="2194560"/>
            <a:ext cx="731520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-18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2834640"/>
            <a:ext cx="2139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para o char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6263640" y="336499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produtores, materiais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502920" y="39867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-60" kern="0" dirty="0">
                <a:solidFill>
                  <a:srgbClr val="C8E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isso for verdade, o coco tem uma segunda vida.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das três é um pedido — são as condições que tornariam a rota real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PepsiCo Petrolina — casca vira carbono</dc:title>
  <dc:subject>PptxGenJS Presentation</dc:subject>
  <dc:creator>RECICLAR · EPA</dc:creator>
  <cp:lastModifiedBy>RECICLAR · EPA</cp:lastModifiedBy>
  <cp:revision>1</cp:revision>
  <dcterms:created xsi:type="dcterms:W3CDTF">2026-09-02T00:38:31Z</dcterms:created>
  <dcterms:modified xsi:type="dcterms:W3CDTF">2026-09-02T00:38:31Z</dcterms:modified>
</cp:coreProperties>
</file>