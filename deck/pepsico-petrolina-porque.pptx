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Tese em uma frase: a casca de coco é uma biomassa naturalmente boa para pirólise, e o biochar conversa com o que a PepsiCo já decidiu. Não pedir nada — o deck mostra o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 casca, acontece calor com pouco oxigênio (400–600 °C), sai biochar e energia. Os gases recirculam como calor. ~300 kg/t é benchmark de literatura para casca de coco, a validar com a biomassa da 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Lignina alta e cinzas baixas favorecem rendimento e chars aromáticos estáveis. 80–85% da massa do fruto é resíduo. A secção transversal ao lado é o próprio argumento: o fruto é quase todo casca.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das propriedades do material, não de como a unidade lida hoje. Casca úmida é volumosa e perecível; biochar é seco, ~30% da massa, inerte e estável por séculos — não vira passivo.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Net-zero 2050 validado SBTi; 2030 vs 2022: Escopos 1+2 −50%, Escopo 3 E&amp;I −42%, FLAG −30%; 10 milhões de acres regenerativos até 2030 (3,5 mi até 2024). A PepsiCo declara comprar instrumentos gerados dentro da própria cadeia.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por que vale investigar, sem preço nem TIR. Microsoft × Exomad Green: ≥1,24 Mt CO₂ em 10 anos (mai/2025), certificação Puro.earth, biochar entregue a produtores locais — o mesmo desenho de uma cadeia agroindustrial.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pedido. As três condições são a aderência dita de forma indireta — deixar o gerente reagir a cada uma. Se ele puxar o próximo passo: dados, amostra, teste, tecnologia, business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/ 01 · PEPSICO · PETROLINA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09°23′S / 40°30′W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4389120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64"/>
              </a:lnSpc>
              <a:buNone/>
            </a:pPr>
            <a:r>
              <a:rPr lang="en-US" sz="4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nova rota</a:t>
            </a:r>
            <a:endParaRPr lang="en-US" sz="4400" dirty="0"/>
          </a:p>
          <a:p>
            <a:pPr indent="0" marL="0">
              <a:lnSpc>
                <a:spcPts val="4664"/>
              </a:lnSpc>
              <a:buNone/>
            </a:pPr>
            <a:r>
              <a:rPr lang="en-US" sz="4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coco.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295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pirólise faz sentido para a biomassa de coco — e o que ela pode representar para Petrolina.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224528"/>
            <a:ext cx="4023360" cy="9144"/>
          </a:xfrm>
          <a:prstGeom prst="rect">
            <a:avLst/>
          </a:prstGeom>
          <a:solidFill>
            <a:srgbClr val="7E8C90">
              <a:alpha val="54000"/>
            </a:srgbClr>
          </a:solidFill>
          <a:ln/>
        </p:spPr>
      </p:sp>
      <p:pic>
        <p:nvPicPr>
          <p:cNvPr id="8" name="Image 0" descr="/home/user/clipping/design-system/.preview/deck-assets/ico/coco-hu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525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6384" y="441655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BIOMASSA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609344" y="4416552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60" kern="0" dirty="0">
                <a:solidFill>
                  <a:srgbClr val="7E8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pic>
        <p:nvPicPr>
          <p:cNvPr id="11" name="Image 1" descr="/home/user/clipping/design-system/.preview/deck-assets/ico/char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088" y="43525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76272" y="441655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2999232" y="4416552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60" kern="0" dirty="0">
                <a:solidFill>
                  <a:srgbClr val="7E8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pic>
        <p:nvPicPr>
          <p:cNvPr id="14" name="Image 2" descr="/home/user/clipping/design-system/.preview/deck-assets/ico/registro-pa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435254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66160" y="441655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457200" y="4626864"/>
            <a:ext cx="8229600" cy="7315"/>
          </a:xfrm>
          <a:prstGeom prst="rect">
            <a:avLst/>
          </a:prstGeom>
          <a:solidFill>
            <a:srgbClr val="8A7050">
              <a:alpha val="32000"/>
            </a:srgbClr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57200" y="471830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DOCUMENTO NÃO É UMA PROPOSTA COMERCIAL — É O PORQUÊ TÉCNICO E ESTRATÉGICO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PROCESS · BIOMASS / PYROLYSIS / BIOCHAR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PETROLINA / PE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4572000" cy="457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coco ao biochar.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8988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CALOR.  POUCO OXIGÊNIO.  CARBONO ESTÁVEL.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5681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 SECA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3017520"/>
            <a:ext cx="146304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160" kern="0" dirty="0">
                <a:solidFill>
                  <a:srgbClr val="A88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66420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400–600 °C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88366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 OXIGÊNIO</a:t>
            </a:r>
            <a:endParaRPr lang="en-US" sz="62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10312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3D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413248" y="2798064"/>
            <a:ext cx="219456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16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 kg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449824" y="347472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−70% DE MASSA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8229600" cy="9144"/>
          </a:xfrm>
          <a:prstGeom prst="rect">
            <a:avLst/>
          </a:prstGeom>
          <a:solidFill>
            <a:srgbClr val="7E8C90">
              <a:alpha val="54000"/>
            </a:srgbClr>
          </a:solidFill>
          <a:ln/>
        </p:spPr>
      </p:sp>
      <p:pic>
        <p:nvPicPr>
          <p:cNvPr id="14" name="Image 0" descr="/home/user/clipping/design-system/.preview/deck-assets/ico/pilha-hu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1363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86384" y="39776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BIOMASSA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428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 úmida, como sai da unidade</a:t>
            </a:r>
            <a:endParaRPr lang="en-US" sz="750" dirty="0"/>
          </a:p>
        </p:txBody>
      </p:sp>
      <p:pic>
        <p:nvPicPr>
          <p:cNvPr id="17" name="Image 1" descr="/home/user/clipping/design-system/.preview/deck-assets/ico/calor-ste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91363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432304" y="39776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7E8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PREPARO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2103120" y="42428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secagem com calor do próprio processo</a:t>
            </a:r>
            <a:endParaRPr lang="en-US" sz="750" dirty="0"/>
          </a:p>
        </p:txBody>
      </p:sp>
      <p:pic>
        <p:nvPicPr>
          <p:cNvPr id="20" name="Image 2" descr="/home/user/clipping/design-system/.preview/deck-assets/ico/reator-ste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9136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078224" y="39776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7E8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PIRÓLISE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3749040" y="42428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400–600 °C, pouco oxigênio</a:t>
            </a:r>
            <a:endParaRPr lang="en-US" sz="750" dirty="0"/>
          </a:p>
        </p:txBody>
      </p:sp>
      <p:pic>
        <p:nvPicPr>
          <p:cNvPr id="23" name="Image 3" descr="/home/user/clipping/design-system/.preview/deck-assets/ico/gases-ste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91363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24144" y="39776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7E8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GASES</a:t>
            </a:r>
            <a:endParaRPr lang="en-US" sz="750" dirty="0"/>
          </a:p>
        </p:txBody>
      </p:sp>
      <p:sp>
        <p:nvSpPr>
          <p:cNvPr id="25" name="Text 19"/>
          <p:cNvSpPr txBox="1"/>
          <p:nvPr/>
        </p:nvSpPr>
        <p:spPr>
          <a:xfrm>
            <a:off x="5394960" y="42428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recirculam como calor</a:t>
            </a:r>
            <a:endParaRPr lang="en-US" sz="750" dirty="0"/>
          </a:p>
        </p:txBody>
      </p:sp>
      <p:pic>
        <p:nvPicPr>
          <p:cNvPr id="26" name="Image 4" descr="/home/user/clipping/design-system/.preview/deck-assets/ico/char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91363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70064" y="39776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</a:t>
            </a:r>
            <a:endParaRPr lang="en-US" sz="750" dirty="0"/>
          </a:p>
        </p:txBody>
      </p:sp>
      <p:sp>
        <p:nvSpPr>
          <p:cNvPr id="28" name="Text 21"/>
          <p:cNvSpPr txBox="1"/>
          <p:nvPr/>
        </p:nvSpPr>
        <p:spPr>
          <a:xfrm>
            <a:off x="7040880" y="42428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 estável, seco</a:t>
            </a:r>
            <a:endParaRPr lang="en-US" sz="750" dirty="0"/>
          </a:p>
        </p:txBody>
      </p:sp>
      <p:sp>
        <p:nvSpPr>
          <p:cNvPr id="29" name="Shape 22"/>
          <p:cNvSpPr/>
          <p:nvPr/>
        </p:nvSpPr>
        <p:spPr>
          <a:xfrm>
            <a:off x="457200" y="4626864"/>
            <a:ext cx="8229600" cy="7315"/>
          </a:xfrm>
          <a:prstGeom prst="rect">
            <a:avLst/>
          </a:prstGeom>
          <a:solidFill>
            <a:srgbClr val="8A7050">
              <a:alpha val="32000"/>
            </a:srgbClr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457200" y="471830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TÉCNICO PARA CASCA DE COCO EM ENSAIOS PUBLICADOS — A VALIDAR COM A BIOMASSA DA UNIDADE</a:t>
            </a:r>
            <a:endParaRPr lang="en-US" sz="62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488289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ALTURA DA BANDA DE CHAR É 30% DA BANDA DE CASCA PORQUE ESSE É O RENDIMENTO; A PROPORÇÃO É O DADO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WHY COCONUT · CARACTERIZAÇÃO DE CASCA E FIBRA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PETROLINA / PE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4206240" cy="91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casca já nasce</a:t>
            </a:r>
            <a:endParaRPr lang="en-US" sz="3400" dirty="0"/>
          </a:p>
          <a:p>
            <a:pPr indent="0" marL="0">
              <a:lnSpc>
                <a:spcPts val="3604"/>
              </a:lnSpc>
              <a:buNone/>
            </a:pPr>
            <a:r>
              <a:rPr lang="en-US" sz="3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pronta para isso.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73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propriedades da casca e da fibra fazem dela uma biomassa naturalmente boa para pirólise.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432304"/>
            <a:ext cx="4023360" cy="9144"/>
          </a:xfrm>
          <a:prstGeom prst="rect">
            <a:avLst/>
          </a:prstGeom>
          <a:solidFill>
            <a:srgbClr val="7E8C90">
              <a:alpha val="54000"/>
            </a:srgbClr>
          </a:solidFill>
          <a:ln/>
        </p:spPr>
      </p:sp>
      <p:pic>
        <p:nvPicPr>
          <p:cNvPr id="7" name="Image 0" descr="/home/user/clipping/design-system/.preview/deck-assets/ico/endocarpo-hu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151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2523744"/>
            <a:ext cx="146304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16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25–53%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359152" y="257860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LIGNINA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2359152" y="276148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lignina, mais carbono fixo — e um char mais estável.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3218688"/>
            <a:ext cx="4023360" cy="9144"/>
          </a:xfrm>
          <a:prstGeom prst="rect">
            <a:avLst/>
          </a:prstGeom>
          <a:solidFill>
            <a:srgbClr val="7E8C90">
              <a:alpha val="54000"/>
            </a:srgbClr>
          </a:solidFill>
          <a:ln/>
        </p:spPr>
      </p:sp>
      <p:pic>
        <p:nvPicPr>
          <p:cNvPr id="12" name="Image 1" descr="/home/user/clipping/design-system/.preview/deck-assets/ico/char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015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1248" y="3310128"/>
            <a:ext cx="146304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spc="-1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4%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2359152" y="3364992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CINZAS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2359152" y="35478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 cinza, biochar limpo e com alto teor de carbono.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57200" y="4005072"/>
            <a:ext cx="4023360" cy="9144"/>
          </a:xfrm>
          <a:prstGeom prst="rect">
            <a:avLst/>
          </a:prstGeom>
          <a:solidFill>
            <a:srgbClr val="7E8C90">
              <a:alpha val="54000"/>
            </a:srgbClr>
          </a:solidFill>
          <a:ln/>
        </p:spPr>
      </p:sp>
      <p:pic>
        <p:nvPicPr>
          <p:cNvPr id="17" name="Image 2" descr="/home/user/clipping/design-system/.preview/deck-assets/ico/secao-hu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8795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" y="4096512"/>
            <a:ext cx="146304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spc="-160" kern="0" dirty="0">
                <a:solidFill>
                  <a:srgbClr val="A88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80–85%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2359152" y="41513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MASSA DO FRUTO</a:t>
            </a:r>
            <a:endParaRPr lang="en-US" sz="750" dirty="0"/>
          </a:p>
        </p:txBody>
      </p:sp>
      <p:sp>
        <p:nvSpPr>
          <p:cNvPr id="20" name="Text 15"/>
          <p:cNvSpPr txBox="1"/>
          <p:nvPr/>
        </p:nvSpPr>
        <p:spPr>
          <a:xfrm>
            <a:off x="2359152" y="43342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fruto é majoritariamente casca: biomassa abundante por natureza.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57200" y="4626864"/>
            <a:ext cx="8229600" cy="7315"/>
          </a:xfrm>
          <a:prstGeom prst="rect">
            <a:avLst/>
          </a:prstGeom>
          <a:solidFill>
            <a:srgbClr val="8A7050">
              <a:alpha val="32000"/>
            </a:srgbClr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471830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LITERATURA TÉCNICA DE CARACTERIZAÇÃO · DEVENS ET AL., 2018 · WINDEATT ET AL., 2014</a:t>
            </a:r>
            <a:endParaRPr lang="en-US" sz="62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488289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UMIDADE AS-RECEIVED DE 30–70% É O DESAFIO CONHECIDO — SECAGEM INTEGRADA COM CALOR DO PROCESSO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OPERATION · PROPRIEDADES DO MATERIAL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PETROLINA / PE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4206240" cy="91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pilha.</a:t>
            </a:r>
            <a:endParaRPr lang="en-US" sz="3400" dirty="0"/>
          </a:p>
          <a:p>
            <a:pPr indent="0" marL="0">
              <a:lnSpc>
                <a:spcPts val="3604"/>
              </a:lnSpc>
              <a:buNone/>
            </a:pPr>
            <a:r>
              <a:rPr lang="en-US" sz="3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estabilidade.</a:t>
            </a:r>
            <a:endParaRPr lang="en-US" sz="3400" dirty="0"/>
          </a:p>
        </p:txBody>
      </p:sp>
      <p:pic>
        <p:nvPicPr>
          <p:cNvPr id="5" name="Image 0" descr="/home/user/clipping/design-system/.preview/deck-assets/ico/pilha-hu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72384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3346704"/>
            <a:ext cx="2194560" cy="9144"/>
          </a:xfrm>
          <a:prstGeom prst="rect">
            <a:avLst/>
          </a:prstGeom>
          <a:solidFill>
            <a:srgbClr val="7E8C90">
              <a:alpha val="5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40156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 ÚMIDA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02736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F3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30–70% de umidade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B8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PERECÍVEL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pilha: chorume, odor e metano.</a:t>
            </a:r>
            <a:endParaRPr lang="en-US" sz="900" dirty="0"/>
          </a:p>
        </p:txBody>
      </p:sp>
      <p:pic>
        <p:nvPicPr>
          <p:cNvPr id="11" name="Image 1" descr="/home/user/clipping/design-system/.preview/deck-assets/ico/char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07238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20640" y="3346704"/>
            <a:ext cx="2194560" cy="9144"/>
          </a:xfrm>
          <a:prstGeom prst="rect">
            <a:avLst/>
          </a:prstGeom>
          <a:solidFill>
            <a:srgbClr val="7E8C90">
              <a:alpha val="5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120640" y="340156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3D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5120640" y="3602736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F3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 · inerte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384048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SÉCULOS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5120640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 estável, sem decomposição.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2331720" y="2395728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−70% DE MASSA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2331720" y="2560320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ÁREA DE CADA QUADRADO É A MASSA</a:t>
            </a:r>
            <a:endParaRPr lang="en-US" sz="620" dirty="0"/>
          </a:p>
        </p:txBody>
      </p:sp>
      <p:sp>
        <p:nvSpPr>
          <p:cNvPr id="19" name="Shape 15"/>
          <p:cNvSpPr/>
          <p:nvPr/>
        </p:nvSpPr>
        <p:spPr>
          <a:xfrm>
            <a:off x="457200" y="4626864"/>
            <a:ext cx="8229600" cy="7315"/>
          </a:xfrm>
          <a:prstGeom prst="rect">
            <a:avLst/>
          </a:prstGeom>
          <a:solidFill>
            <a:srgbClr val="8A7050">
              <a:alpha val="32000"/>
            </a:srgbClr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57200" y="471830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UMIDADE E RENDIMENTO: LITERATURA TÉCNICA PARA CASCA DE COCO</a:t>
            </a:r>
            <a:endParaRPr lang="en-US" sz="62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88289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METANO EM PILHAS ÚMIDAS: METODOLOGIA PURO.EARTH (2025)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STRATEGY · PEP+ · CLIMATE TRANSITION PLAN 2025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PETROLINA / PE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4937760" cy="91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com o que</a:t>
            </a:r>
            <a:endParaRPr lang="en-US" sz="3400" dirty="0"/>
          </a:p>
          <a:p>
            <a:pPr indent="0" marL="0">
              <a:lnSpc>
                <a:spcPts val="3604"/>
              </a:lnSpc>
              <a:buNone/>
            </a:pPr>
            <a:r>
              <a:rPr lang="en-US" sz="34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PepsiCo já decidiu.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007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Remoções de carbono geradas dentro da própria cadeia agrícola — o tipo de instrumento que o plano já admite.</a:t>
            </a:r>
            <a:endParaRPr lang="en-US" sz="1000" dirty="0"/>
          </a:p>
        </p:txBody>
      </p:sp>
      <p:pic>
        <p:nvPicPr>
          <p:cNvPr id="6" name="Image 0" descr="/home/user/clipping/design-system/.preview/deck-assets/ico/solo-pal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22128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441956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spc="-16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1089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3 AGRÍCOLA</a:t>
            </a:r>
            <a:endParaRPr lang="en-US" sz="62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2552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· ATÉ 2030</a:t>
            </a:r>
            <a:endParaRPr lang="en-US" sz="600" dirty="0"/>
          </a:p>
        </p:txBody>
      </p:sp>
      <p:pic>
        <p:nvPicPr>
          <p:cNvPr id="10" name="Image 1" descr="/home/user/clipping/design-system/.preview/deck-assets/ico/palmeira-pa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21284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2474976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spc="-1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200400" y="31089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ACRES REGENERATIVOS</a:t>
            </a:r>
            <a:endParaRPr lang="en-US" sz="620" dirty="0"/>
          </a:p>
        </p:txBody>
      </p:sp>
      <p:sp>
        <p:nvSpPr>
          <p:cNvPr id="13" name="Text 9"/>
          <p:cNvSpPr txBox="1"/>
          <p:nvPr/>
        </p:nvSpPr>
        <p:spPr>
          <a:xfrm>
            <a:off x="3200400" y="32552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2030 · 3,5 MI EM 2024</a:t>
            </a:r>
            <a:endParaRPr lang="en-US" sz="600" dirty="0"/>
          </a:p>
        </p:txBody>
      </p:sp>
      <p:pic>
        <p:nvPicPr>
          <p:cNvPr id="14" name="Image 2" descr="/home/user/clipping/design-system/.preview/deck-assets/ico/unidade-ste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221284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03520" y="2507996"/>
            <a:ext cx="18288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spc="-160" kern="0" dirty="0">
                <a:solidFill>
                  <a:srgbClr val="A88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−42%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5303520" y="31089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3 · ENERGIA</a:t>
            </a:r>
            <a:endParaRPr lang="en-US" sz="620" dirty="0"/>
          </a:p>
        </p:txBody>
      </p:sp>
      <p:sp>
        <p:nvSpPr>
          <p:cNvPr id="17" name="Text 12"/>
          <p:cNvSpPr txBox="1"/>
          <p:nvPr/>
        </p:nvSpPr>
        <p:spPr>
          <a:xfrm>
            <a:off x="5303520" y="32552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2030 · BASE 2022</a:t>
            </a:r>
            <a:endParaRPr lang="en-US" sz="600" dirty="0"/>
          </a:p>
        </p:txBody>
      </p:sp>
      <p:pic>
        <p:nvPicPr>
          <p:cNvPr id="18" name="Image 3" descr="/home/user/clipping/design-system/.preview/deck-assets/ico/removal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221284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32320" y="2541016"/>
            <a:ext cx="15544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spc="-1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7132320" y="310896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NET-ZERO · SBTI</a:t>
            </a:r>
            <a:endParaRPr lang="en-US" sz="620" dirty="0"/>
          </a:p>
        </p:txBody>
      </p:sp>
      <p:sp>
        <p:nvSpPr>
          <p:cNvPr id="21" name="Text 15"/>
          <p:cNvSpPr txBox="1"/>
          <p:nvPr/>
        </p:nvSpPr>
        <p:spPr>
          <a:xfrm>
            <a:off x="7132320" y="325526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LONGO PRAZO</a:t>
            </a:r>
            <a:endParaRPr lang="en-US" sz="600" dirty="0"/>
          </a:p>
        </p:txBody>
      </p:sp>
      <p:sp>
        <p:nvSpPr>
          <p:cNvPr id="22" name="Shape 16"/>
          <p:cNvSpPr/>
          <p:nvPr/>
        </p:nvSpPr>
        <p:spPr>
          <a:xfrm>
            <a:off x="457200" y="3712464"/>
            <a:ext cx="8229600" cy="9144"/>
          </a:xfrm>
          <a:prstGeom prst="rect">
            <a:avLst/>
          </a:prstGeom>
          <a:solidFill>
            <a:srgbClr val="7E8C90">
              <a:alpha val="54000"/>
            </a:srgbClr>
          </a:solidFill>
          <a:ln/>
        </p:spPr>
      </p:sp>
      <p:pic>
        <p:nvPicPr>
          <p:cNvPr id="23" name="Image 4" descr="/home/user/clipping/design-system/.preview/deck-assets/ico/muda-pal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31920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41248" y="3822192"/>
            <a:ext cx="21945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1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 p.p.</a:t>
            </a:r>
            <a:endParaRPr lang="en-US" sz="3000" dirty="0"/>
          </a:p>
        </p:txBody>
      </p:sp>
      <p:sp>
        <p:nvSpPr>
          <p:cNvPr id="25" name="Text 18"/>
          <p:cNvSpPr txBox="1"/>
          <p:nvPr/>
        </p:nvSpPr>
        <p:spPr>
          <a:xfrm>
            <a:off x="3108960" y="38953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sobrevivência de mudas de caju com biochar no Semiárido — 26% → 68%</a:t>
            </a:r>
            <a:endParaRPr lang="en-US" sz="950" dirty="0"/>
          </a:p>
        </p:txBody>
      </p:sp>
      <p:sp>
        <p:nvSpPr>
          <p:cNvPr id="26" name="Text 19"/>
          <p:cNvSpPr txBox="1"/>
          <p:nvPr/>
        </p:nvSpPr>
        <p:spPr>
          <a:xfrm>
            <a:off x="6400800" y="391363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ENSAIO EMBRAPA SEMIÁRIDO, PETROLINA · 2026</a:t>
            </a:r>
            <a:endParaRPr lang="en-US" sz="620" dirty="0"/>
          </a:p>
        </p:txBody>
      </p:sp>
      <p:sp>
        <p:nvSpPr>
          <p:cNvPr id="27" name="Shape 20"/>
          <p:cNvSpPr/>
          <p:nvPr/>
        </p:nvSpPr>
        <p:spPr>
          <a:xfrm>
            <a:off x="457200" y="4626864"/>
            <a:ext cx="8229600" cy="7315"/>
          </a:xfrm>
          <a:prstGeom prst="rect">
            <a:avLst/>
          </a:prstGeom>
          <a:solidFill>
            <a:srgbClr val="8A7050">
              <a:alpha val="32000"/>
            </a:srgbClr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457200" y="471830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PEPSICO CLIMATE TRANSITION PLAN, MAI/2025 · METAS VALIDADAS PELA SBTI · BASE 2022 · PEPSICO.COM/ESG</a:t>
            </a:r>
            <a:endParaRPr lang="en-US" sz="62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88289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 NO SOLO DOS PRODUTORES DA CADEIA É PRÁTICA REGENERATIVA COM RESULTADO MEDIDO NESTA REGIÃO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VALUE · BIOCHAR · MACRO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PETROLINA / PE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3108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sz="32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biomassa.</a:t>
            </a:r>
            <a:endParaRPr lang="en-US" sz="3200" dirty="0"/>
          </a:p>
          <a:p>
            <a:pPr indent="0" marL="0">
              <a:lnSpc>
                <a:spcPts val="3392"/>
              </a:lnSpc>
              <a:buNone/>
            </a:pPr>
            <a:r>
              <a:rPr lang="en-US" sz="32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caminhos</a:t>
            </a:r>
            <a:endParaRPr lang="en-US" sz="3200" dirty="0"/>
          </a:p>
          <a:p>
            <a:pPr indent="0" marL="0">
              <a:lnSpc>
                <a:spcPts val="3392"/>
              </a:lnSpc>
              <a:buNone/>
            </a:pPr>
            <a:r>
              <a:rPr lang="en-US" sz="3200" spc="-10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valor.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40864"/>
            <a:ext cx="292608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spc="-160" kern="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 Mt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540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remoções de biochar contratadas pela Microsoft em 10 anos — o maior acordo do mundo</a:t>
            </a:r>
            <a:endParaRPr lang="en-US" sz="950" dirty="0"/>
          </a:p>
        </p:txBody>
      </p:sp>
      <p:pic>
        <p:nvPicPr>
          <p:cNvPr id="7" name="Image 0" descr="/home/user/clipping/design-system/.preview/deck-assets/ico/registro-hu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3721608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EXOMAD GREEN · MAI/2025 · PURO.EARTH</a:t>
            </a:r>
            <a:endParaRPr lang="en-US" sz="620" dirty="0"/>
          </a:p>
        </p:txBody>
      </p:sp>
      <p:pic>
        <p:nvPicPr>
          <p:cNvPr id="9" name="Image 1" descr="/home/user/clipping/design-system/.preview/deck-assets/ico/pilha-hu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82296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8576" y="859536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D6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5010912" y="868680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4261104" y="11338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rota de valorização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261104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 −70%, material seco e estável — sem novo passivo.</a:t>
            </a:r>
            <a:endParaRPr lang="en-US" sz="850" dirty="0"/>
          </a:p>
        </p:txBody>
      </p:sp>
      <p:pic>
        <p:nvPicPr>
          <p:cNvPr id="14" name="Image 2" descr="/home/user/clipping/design-system/.preview/deck-assets/ico/bloc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11226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51376" y="214884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D6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1"/>
          <p:cNvSpPr txBox="1"/>
          <p:nvPr/>
        </p:nvSpPr>
        <p:spPr>
          <a:xfrm>
            <a:off x="4553712" y="215798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750" dirty="0"/>
          </a:p>
        </p:txBody>
      </p:sp>
      <p:sp>
        <p:nvSpPr>
          <p:cNvPr id="17" name="Text 12"/>
          <p:cNvSpPr txBox="1"/>
          <p:nvPr/>
        </p:nvSpPr>
        <p:spPr>
          <a:xfrm>
            <a:off x="3803904" y="2423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803904" y="26791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Solo, substratos e materiais: um produto físico com mercado real.</a:t>
            </a:r>
            <a:endParaRPr lang="en-US" sz="850" dirty="0"/>
          </a:p>
        </p:txBody>
      </p:sp>
      <p:pic>
        <p:nvPicPr>
          <p:cNvPr id="19" name="Image 3" descr="/home/user/clipping/design-system/.preview/deck-assets/ico/removal-pal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340156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974336" y="343814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D6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5376672" y="344728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4D6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</a:t>
            </a:r>
            <a:endParaRPr lang="en-US" sz="750" dirty="0"/>
          </a:p>
        </p:txBody>
      </p:sp>
      <p:sp>
        <p:nvSpPr>
          <p:cNvPr id="22" name="Text 16"/>
          <p:cNvSpPr txBox="1"/>
          <p:nvPr/>
        </p:nvSpPr>
        <p:spPr>
          <a:xfrm>
            <a:off x="4626864" y="3712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removal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626864" y="39684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C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≈2,5–3 t de CO₂ por t de biochar (benchmark) — certificável e já comprado em escala.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57200" y="4626864"/>
            <a:ext cx="8229600" cy="7315"/>
          </a:xfrm>
          <a:prstGeom prst="rect">
            <a:avLst/>
          </a:prstGeom>
          <a:solidFill>
            <a:srgbClr val="8A7050">
              <a:alpha val="32000"/>
            </a:srgbClr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57200" y="471830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DE LITERATURA E DE MERCADO — A VALIDAR COM A BIOMASSA DA UNIDADE</a:t>
            </a:r>
            <a:endParaRPr lang="en-US" sz="62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88289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8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≈2,5–3,0 T DE CO₂ POR T DE BIOCHAR É FAIXA DE LITERATURA, NÃO COMPROMISSO DESTE DOCUMENTO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A9C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WHAT MUST BE TRUE · 09°23′S / 40°30′W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A9C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09°23′S / 40°30′W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94944"/>
            <a:ext cx="4572000" cy="102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spc="-100" kern="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</a:t>
            </a:r>
            <a:endParaRPr lang="en-US" sz="3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800" spc="-100" kern="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verdade.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5564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A9C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CONDIÇÕES — NENHUMA DELAS É UM PEDIDO</a:t>
            </a:r>
            <a:endParaRPr lang="en-US" sz="750" dirty="0"/>
          </a:p>
        </p:txBody>
      </p:sp>
      <p:pic>
        <p:nvPicPr>
          <p:cNvPr id="6" name="Image 0" descr="/home/user/clipping/design-system/.preview/deck-assets/ico/pilha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2494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42416" y="230428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76656" y="24871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biomassa regular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277977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A9C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e frequência que sustentem uma operação contínua.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76656" y="3438144"/>
            <a:ext cx="2212848" cy="9144"/>
          </a:xfrm>
          <a:prstGeom prst="rect">
            <a:avLst/>
          </a:prstGeom>
          <a:solidFill>
            <a:srgbClr val="7E8C90">
              <a:alpha val="7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6656" y="3511296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93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FOR VERDADE</a:t>
            </a:r>
            <a:endParaRPr lang="en-US" sz="6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36758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rota térmica dimensionada, não um experimento</a:t>
            </a:r>
            <a:endParaRPr lang="en-US" sz="900" dirty="0"/>
          </a:p>
        </p:txBody>
      </p:sp>
      <p:pic>
        <p:nvPicPr>
          <p:cNvPr id="13" name="Image 1" descr="/home/user/clipping/design-system/.preview/deck-assets/ico/reator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22494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85616" y="230428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4871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na rotina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19856" y="277977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A9C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etapa térmica que caiba na operação da unidade.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419856" y="3438144"/>
            <a:ext cx="2212848" cy="9144"/>
          </a:xfrm>
          <a:prstGeom prst="rect">
            <a:avLst/>
          </a:prstGeom>
          <a:solidFill>
            <a:srgbClr val="7E8C90">
              <a:alpha val="70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419856" y="3511296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93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FOR VERDADE</a:t>
            </a:r>
            <a:endParaRPr lang="en-US" sz="600" dirty="0"/>
          </a:p>
        </p:txBody>
      </p:sp>
      <p:sp>
        <p:nvSpPr>
          <p:cNvPr id="19" name="Text 15"/>
          <p:cNvSpPr txBox="1"/>
          <p:nvPr/>
        </p:nvSpPr>
        <p:spPr>
          <a:xfrm>
            <a:off x="3419856" y="36758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casca deixa de ser uma pilha e vira um fluxo</a:t>
            </a:r>
            <a:endParaRPr lang="en-US" sz="900" dirty="0"/>
          </a:p>
        </p:txBody>
      </p:sp>
      <p:pic>
        <p:nvPicPr>
          <p:cNvPr id="20" name="Image 2" descr="/home/user/clipping/design-system/.preview/deck-assets/ico/solo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24942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28816" y="230428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6163056" y="24871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 para o biochar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163056" y="277977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A9C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Solo, produtores ou materiais que absorvam o produto.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163056" y="3438144"/>
            <a:ext cx="2212848" cy="9144"/>
          </a:xfrm>
          <a:prstGeom prst="rect">
            <a:avLst/>
          </a:prstGeom>
          <a:solidFill>
            <a:srgbClr val="7E8C90">
              <a:alpha val="70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163056" y="3511296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93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FOR VERDADE</a:t>
            </a:r>
            <a:endParaRPr lang="en-US" sz="600" dirty="0"/>
          </a:p>
        </p:txBody>
      </p:sp>
      <p:sp>
        <p:nvSpPr>
          <p:cNvPr id="26" name="Text 21"/>
          <p:cNvSpPr txBox="1"/>
          <p:nvPr/>
        </p:nvSpPr>
        <p:spPr>
          <a:xfrm>
            <a:off x="6163056" y="36758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remoção fica dentro da própria cadeia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424281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rgbClr val="D9E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isso for verdade, o coco tem uma segunda vida.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457200" y="4626864"/>
            <a:ext cx="8229600" cy="7315"/>
          </a:xfrm>
          <a:prstGeom prst="rect">
            <a:avLst/>
          </a:prstGeom>
          <a:solidFill>
            <a:srgbClr val="A9C48F">
              <a:alpha val="38000"/>
            </a:srgbClr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57200" y="471830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A9C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DENSIDADE DE CADA MEMBRANA CAI À MEDIDA QUE A CONDIÇÃO SE RESOLVE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PepsiCo Petrolina — por que o coco</dc:title>
  <dc:subject>PptxGenJS Presentation</dc:subject>
  <dc:creator>RECICLAR · EPA</dc:creator>
  <cp:lastModifiedBy>RECICLAR · EPA</cp:lastModifiedBy>
  <cp:revision>1</cp:revision>
  <dcterms:created xsi:type="dcterms:W3CDTF">2026-09-02T00:09:20Z</dcterms:created>
  <dcterms:modified xsi:type="dcterms:W3CDTF">2026-09-02T00:09:20Z</dcterms:modified>
</cp:coreProperties>
</file>