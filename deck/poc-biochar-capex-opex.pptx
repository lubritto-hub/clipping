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A membrana translúcida é cortada pelo topo e pela direita; a headline ocupa a zona clara à esquerda. Nenhum quadro escuro antes do slide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Mt entregues contra 100 Mt/ano de demanda projetada em 2030. O fantasma "100 Mt/ano" na chapa é a demanda que o mercado não alcança.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estados da matéria, não três colunas. O elo do meio é o que está vazio na América Latina.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810 t/ano de char equivalem a 4.000 t de biomassa a ~20% de rendimento. O laço tracejado no desenho é a recirculação de areia entre as zonas.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CAPEX = WP1 (projeto) + WP2 (construção e montagem) = R$ 7,7 M dos R$ 15,0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R$ 7,3 M de custeio sobre R$ 7,7 M de investimento: R$ 15,0 M no total, 85% via subvenção Finep.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Honestidade deliberada: R$ 3.336/t de custo contra R$ 3.177/t de receita. O breakeven do slide seguinte é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receitas independentes empilhadas numa margem. O contrato B existe para o caso de a cimenteira reivindicar o carbono no próprio EPD.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4.700 t de capacidade contra 5.448 t de necessidade: o Módulo 1 sozinho não fecha a conta a mercado pleno. Por isso a Planta 1 entra em 2029.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trajetória é momentum, não um gráfico. Cada nó é um marco de capacidade.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gates binários. Nenhum é uma meta: cada um é condição para o degrau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 na luz e mais claro que a capa. Grant → offtake parcial com dMRV → dívida e equity de infraestrutura.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ipping/design-system/.preview/deck-assets/mark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384048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8680" y="429768"/>
            <a:ext cx="31089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/ PETROLINA / PERNAMBUCO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475488" y="2395728"/>
            <a:ext cx="5852160" cy="123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76"/>
              </a:lnSpc>
              <a:buNone/>
            </a:pPr>
            <a:r>
              <a:rPr lang="en-US" sz="4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transformando resíduo</a:t>
            </a:r>
            <a:endParaRPr lang="en-US" sz="4600" dirty="0"/>
          </a:p>
          <a:p>
            <a:pPr indent="0" marL="0">
              <a:lnSpc>
                <a:spcPts val="4876"/>
              </a:lnSpc>
              <a:buNone/>
            </a:pPr>
            <a:r>
              <a:rPr lang="en-US" sz="4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impacto climático.</a:t>
            </a:r>
            <a:endParaRPr lang="en-US" sz="4600" dirty="0"/>
          </a:p>
        </p:txBody>
      </p:sp>
      <p:sp>
        <p:nvSpPr>
          <p:cNvPr id="5" name="Shape 2"/>
          <p:cNvSpPr/>
          <p:nvPr/>
        </p:nvSpPr>
        <p:spPr>
          <a:xfrm>
            <a:off x="475488" y="3913632"/>
            <a:ext cx="3291840" cy="7315"/>
          </a:xfrm>
          <a:prstGeom prst="rect">
            <a:avLst/>
          </a:prstGeom>
          <a:solidFill>
            <a:srgbClr val="1F7370">
              <a:alpha val="50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75488" y="4023360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260" kern="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ESTIMATIVAS DE CAPEX E OPEX DA PROVA DE CONCEITO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75488" y="4334256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75488" y="4407408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REATOR</a:t>
            </a:r>
            <a:endParaRPr lang="en-US" sz="65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4572000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FBR 3 zonas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618488" y="4334256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618488" y="4407408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</a:t>
            </a:r>
            <a:endParaRPr lang="en-US" sz="650" dirty="0"/>
          </a:p>
        </p:txBody>
      </p:sp>
      <p:sp>
        <p:nvSpPr>
          <p:cNvPr id="12" name="Text 9"/>
          <p:cNvSpPr txBox="1"/>
          <p:nvPr/>
        </p:nvSpPr>
        <p:spPr>
          <a:xfrm>
            <a:off x="1618488" y="4572000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kg/h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761488" y="4334256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761488" y="4407408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</a:t>
            </a:r>
            <a:endParaRPr lang="en-US" sz="650" dirty="0"/>
          </a:p>
        </p:txBody>
      </p:sp>
      <p:sp>
        <p:nvSpPr>
          <p:cNvPr id="15" name="Text 12"/>
          <p:cNvSpPr txBox="1"/>
          <p:nvPr/>
        </p:nvSpPr>
        <p:spPr>
          <a:xfrm>
            <a:off x="2761488" y="4572000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→ 07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04488" y="4334256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904488" y="4407408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650" dirty="0"/>
          </a:p>
        </p:txBody>
      </p:sp>
      <p:sp>
        <p:nvSpPr>
          <p:cNvPr id="18" name="Text 15"/>
          <p:cNvSpPr txBox="1"/>
          <p:nvPr/>
        </p:nvSpPr>
        <p:spPr>
          <a:xfrm>
            <a:off x="3904488" y="4572000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VM0044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 −9,3891 · LONG −40,5030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MERCADO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585216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durável é o mercado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demanda travada pela oferta.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645920"/>
            <a:ext cx="2926080" cy="181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139696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-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59359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OFERTA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673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entregues no mundo inteiro até jun/26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359359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LACUNA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37673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oferta certificada é o gargalo — não a demanda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505456"/>
            <a:ext cx="210312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34,6 Mt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3593592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DEMANDA · MICROSOFT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37673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 de todas as compras de CDR em 2024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481328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DE PREÇO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645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US$ 150 / tCO₂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809744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MCKINSEY · CDR.FYI · S&amp;P GLOBAL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92608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TESE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291840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3291840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FEEDSTOCK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347472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resíduo cativo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36576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~120 mil t de coco por ano EM Petrolina. 100 mil t úmidas de casca na porta da fábrica.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2468880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127248" y="2468880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 nacional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8346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 fluidizado circulante de três zonas (Finep, TRL 4→7): char fino por atrito, redução de potássio pelo leito e syngas queimado no riser — o risco de metano resolvido por projeto.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3913632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3913632"/>
            <a:ext cx="23591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4096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receitas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426110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Destinação + material + crédito. O mesmo quilo nunca é vendido duas vezes.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4626864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→ TECNOLOGIA → VALOR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626864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PLANTA LATINO-AMERICANA PRODUZ CHAR DE ESPECIFICAÇÃO PARA CONSTRUÇÃO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PILOTO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329184" y="1170432"/>
            <a:ext cx="4206240" cy="2773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810</a:t>
            </a:r>
            <a:endParaRPr lang="en-US" sz="168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4041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-2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biochar / ano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75488" y="3968496"/>
            <a:ext cx="2743200" cy="7315"/>
          </a:xfrm>
          <a:prstGeom prst="rect">
            <a:avLst/>
          </a:prstGeom>
          <a:solidFill>
            <a:srgbClr val="1F7370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75488" y="4352544"/>
            <a:ext cx="107899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" y="442569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4590288"/>
            <a:ext cx="10424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kg/h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64208" y="4352544"/>
            <a:ext cx="107899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64208" y="442569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</a:t>
            </a:r>
            <a:endParaRPr lang="en-US" sz="650" dirty="0"/>
          </a:p>
        </p:txBody>
      </p:sp>
      <p:sp>
        <p:nvSpPr>
          <p:cNvPr id="11" name="Text 9"/>
          <p:cNvSpPr txBox="1"/>
          <p:nvPr/>
        </p:nvSpPr>
        <p:spPr>
          <a:xfrm>
            <a:off x="1664208" y="4590288"/>
            <a:ext cx="10424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4.000 t/ano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852928" y="4352544"/>
            <a:ext cx="107899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852928" y="442569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RENDIMENTO</a:t>
            </a:r>
            <a:endParaRPr lang="en-US" sz="650" dirty="0"/>
          </a:p>
        </p:txBody>
      </p:sp>
      <p:sp>
        <p:nvSpPr>
          <p:cNvPr id="14" name="Text 12"/>
          <p:cNvSpPr txBox="1"/>
          <p:nvPr/>
        </p:nvSpPr>
        <p:spPr>
          <a:xfrm>
            <a:off x="2852928" y="4590288"/>
            <a:ext cx="10424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 20 %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041648" y="4352544"/>
            <a:ext cx="107899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041648" y="442569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LÍQUIDA</a:t>
            </a:r>
            <a:endParaRPr lang="en-US" sz="650" dirty="0"/>
          </a:p>
        </p:txBody>
      </p:sp>
      <p:sp>
        <p:nvSpPr>
          <p:cNvPr id="17" name="Text 15"/>
          <p:cNvSpPr txBox="1"/>
          <p:nvPr/>
        </p:nvSpPr>
        <p:spPr>
          <a:xfrm>
            <a:off x="4041648" y="4590288"/>
            <a:ext cx="10424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1.620 tCO₂e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206240" y="1298448"/>
            <a:ext cx="1645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 1 · COMBUSTÃO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206240" y="2487168"/>
            <a:ext cx="1645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 2 · PIRÓLISE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4206240" y="3712464"/>
            <a:ext cx="1645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 3 · FREEBOARD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0" y="3054096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RECIRCULAÇÃO DE AREIA</a:t>
            </a:r>
            <a:endParaRPr lang="en-US" sz="6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4791456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MESES · TRL 04 → 07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 TCO₂E POR TONELADA DE CHAR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CAPEX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493776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ativo físico e a engenharia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produz.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627632"/>
            <a:ext cx="274320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1975104" y="230428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4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3529584"/>
            <a:ext cx="1410789" cy="68580"/>
          </a:xfrm>
          <a:prstGeom prst="rect">
            <a:avLst/>
          </a:prstGeom>
          <a:solidFill>
            <a:srgbClr val="7AA8C9">
              <a:alpha val="80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3675888"/>
            <a:ext cx="141078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MODELAGEM, SIMULAÇÃO E PROJETO</a:t>
            </a:r>
            <a:endParaRPr lang="en-US" sz="68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18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895421" y="3529584"/>
            <a:ext cx="3499539" cy="68580"/>
          </a:xfrm>
          <a:prstGeom prst="rect">
            <a:avLst/>
          </a:prstGeom>
          <a:solidFill>
            <a:srgbClr val="1F737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895421" y="3675888"/>
            <a:ext cx="349953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CONSTRUÇÃO E MONTAGEM DO PILOTO</a:t>
            </a:r>
            <a:endParaRPr lang="en-US" sz="680" dirty="0"/>
          </a:p>
        </p:txBody>
      </p:sp>
      <p:sp>
        <p:nvSpPr>
          <p:cNvPr id="11" name="Text 9"/>
          <p:cNvSpPr txBox="1"/>
          <p:nvPr/>
        </p:nvSpPr>
        <p:spPr>
          <a:xfrm>
            <a:off x="1895421" y="3218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7705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WP1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1895421" y="387705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WP2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315968"/>
            <a:ext cx="152156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 DE CAPACIDADE</a:t>
            </a:r>
            <a:endParaRPr lang="en-US" sz="68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4315968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R$ 9.506/t</a:t>
            </a:r>
            <a:endParaRPr lang="en-US" sz="76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30852"/>
            <a:ext cx="152156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PRECISÃO</a:t>
            </a:r>
            <a:endParaRPr lang="en-US" sz="68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30852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AACE 4 · −30/+50%</a:t>
            </a:r>
            <a:endParaRPr lang="en-US" sz="76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8097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engenharia básica e de detalhamento é capitalizada junto com o equipamento: num piloto ela não tem valor separável dele.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WP1 + WP2 · FINEP ECONOMIA CIRCULAR</a:t>
            </a:r>
            <a:endParaRPr lang="en-US" sz="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OPEX DO PROJETO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475488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consome provando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ativo, em 30 meses.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700784"/>
            <a:ext cx="237744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7,3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3529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 · OPEX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" y="3456432"/>
            <a:ext cx="2011680" cy="7315"/>
          </a:xfrm>
          <a:prstGeom prst="rect">
            <a:avLst/>
          </a:prstGeom>
          <a:solidFill>
            <a:srgbClr val="1F7370">
              <a:alpha val="5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395728" y="2450592"/>
            <a:ext cx="173736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2487168" y="3529584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 · CAPEX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450592" y="3456432"/>
            <a:ext cx="1371600" cy="7315"/>
          </a:xfrm>
          <a:prstGeom prst="rect">
            <a:avLst/>
          </a:prstGeom>
          <a:solidFill>
            <a:srgbClr val="5B8AAE">
              <a:alpha val="45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3716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400" spc="-14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/ 15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975104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SUBVENÇÃO FINEP / CONTRAPARTIDA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340864"/>
            <a:ext cx="1426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SUBVENÇÃO FINEP</a:t>
            </a:r>
            <a:endParaRPr lang="en-US" sz="68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23408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R$ 12.750.000</a:t>
            </a:r>
            <a:endParaRPr lang="en-US" sz="76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555748"/>
            <a:ext cx="1426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68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255574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R$ 2.250.000</a:t>
            </a:r>
            <a:endParaRPr lang="en-US" sz="76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2770632"/>
            <a:ext cx="1426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MENSAL</a:t>
            </a:r>
            <a:endParaRPr lang="en-US" sz="68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77063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R$ 243.333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457200" y="4041648"/>
            <a:ext cx="2763492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4114800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315968"/>
            <a:ext cx="27269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CAMPANHAS EXPERIMENTAIS</a:t>
            </a:r>
            <a:endParaRPr lang="en-US" sz="68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98848"/>
            <a:ext cx="26903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75556" y="4041648"/>
            <a:ext cx="2538024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75556" y="4114800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3275556" y="4315968"/>
            <a:ext cx="2501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 E VALIDAÇÃO AGRONÔMICA</a:t>
            </a:r>
            <a:endParaRPr lang="en-US" sz="680" dirty="0"/>
          </a:p>
        </p:txBody>
      </p:sp>
      <p:sp>
        <p:nvSpPr>
          <p:cNvPr id="25" name="Text 23"/>
          <p:cNvSpPr txBox="1"/>
          <p:nvPr/>
        </p:nvSpPr>
        <p:spPr>
          <a:xfrm>
            <a:off x="3275556" y="4498848"/>
            <a:ext cx="2464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868444" y="4041648"/>
            <a:ext cx="1072478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868444" y="4114800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WP5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5868444" y="4315968"/>
            <a:ext cx="103590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ACV E CRÉDITOS DE CARBONO</a:t>
            </a:r>
            <a:endParaRPr lang="en-US" sz="680" dirty="0"/>
          </a:p>
        </p:txBody>
      </p:sp>
      <p:sp>
        <p:nvSpPr>
          <p:cNvPr id="29" name="Text 27"/>
          <p:cNvSpPr txBox="1"/>
          <p:nvPr/>
        </p:nvSpPr>
        <p:spPr>
          <a:xfrm>
            <a:off x="5868444" y="4498848"/>
            <a:ext cx="99932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995786" y="4041648"/>
            <a:ext cx="1636150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95786" y="4114800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WP6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995786" y="4315968"/>
            <a:ext cx="159957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INDUSTRIAL E NEGÓCIO</a:t>
            </a:r>
            <a:endParaRPr lang="en-US" sz="680" dirty="0"/>
          </a:p>
        </p:txBody>
      </p:sp>
      <p:sp>
        <p:nvSpPr>
          <p:cNvPr id="33" name="Text 31"/>
          <p:cNvSpPr txBox="1"/>
          <p:nvPr/>
        </p:nvSpPr>
        <p:spPr>
          <a:xfrm>
            <a:off x="6995786" y="4498848"/>
            <a:ext cx="156299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809744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OPEX EM REGIME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493776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piloto não se paga.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não deveria.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286000"/>
            <a:ext cx="310896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R$ 3.336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2999232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TONELADA, EM REGIME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999232"/>
            <a:ext cx="310896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R$ 3.177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2322576" y="3712464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BRUTA POR TONELADA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3913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C9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−160 / 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4261104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A 810 T/ANO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1371600"/>
            <a:ext cx="161665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FIXO</a:t>
            </a:r>
            <a:endParaRPr lang="en-US" sz="68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1371600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R$ 2.098.800/ano</a:t>
            </a:r>
            <a:endParaRPr lang="en-US" sz="76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1586484"/>
            <a:ext cx="161665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VARIÁVEL</a:t>
            </a:r>
            <a:endParaRPr lang="en-US" sz="68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1586484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R$ 745/t</a:t>
            </a:r>
            <a:endParaRPr lang="en-US" sz="76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1801368"/>
            <a:ext cx="161665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ANUAL</a:t>
            </a:r>
            <a:endParaRPr lang="en-US" sz="68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1801368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R$ 2.702.503</a:t>
            </a:r>
            <a:endParaRPr lang="en-US" sz="76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46227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fixo não cai com a escala — e é exatamente por isso que o Módulo 1 fecha a conta e a POC não. A escala é o destravamento.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UNIT ECONOMICS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329184" y="1444752"/>
            <a:ext cx="3291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763</a:t>
            </a:r>
            <a:endParaRPr lang="en-US" sz="108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/ 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3236976"/>
            <a:ext cx="2377440" cy="7315"/>
          </a:xfrm>
          <a:prstGeom prst="rect">
            <a:avLst/>
          </a:prstGeom>
          <a:solidFill>
            <a:srgbClr val="1F7370">
              <a:alpha val="5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75488" y="3712464"/>
            <a:ext cx="3291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CONTRIBUIÇÃO POR TONELADA DE CHAR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3913632"/>
            <a:ext cx="3291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CONSERVADOR · CÂMBIO 5,20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4261104" y="950976"/>
            <a:ext cx="2011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8961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R$ 995 / 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261104" y="12252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US$ 150/tCO₂e · −25% offtake · −15% comissão · 2,0 tCO₂e líquidas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3803904" y="2240280"/>
            <a:ext cx="2011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21854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R$ 2.000 / 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803904" y="2514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B: a fábrica fica com o carbono no EPD e não há CORC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3529584"/>
            <a:ext cx="2011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FEE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474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R$ 182 / 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26864" y="380390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R$ 38/t úmida × 4,8 t — o resíduo paga antes do primeiro crédito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809744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 CARBONO ÚNICO: O MESMO QUILO NUNCA É VENDIDO DUAS VEZES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BREAKEVEN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402336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solver diz exatamente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ser verdade.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228600" y="1856232"/>
            <a:ext cx="22860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3.874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228600" y="2340356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BREAKEVEN DE CAIXA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28600" y="25232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subvenções de custeio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1700784"/>
            <a:ext cx="22860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4.700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2283968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 MÓDULO 1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2466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de 21,6 M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1481328"/>
            <a:ext cx="2286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5.448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196592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= 0 EM 2028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379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mercado pleno, 15 pessoas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6812280" y="3310128"/>
            <a:ext cx="2286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spc="-200" kern="0" dirty="0">
                <a:solidFill>
                  <a:srgbClr val="C9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6.942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728212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C9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 GATE FEE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39110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destinação vale ~1.500 t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35808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TONELADAS DE BIOCHAR POR ANO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809744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ESCALA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512064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810 toneladas a um grupo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cruza o zero.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67328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95020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187952"/>
            <a:ext cx="169164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810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4569460"/>
            <a:ext cx="1691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CHAR/ANO</a:t>
            </a:r>
            <a:endParaRPr lang="en-US" sz="680" dirty="0"/>
          </a:p>
        </p:txBody>
      </p:sp>
      <p:sp>
        <p:nvSpPr>
          <p:cNvPr id="8" name="Text 6"/>
          <p:cNvSpPr txBox="1"/>
          <p:nvPr/>
        </p:nvSpPr>
        <p:spPr>
          <a:xfrm>
            <a:off x="2724912" y="3474720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5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2028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724912" y="365760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724912" y="3895344"/>
            <a:ext cx="169164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4,7 K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4342892"/>
            <a:ext cx="1691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CHAR/ANO</a:t>
            </a:r>
            <a:endParaRPr lang="en-US" sz="680" dirty="0"/>
          </a:p>
        </p:txBody>
      </p:sp>
      <p:sp>
        <p:nvSpPr>
          <p:cNvPr id="12" name="Text 10"/>
          <p:cNvSpPr txBox="1"/>
          <p:nvPr/>
        </p:nvSpPr>
        <p:spPr>
          <a:xfrm>
            <a:off x="5138928" y="2523744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2029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138928" y="270662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1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38928" y="2944368"/>
            <a:ext cx="169164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-20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K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138928" y="3457956"/>
            <a:ext cx="1691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BIOMASSA/ANO</a:t>
            </a:r>
            <a:endParaRPr lang="en-US" sz="68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1243584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2031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142646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2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166420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K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2276856"/>
            <a:ext cx="1691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BIOMASSA/ANO</a:t>
            </a:r>
            <a:endParaRPr lang="en-US" sz="68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91947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BREAKEVEN DO GRUPO FICA EM ~13 MIL T/ANO — A SEGUNDA PLANTA NÃO É RÉPLICA, É O DOBRO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BNDES FUNDO CLIMA · SUDENE · FNE VERDE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ipping/design-system/.preview/deck-assets/mark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256032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41248" y="429768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DISCIPLINA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00"/>
              </a:lnSpc>
              <a:buNone/>
            </a:pPr>
            <a:r>
              <a:rPr lang="en-US" sz="3600" spc="-100" kern="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tonelada da POC compra</a:t>
            </a:r>
            <a:endParaRPr lang="en-US" sz="3600" dirty="0"/>
          </a:p>
          <a:p>
            <a:pPr indent="0" marL="0">
              <a:lnSpc>
                <a:spcPts val="4100"/>
              </a:lnSpc>
              <a:buNone/>
            </a:pPr>
            <a:r>
              <a:rPr lang="en-US" sz="3600" spc="-100" kern="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dinheiro não compra depois.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4041648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422452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H/Corg ≤ 0,40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4462272"/>
            <a:ext cx="1645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MANTÉM PURO E EBC ABERTAS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2350008" y="4041648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350008" y="422452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 não aglomera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350008" y="4462272"/>
            <a:ext cx="1645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POTÁSSIO DO COCO</a:t>
            </a:r>
            <a:endParaRPr lang="en-US" sz="650" dirty="0"/>
          </a:p>
        </p:txBody>
      </p:sp>
      <p:sp>
        <p:nvSpPr>
          <p:cNvPr id="11" name="Text 8"/>
          <p:cNvSpPr txBox="1"/>
          <p:nvPr/>
        </p:nvSpPr>
        <p:spPr>
          <a:xfrm>
            <a:off x="4087368" y="4041648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087368" y="422452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CH₄ sob o teto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087368" y="4462272"/>
            <a:ext cx="1645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AREIA DENTRO DA SPEC</a:t>
            </a:r>
            <a:endParaRPr lang="en-US" sz="650" dirty="0"/>
          </a:p>
        </p:txBody>
      </p:sp>
      <p:sp>
        <p:nvSpPr>
          <p:cNvPr id="14" name="Text 11"/>
          <p:cNvSpPr txBox="1"/>
          <p:nvPr/>
        </p:nvSpPr>
        <p:spPr>
          <a:xfrm>
            <a:off x="5824728" y="4041648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M12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5824728" y="422452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destinação assinada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824728" y="4462272"/>
            <a:ext cx="1645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CONDIÇÃO DE CAPEX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7562088" y="4041648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M15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7562088" y="422452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audit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7562088" y="4462272"/>
            <a:ext cx="1645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EMISSÃO</a:t>
            </a:r>
            <a:endParaRPr lang="en-US" sz="65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828032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FINANCIAMENTO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5120640" cy="86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2"/>
              </a:lnSpc>
              <a:buNone/>
            </a:pPr>
            <a:r>
              <a:rPr lang="en-US" sz="32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Não-dilutivo primeiro.</a:t>
            </a:r>
            <a:endParaRPr lang="en-US" sz="3200" dirty="0"/>
          </a:p>
          <a:p>
            <a:pPr indent="0" marL="0">
              <a:lnSpc>
                <a:spcPts val="3392"/>
              </a:lnSpc>
              <a:buNone/>
            </a:pPr>
            <a:r>
              <a:rPr lang="en-US" sz="32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 com marco provado.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2103120"/>
            <a:ext cx="1554480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84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3584448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SUBVENÇÃO FINEP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3785616"/>
            <a:ext cx="17373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8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R$ 12.750.000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2670048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084832" y="358444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CONTRAPARTIDA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2084832" y="3785616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R$ 2.250.000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712464" y="2286000"/>
            <a:ext cx="7315" cy="1737360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68496" y="2395728"/>
            <a:ext cx="219456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401568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 · TOTAL DA POC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639312"/>
            <a:ext cx="109362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</a:t>
            </a:r>
            <a:endParaRPr lang="en-US" sz="68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3639312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7,7 M</a:t>
            </a:r>
            <a:endParaRPr lang="en-US" sz="76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3854196"/>
            <a:ext cx="109362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· 30 MESES</a:t>
            </a:r>
            <a:endParaRPr lang="en-US" sz="68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3854196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7,3 M</a:t>
            </a:r>
            <a:endParaRPr lang="en-US" sz="76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137160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90 DIAS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583680" y="1627632"/>
            <a:ext cx="2103120" cy="7315"/>
          </a:xfrm>
          <a:prstGeom prst="rect">
            <a:avLst/>
          </a:prstGeom>
          <a:solidFill>
            <a:srgbClr val="1F7370">
              <a:alpha val="40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1719072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19019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Finep Economia Circular protocolada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0" y="2286000"/>
            <a:ext cx="2103120" cy="7315"/>
          </a:xfrm>
          <a:prstGeom prst="rect">
            <a:avLst/>
          </a:prstGeom>
          <a:solidFill>
            <a:srgbClr val="1F7370">
              <a:alpha val="40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2377440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25603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de destinação PepsiCo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583680" y="2944368"/>
            <a:ext cx="2103120" cy="7315"/>
          </a:xfrm>
          <a:prstGeom prst="rect">
            <a:avLst/>
          </a:prstGeom>
          <a:solidFill>
            <a:srgbClr val="1F7370">
              <a:alpha val="40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0" y="3035808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2186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Fábrica de blocos parceira + seed de R$ 2–3 M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809744"/>
            <a:ext cx="7498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[EST] COM PRECISÃO AACE CLASSE 4 (−30% / +50%) · VALORES [DOC] LIDOS DA PROPOSTA FINEP E DO PLANO DA POC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 Biochar Petrolina — CAPEX e OPEX</dc:title>
  <dc:subject>PptxGenJS Presentation</dc:subject>
  <dc:creator>RECICLAR · EPA</dc:creator>
  <cp:lastModifiedBy>RECICLAR · EPA</cp:lastModifiedBy>
  <cp:revision>1</cp:revision>
  <dcterms:created xsi:type="dcterms:W3CDTF">2026-08-31T02:16:55Z</dcterms:created>
  <dcterms:modified xsi:type="dcterms:W3CDTF">2026-08-31T02:16:55Z</dcterms:modified>
</cp:coreProperties>
</file>