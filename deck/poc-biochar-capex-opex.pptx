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membrana é o device da permanência e carrega poros — matéria, não vidro.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 Mt entregues contra 100 Mt/ano de demanda projetada em 2030: ~66x, em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elo do meio — char de especificação para construção — é o que está vazio na América Latina.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banda de char é 20,25% da altura da banda de biomassa porque esse é o rendimento; a banda de remoção é o dobro da de char porque são 2,0 tCO2e/t. A geometria é o 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CAPEX = WP1 (projeto) + WP2 (construção e montagem) = R$ 7,7 M dos R$ 15,0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R$ 7,3 M de custeio sobre R$ 7,7 M de investimento, 85% via subvenção Finep.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custo/t = fixo/volume + variável. Não cruzo receita com a curva porque esta base [EST] cruzaria em ~860 t e contradiria o breakeven [DOC] de 5.448 t, que usa uma estrutura de custo maior.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barras partilham origem e escala, então o excesso do custo é lido como distância. A margem de R$ 763 é [DOC] e pertence a outra camada contábil — o slide diz isso em vez de sugerir que uma deriva da outra.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limiares estão em escala. Os dois vãos são subtrações sobre números [DOC]: 5.448 − 4.700 = 748 t, e 6.942 − 5.448 = 1.494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membrana está dimensionada pela capacidade da sua fase — a escala é física, não uma curva desenhada por 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barreiras técnicas atravessadas, não cinco marcos numa linha. A densidade de partículas de cada membrana codifica a incerteza restante.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 na luz. O campo de poros da chapa está quase resolvido — o eco visual do slide 11 depois de todos os 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ipping/design-system/.preview/deck-assets/mark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84048"/>
            <a:ext cx="274320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8680" y="429768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/ PETROLINA / PERNAMBUCO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475488" y="2212848"/>
            <a:ext cx="5852160" cy="1238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76"/>
              </a:lnSpc>
              <a:buNone/>
            </a:pPr>
            <a:r>
              <a:rPr lang="en-US" sz="4600" spc="-11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transformando resíduo</a:t>
            </a:r>
            <a:endParaRPr lang="en-US" sz="4600" dirty="0"/>
          </a:p>
          <a:p>
            <a:pPr indent="0" marL="0">
              <a:lnSpc>
                <a:spcPts val="4876"/>
              </a:lnSpc>
              <a:buNone/>
            </a:pPr>
            <a:r>
              <a:rPr lang="en-US" sz="4600" spc="-11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impacto climático.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475488" y="3803904"/>
            <a:ext cx="3291840" cy="7315"/>
          </a:xfrm>
          <a:prstGeom prst="rect">
            <a:avLst/>
          </a:prstGeom>
          <a:solidFill>
            <a:srgbClr val="1F7370">
              <a:alpha val="50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75488" y="391363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60" kern="0" dirty="0">
                <a:solidFill>
                  <a:srgbClr val="5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ESTIMATIVAS DE CAPEX E OPEX DA PROVA DE CONCEITO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75488" y="4224528"/>
            <a:ext cx="1033272" cy="7315"/>
          </a:xfrm>
          <a:prstGeom prst="rect">
            <a:avLst/>
          </a:prstGeom>
          <a:solidFill>
            <a:srgbClr val="5B8AAE">
              <a:alpha val="3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75488" y="4297680"/>
            <a:ext cx="1014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REATOR</a:t>
            </a:r>
            <a:endParaRPr lang="en-US" sz="650" dirty="0"/>
          </a:p>
        </p:txBody>
      </p:sp>
      <p:sp>
        <p:nvSpPr>
          <p:cNvPr id="9" name="Text 6"/>
          <p:cNvSpPr txBox="1"/>
          <p:nvPr/>
        </p:nvSpPr>
        <p:spPr>
          <a:xfrm>
            <a:off x="475488" y="4462272"/>
            <a:ext cx="996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FBR 3 zonas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618488" y="4224528"/>
            <a:ext cx="1033272" cy="7315"/>
          </a:xfrm>
          <a:prstGeom prst="rect">
            <a:avLst/>
          </a:prstGeom>
          <a:solidFill>
            <a:srgbClr val="5B8AAE">
              <a:alpha val="38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618488" y="4297680"/>
            <a:ext cx="1014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1618488" y="4462272"/>
            <a:ext cx="996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kg/h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61488" y="4224528"/>
            <a:ext cx="1033272" cy="7315"/>
          </a:xfrm>
          <a:prstGeom prst="rect">
            <a:avLst/>
          </a:prstGeom>
          <a:solidFill>
            <a:srgbClr val="5B8AAE">
              <a:alpha val="38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761488" y="4297680"/>
            <a:ext cx="1014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</a:t>
            </a:r>
            <a:endParaRPr lang="en-US" sz="650" dirty="0"/>
          </a:p>
        </p:txBody>
      </p:sp>
      <p:sp>
        <p:nvSpPr>
          <p:cNvPr id="15" name="Text 12"/>
          <p:cNvSpPr txBox="1"/>
          <p:nvPr/>
        </p:nvSpPr>
        <p:spPr>
          <a:xfrm>
            <a:off x="2761488" y="4462272"/>
            <a:ext cx="996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810 t/ano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904488" y="4224528"/>
            <a:ext cx="1033272" cy="7315"/>
          </a:xfrm>
          <a:prstGeom prst="rect">
            <a:avLst/>
          </a:prstGeom>
          <a:solidFill>
            <a:srgbClr val="5B8AAE">
              <a:alpha val="38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904488" y="4297680"/>
            <a:ext cx="1014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</a:t>
            </a:r>
            <a:endParaRPr lang="en-US" sz="650" dirty="0"/>
          </a:p>
        </p:txBody>
      </p:sp>
      <p:sp>
        <p:nvSpPr>
          <p:cNvPr id="18" name="Text 15"/>
          <p:cNvSpPr txBox="1"/>
          <p:nvPr/>
        </p:nvSpPr>
        <p:spPr>
          <a:xfrm>
            <a:off x="3904488" y="4462272"/>
            <a:ext cx="996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→ 07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75488" y="4809744"/>
            <a:ext cx="5852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spc="26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RECICLAR · EPA/BIOECOTEC · UNIÃO SOLUÇÕES · UEL   ·   AGOSTO 2026</a:t>
            </a:r>
            <a:endParaRPr lang="en-US" sz="680" dirty="0"/>
          </a:p>
        </p:txBody>
      </p:sp>
      <p:sp>
        <p:nvSpPr>
          <p:cNvPr id="20" name="Text 17"/>
          <p:cNvSpPr txBox="1"/>
          <p:nvPr/>
        </p:nvSpPr>
        <p:spPr>
          <a:xfrm rot="5400000">
            <a:off x="8613648" y="38404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30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 −9,3891 · LONG −40,5030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MERCADO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493776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80"/>
              </a:lnSpc>
              <a:buNone/>
            </a:pPr>
            <a:r>
              <a:rPr lang="en-US" sz="3000" spc="-11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oferta é o gargalo.</a:t>
            </a:r>
            <a:endParaRPr lang="en-US" sz="3000" dirty="0"/>
          </a:p>
          <a:p>
            <a:pPr indent="0" marL="0">
              <a:lnSpc>
                <a:spcPts val="3180"/>
              </a:lnSpc>
              <a:buNone/>
            </a:pPr>
            <a:r>
              <a:rPr lang="en-US" sz="3000" spc="-11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 demanda.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1051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MT/ANO · DEMANDA PROJETADA PARA 2030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1371600"/>
            <a:ext cx="21031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400" spc="-200" kern="0" dirty="0">
                <a:solidFill>
                  <a:srgbClr val="175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67×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2231136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ENTREGAR E PRECISAR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84048" y="2889504"/>
            <a:ext cx="201168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spc="-20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</a:t>
            </a:r>
            <a:endParaRPr lang="en-US" sz="64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spc="-4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3986784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ENTREGUES NO MUNDO INTEIRO, ACUMULADO ATÉ JUN/26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937760" y="3017520"/>
            <a:ext cx="3749040" cy="7315"/>
          </a:xfrm>
          <a:prstGeom prst="rect">
            <a:avLst/>
          </a:prstGeom>
          <a:solidFill>
            <a:srgbClr val="1F7370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3108960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UM ÚNICO COMPRADOR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291840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34,6 Mt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5844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3"/>
              </a:lnSpc>
              <a:buNone/>
            </a:pPr>
            <a:r>
              <a:rPr lang="en-US" sz="950" dirty="0">
                <a:solidFill>
                  <a:srgbClr val="5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contratados pela Microsoft — 63% de todas as compras de CDR em 2024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4059936"/>
            <a:ext cx="2194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75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US$ 150 / tCO₂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427939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 DE ENTREGA DO CRÉDITO DE BIOCHAR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57200" y="4590288"/>
            <a:ext cx="8138160" cy="7315"/>
          </a:xfrm>
          <a:prstGeom prst="rect">
            <a:avLst/>
          </a:prstGeom>
          <a:solidFill>
            <a:srgbClr val="5B8AAE">
              <a:alpha val="32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4681728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ENTREGUE É ESTOQUE ACUMULADO E A DEMANDA É FLUXO ANUAL PROJETADO — A BARRA COMPARA ORDENS DE GRANDEZA, NÃO O MESMO PERÍODO</a:t>
            </a:r>
            <a:endParaRPr lang="en-US" sz="62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46320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CDR.FYI · MCKINSEY · S&amp;P GLOBAL   ·   [DOC]</a:t>
            </a:r>
            <a:endParaRPr lang="en-US" sz="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TESE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273552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7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273552"/>
            <a:ext cx="1399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FEEDSTOCK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4564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3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resíduo cativo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37490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5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 mil t de coco por ano EM Petrolina — 100 mil t úmidas de casca na porta da fábrica.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4187952"/>
            <a:ext cx="1691640" cy="7315"/>
          </a:xfrm>
          <a:prstGeom prst="rect">
            <a:avLst/>
          </a:prstGeom>
          <a:solidFill>
            <a:srgbClr val="1F7370">
              <a:alpha val="42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4261104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DESTRAVA</a:t>
            </a:r>
            <a:endParaRPr lang="en-US" sz="6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44074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contrato alimenta todas as fases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450592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7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127248" y="2450592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633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3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 nacional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926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5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Leito fluidizado circulante de três zonas (Finep, TRL 4→7): char fino por atrito, potássio reduzido pelo leito, syngas queimado no riser.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0" y="3584448"/>
            <a:ext cx="2834640" cy="7315"/>
          </a:xfrm>
          <a:prstGeom prst="rect">
            <a:avLst/>
          </a:prstGeom>
          <a:solidFill>
            <a:srgbClr val="1F7370">
              <a:alpha val="42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43200" y="3657600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DESTRAVA</a:t>
            </a:r>
            <a:endParaRPr lang="en-US" sz="6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38039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risco de metano resolvido por projeto, não por operação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511296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7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419088" y="3511296"/>
            <a:ext cx="2359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694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-3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receitas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9867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5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Destinação, material de construção e crédito de remoção.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35040" y="4425696"/>
            <a:ext cx="2651760" cy="7315"/>
          </a:xfrm>
          <a:prstGeom prst="rect">
            <a:avLst/>
          </a:prstGeom>
          <a:solidFill>
            <a:srgbClr val="1F7370">
              <a:alpha val="42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035040" y="4498848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DESTRAVA</a:t>
            </a:r>
            <a:endParaRPr lang="en-US" sz="6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4645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resíduo paga antes do primeiro crédito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497433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→ TECNOLOGIA → VALOR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4974336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PLANTA LATINO-AMERICANA PRODUZ CHAR DE ESPECIFICAÇÃO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PILOTO · BALANÇO DE MASSA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384048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80"/>
              </a:lnSpc>
              <a:buNone/>
            </a:pPr>
            <a:r>
              <a:rPr lang="en-US" sz="3000" spc="-11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 entra.</a:t>
            </a:r>
            <a:endParaRPr lang="en-US" sz="3000" dirty="0"/>
          </a:p>
          <a:p>
            <a:pPr indent="0" marL="0">
              <a:lnSpc>
                <a:spcPts val="3180"/>
              </a:lnSpc>
              <a:buNone/>
            </a:pPr>
            <a:r>
              <a:rPr lang="en-US" sz="3000" spc="-11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Carbono fica.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39696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BIOMASSA · ENTRADA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3127248"/>
            <a:ext cx="2377440" cy="561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20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712464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spc="26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T/ANO DE CASCA DE COCO</a:t>
            </a:r>
            <a:endParaRPr lang="en-US" sz="68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2139696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 · PRODUTO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992624" y="2889504"/>
            <a:ext cx="1828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spc="-20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810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5047488" y="391363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T/ANO DE BIOCHAR</a:t>
            </a:r>
            <a:endParaRPr lang="en-US" sz="68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139696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1F92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REMOÇÃO · RESULTADO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6839712" y="2962656"/>
            <a:ext cx="2011680" cy="62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spc="-200" kern="0" dirty="0">
                <a:solidFill>
                  <a:srgbClr val="175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1.620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876288" y="363931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spc="26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TCO₂E/ANO · 2,0 POR T DE CHAR</a:t>
            </a:r>
            <a:endParaRPr lang="en-US" sz="68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181051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KG/H  ·  ≥ 20 % BASE SECA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3895344" y="3931920"/>
            <a:ext cx="1005840" cy="7315"/>
          </a:xfrm>
          <a:prstGeom prst="rect">
            <a:avLst/>
          </a:prstGeom>
          <a:solidFill>
            <a:srgbClr val="1F7370">
              <a:alpha val="50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895344" y="4023360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Z1 COMBUSTÃO</a:t>
            </a:r>
            <a:endParaRPr lang="en-US" sz="620" dirty="0"/>
          </a:p>
        </p:txBody>
      </p:sp>
      <p:sp>
        <p:nvSpPr>
          <p:cNvPr id="16" name="Text 14"/>
          <p:cNvSpPr txBox="1"/>
          <p:nvPr/>
        </p:nvSpPr>
        <p:spPr>
          <a:xfrm>
            <a:off x="3895344" y="4187952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Z2 PIRÓLISE 600 °C</a:t>
            </a:r>
            <a:endParaRPr lang="en-US" sz="620" dirty="0"/>
          </a:p>
        </p:txBody>
      </p:sp>
      <p:sp>
        <p:nvSpPr>
          <p:cNvPr id="17" name="Text 15"/>
          <p:cNvSpPr txBox="1"/>
          <p:nvPr/>
        </p:nvSpPr>
        <p:spPr>
          <a:xfrm>
            <a:off x="3895344" y="4352544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Z3 FREEBOARD</a:t>
            </a:r>
            <a:endParaRPr lang="en-US" sz="620" dirty="0"/>
          </a:p>
        </p:txBody>
      </p:sp>
      <p:sp>
        <p:nvSpPr>
          <p:cNvPr id="18" name="Text 16"/>
          <p:cNvSpPr txBox="1"/>
          <p:nvPr/>
        </p:nvSpPr>
        <p:spPr>
          <a:xfrm>
            <a:off x="3895344" y="4517136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AREIA RECIRCULA Z1↔Z3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457200" y="4626864"/>
            <a:ext cx="3291840" cy="7315"/>
          </a:xfrm>
          <a:prstGeom prst="rect">
            <a:avLst/>
          </a:prstGeom>
          <a:solidFill>
            <a:srgbClr val="5B8AAE">
              <a:alpha val="34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4718304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RENDIMENTO ≥20% É O INDICADOR DA ENTREGA E3.1 · 2,0 TCO₂E/T É O PISO DA E5.2</a:t>
            </a:r>
            <a:endParaRPr lang="en-US" sz="6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882896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04 → 07 · 30 MESES · LEITO FLUIDIZADO CIRCULANTE DE TRÊS ZONAS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 rot="5400000">
            <a:off x="8613648" y="38404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30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LINHA TÉRMICA É O PERFIL DE TEMPERATURA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CAPEX DA POC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4937760" cy="70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6"/>
              </a:lnSpc>
              <a:buNone/>
            </a:pPr>
            <a:r>
              <a:rPr lang="en-US" sz="2600" spc="-11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ativo físico e a engenharia</a:t>
            </a:r>
            <a:endParaRPr lang="en-US" sz="2600" dirty="0"/>
          </a:p>
          <a:p>
            <a:pPr indent="0" marL="0">
              <a:lnSpc>
                <a:spcPts val="2756"/>
              </a:lnSpc>
              <a:buNone/>
            </a:pPr>
            <a:r>
              <a:rPr lang="en-US" sz="2600" spc="-11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o produz.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84048" y="1572768"/>
            <a:ext cx="27432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spc="-40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1975104" y="224942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spc="-4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75488" y="2852928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TOTAL DA POC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323697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WP1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419856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2,2 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3657600"/>
            <a:ext cx="139511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MODELAGEM, SIMULAÇÃO E PROJETO</a:t>
            </a:r>
            <a:endParaRPr lang="en-US" sz="620" dirty="0"/>
          </a:p>
        </p:txBody>
      </p:sp>
      <p:sp>
        <p:nvSpPr>
          <p:cNvPr id="10" name="Text 8"/>
          <p:cNvSpPr txBox="1"/>
          <p:nvPr/>
        </p:nvSpPr>
        <p:spPr>
          <a:xfrm>
            <a:off x="2108345" y="323697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WP2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2108345" y="3419856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5,5 M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08345" y="3657600"/>
            <a:ext cx="367066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CONSTRUÇÃO E MONTAGEM DO PILOTO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457200" y="4133088"/>
            <a:ext cx="1688592" cy="7315"/>
          </a:xfrm>
          <a:prstGeom prst="rect">
            <a:avLst/>
          </a:prstGeom>
          <a:solidFill>
            <a:srgbClr val="5B8AAE">
              <a:alpha val="3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4206240"/>
            <a:ext cx="167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T DE CAPACIDADE</a:t>
            </a:r>
            <a:endParaRPr lang="en-US" sz="6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370832"/>
            <a:ext cx="1652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R$ 9.506/t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55520" y="4133088"/>
            <a:ext cx="1688592" cy="7315"/>
          </a:xfrm>
          <a:prstGeom prst="rect">
            <a:avLst/>
          </a:prstGeom>
          <a:solidFill>
            <a:srgbClr val="5B8AAE">
              <a:alpha val="3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255520" y="4206240"/>
            <a:ext cx="167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PRECISÃO</a:t>
            </a:r>
            <a:endParaRPr lang="en-US" sz="650" dirty="0"/>
          </a:p>
        </p:txBody>
      </p:sp>
      <p:sp>
        <p:nvSpPr>
          <p:cNvPr id="18" name="Text 16"/>
          <p:cNvSpPr txBox="1"/>
          <p:nvPr/>
        </p:nvSpPr>
        <p:spPr>
          <a:xfrm>
            <a:off x="2255520" y="4370832"/>
            <a:ext cx="1652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AACE 4 · −30/+50%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53840" y="4133088"/>
            <a:ext cx="1688592" cy="7315"/>
          </a:xfrm>
          <a:prstGeom prst="rect">
            <a:avLst/>
          </a:prstGeom>
          <a:solidFill>
            <a:srgbClr val="5B8AAE">
              <a:alpha val="3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053840" y="4206240"/>
            <a:ext cx="167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FRONTEIRA</a:t>
            </a:r>
            <a:endParaRPr lang="en-US" sz="650" dirty="0"/>
          </a:p>
        </p:txBody>
      </p:sp>
      <p:sp>
        <p:nvSpPr>
          <p:cNvPr id="21" name="Text 19"/>
          <p:cNvSpPr txBox="1"/>
          <p:nvPr/>
        </p:nvSpPr>
        <p:spPr>
          <a:xfrm>
            <a:off x="4053840" y="4370832"/>
            <a:ext cx="1652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WP1 + WP2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09744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ENGENHARIA É CAPITALIZADA JUNTO COM O EQUIPAMENTO: NUM PILOTO ELA NÃO TEM VALOR SEPARÁVEL DELE</a:t>
            </a:r>
            <a:endParaRPr lang="en-US" sz="650" dirty="0"/>
          </a:p>
        </p:txBody>
      </p:sp>
      <p:sp>
        <p:nvSpPr>
          <p:cNvPr id="23" name="Text 21"/>
          <p:cNvSpPr txBox="1"/>
          <p:nvPr/>
        </p:nvSpPr>
        <p:spPr>
          <a:xfrm rot="5400000">
            <a:off x="8613648" y="38404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30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FINEP ECONOMIA CIRCULAR · 30 MESES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OPEX DO PROJETO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4754880" cy="70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6"/>
              </a:lnSpc>
              <a:buNone/>
            </a:pPr>
            <a:r>
              <a:rPr lang="en-US" sz="2600" spc="-11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se consome provando</a:t>
            </a:r>
            <a:endParaRPr lang="en-US" sz="2600" dirty="0"/>
          </a:p>
          <a:p>
            <a:pPr indent="0" marL="0">
              <a:lnSpc>
                <a:spcPts val="2756"/>
              </a:lnSpc>
              <a:buNone/>
            </a:pPr>
            <a:r>
              <a:rPr lang="en-US" sz="2600" spc="-11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ativo, em 30 meses.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84048" y="1645920"/>
            <a:ext cx="237744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spc="-40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7,3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475488" y="2724912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M · CUSTEIO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2395728" y="2048256"/>
            <a:ext cx="17373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spc="-20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2450592" y="272491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M · INVESTIMENTO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231136"/>
            <a:ext cx="2377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R$ 243.333 / mês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468880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AO LONGO DOS 30 MESES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299923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· 51%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99923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· 49%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3749040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1F92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SUBVENÇÃO FINEP · 85%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4206240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R$ 12.750.000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525512" y="3749040"/>
            <a:ext cx="11612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CONTRAPARTIDA · 15%</a:t>
            </a:r>
            <a:endParaRPr lang="en-US" sz="620" dirty="0"/>
          </a:p>
        </p:txBody>
      </p:sp>
      <p:sp>
        <p:nvSpPr>
          <p:cNvPr id="15" name="Text 13"/>
          <p:cNvSpPr txBox="1"/>
          <p:nvPr/>
        </p:nvSpPr>
        <p:spPr>
          <a:xfrm>
            <a:off x="7525512" y="4206240"/>
            <a:ext cx="11612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R$ 2.250.000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1924812" cy="7315"/>
          </a:xfrm>
          <a:prstGeom prst="rect">
            <a:avLst/>
          </a:prstGeom>
          <a:solidFill>
            <a:srgbClr val="5B8AAE">
              <a:alpha val="3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4553712"/>
            <a:ext cx="19065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</a:t>
            </a:r>
            <a:endParaRPr lang="en-US" sz="6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18304"/>
            <a:ext cx="18882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2,5 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91740" y="4480560"/>
            <a:ext cx="1924812" cy="7315"/>
          </a:xfrm>
          <a:prstGeom prst="rect">
            <a:avLst/>
          </a:prstGeom>
          <a:solidFill>
            <a:srgbClr val="5B8AAE">
              <a:alpha val="3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491740" y="4553712"/>
            <a:ext cx="19065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CARACTERIZAÇÃO</a:t>
            </a:r>
            <a:endParaRPr lang="en-US" sz="650" dirty="0"/>
          </a:p>
        </p:txBody>
      </p:sp>
      <p:sp>
        <p:nvSpPr>
          <p:cNvPr id="21" name="Text 19"/>
          <p:cNvSpPr txBox="1"/>
          <p:nvPr/>
        </p:nvSpPr>
        <p:spPr>
          <a:xfrm>
            <a:off x="2491740" y="4718304"/>
            <a:ext cx="18882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2,3 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26280" y="4480560"/>
            <a:ext cx="1924812" cy="7315"/>
          </a:xfrm>
          <a:prstGeom prst="rect">
            <a:avLst/>
          </a:prstGeom>
          <a:solidFill>
            <a:srgbClr val="5B8AAE">
              <a:alpha val="3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26280" y="4553712"/>
            <a:ext cx="19065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ACV E CARBONO</a:t>
            </a:r>
            <a:endParaRPr lang="en-US" sz="65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4718304"/>
            <a:ext cx="18882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 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60820" y="4480560"/>
            <a:ext cx="1924812" cy="7315"/>
          </a:xfrm>
          <a:prstGeom prst="rect">
            <a:avLst/>
          </a:prstGeom>
          <a:solidFill>
            <a:srgbClr val="5B8AAE">
              <a:alpha val="38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60820" y="4553712"/>
            <a:ext cx="19065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INDUSTRIAL</a:t>
            </a:r>
            <a:endParaRPr lang="en-US" sz="650" dirty="0"/>
          </a:p>
        </p:txBody>
      </p:sp>
      <p:sp>
        <p:nvSpPr>
          <p:cNvPr id="27" name="Text 25"/>
          <p:cNvSpPr txBox="1"/>
          <p:nvPr/>
        </p:nvSpPr>
        <p:spPr>
          <a:xfrm>
            <a:off x="6560820" y="4718304"/>
            <a:ext cx="18882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 M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901184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WP3 · WP4 · WP5 · WP6   ·   [DOC] PROPOSTA FINEP</a:t>
            </a:r>
            <a:endParaRPr lang="en-US" sz="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OPEX EM REGIME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846320" y="731520"/>
            <a:ext cx="384048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80"/>
              </a:lnSpc>
              <a:buNone/>
            </a:pPr>
            <a:r>
              <a:rPr lang="en-US" sz="3000" spc="-11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piloto não se paga.</a:t>
            </a:r>
            <a:endParaRPr lang="en-US" sz="3000" dirty="0"/>
          </a:p>
          <a:p>
            <a:pPr indent="0" marL="0">
              <a:lnSpc>
                <a:spcPts val="3180"/>
              </a:lnSpc>
              <a:buNone/>
            </a:pPr>
            <a:r>
              <a:rPr lang="en-US" sz="3000" spc="-11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não deveria.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POR TONELADA DE CHAR · R$/T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21945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-20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R$ 3.336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4564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· 810 T/ANO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304288"/>
            <a:ext cx="219456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spc="-200" kern="0" dirty="0">
                <a:solidFill>
                  <a:srgbClr val="175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R$ 1.192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737104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4.700 T/ANO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615184"/>
            <a:ext cx="21945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-20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R$ 907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948940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· 13.000 T/ANO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3803904"/>
            <a:ext cx="8138160" cy="7315"/>
          </a:xfrm>
          <a:prstGeom prst="rect">
            <a:avLst/>
          </a:prstGeom>
          <a:solidFill>
            <a:srgbClr val="1F7370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389534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FIXO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877056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R$ 2.098.800/ano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895344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VARIÁVEL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877056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R$ 745/t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3895344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FIXO NÃO CAI COM A ESCALA — É ELE QUE A CURVA DILUI</a:t>
            </a:r>
            <a:endParaRPr lang="en-US" sz="6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062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4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escala é o destravamento, e a curva é a razão.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626864"/>
            <a:ext cx="8138160" cy="7315"/>
          </a:xfrm>
          <a:prstGeom prst="rect">
            <a:avLst/>
          </a:prstGeom>
          <a:solidFill>
            <a:srgbClr val="5B8AAE">
              <a:alpha val="32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4718304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SOBRE A BASE DE CUSTO [EST] DO CASO-BASE — SEM LINHA DE RECEITA, PORQUE CRUZARIA EM ~860 T</a:t>
            </a:r>
            <a:endParaRPr lang="en-US" sz="62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82896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LIMIARES DO SLIDE 08 VÊM DO SOLVER DO PLANO [DOC], COM QUINZE SALÁRIOS PLENOS: OUTRA BASE DE CUSTO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UNIT ECONOMICS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1481328"/>
            <a:ext cx="2560320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0" spc="-40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763</a:t>
            </a:r>
            <a:endParaRPr lang="en-US" sz="92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30540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spc="-3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/ 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75488" y="2980944"/>
            <a:ext cx="2011680" cy="7315"/>
          </a:xfrm>
          <a:prstGeom prst="rect">
            <a:avLst/>
          </a:prstGeom>
          <a:solidFill>
            <a:srgbClr val="1F7370">
              <a:alpha val="5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5488" y="3419856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DE CONTRIBUIÇÃO [DOC]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475488" y="3584448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DO PLANO · CÂMBIO 5,20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969264"/>
            <a:ext cx="5577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DO CARBONO ÚNICO · O MESMO QUILO NUNCA É VENDIDO DUAS VEZES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124358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BRUTA / T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207008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R$ 3.177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1901952"/>
            <a:ext cx="16093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CARBONO</a:t>
            </a:r>
            <a:endParaRPr lang="en-US" sz="68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066544"/>
            <a:ext cx="16093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R$ 995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190195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68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2066544"/>
            <a:ext cx="2194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R$ 2.000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699248" y="190195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FEE</a:t>
            </a:r>
            <a:endParaRPr lang="en-US" sz="680" dirty="0"/>
          </a:p>
        </p:txBody>
      </p:sp>
      <p:sp>
        <p:nvSpPr>
          <p:cNvPr id="16" name="Text 14"/>
          <p:cNvSpPr txBox="1"/>
          <p:nvPr/>
        </p:nvSpPr>
        <p:spPr>
          <a:xfrm>
            <a:off x="7699248" y="2066544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R$ 182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2834640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PLENO / T · A 810 T/ANO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2816352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R$ 3.336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27980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96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−160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34747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4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≠ unidade econômica.  A escala é o destravamento.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926080" y="3986784"/>
            <a:ext cx="5577840" cy="7315"/>
          </a:xfrm>
          <a:prstGeom prst="rect">
            <a:avLst/>
          </a:prstGeom>
          <a:solidFill>
            <a:srgbClr val="5B8AAE">
              <a:alpha val="34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926080" y="4078224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26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= TRÊS FLUXOS [DOC] SOMADOS · CUSTO = OPEX PLENO [EST], JÁ COM O FIXO</a:t>
            </a:r>
            <a:endParaRPr lang="en-US" sz="600" dirty="0"/>
          </a:p>
        </p:txBody>
      </p:sp>
      <p:sp>
        <p:nvSpPr>
          <p:cNvPr id="23" name="Text 21"/>
          <p:cNvSpPr txBox="1"/>
          <p:nvPr/>
        </p:nvSpPr>
        <p:spPr>
          <a:xfrm>
            <a:off x="2926080" y="4261104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MARGEM DE R$ 763 É OUTRA CAMADA: LÍQUIDA SÓ DE CUSTOS VARIÁVEIS</a:t>
            </a:r>
            <a:endParaRPr lang="en-US" sz="6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974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BIOCHAR · PETROLINA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BREAKEVEN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4023360" cy="70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6"/>
              </a:lnSpc>
              <a:buNone/>
            </a:pPr>
            <a:r>
              <a:rPr lang="en-US" sz="2600" spc="-11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solver diz exatamente</a:t>
            </a:r>
            <a:endParaRPr lang="en-US" sz="2600" dirty="0"/>
          </a:p>
          <a:p>
            <a:pPr indent="0" marL="0">
              <a:lnSpc>
                <a:spcPts val="2756"/>
              </a:lnSpc>
              <a:buNone/>
            </a:pPr>
            <a:r>
              <a:rPr lang="en-US" sz="2600" spc="-11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ser verdade.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41706" y="1948180"/>
            <a:ext cx="210312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spc="-20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3.874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61746" y="3090672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41706" y="324612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SUBVENÇÕES DE CUSTEIO</a:t>
            </a:r>
            <a:endParaRPr lang="en-US" sz="620" dirty="0"/>
          </a:p>
        </p:txBody>
      </p:sp>
      <p:sp>
        <p:nvSpPr>
          <p:cNvPr id="7" name="Text 5"/>
          <p:cNvSpPr txBox="1"/>
          <p:nvPr/>
        </p:nvSpPr>
        <p:spPr>
          <a:xfrm>
            <a:off x="2225040" y="1882140"/>
            <a:ext cx="21031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spc="-200" kern="0" dirty="0">
                <a:solidFill>
                  <a:srgbClr val="175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4.700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545080" y="3310128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2225040" y="3465576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DE 21,6 M</a:t>
            </a:r>
            <a:endParaRPr lang="en-US" sz="620" dirty="0"/>
          </a:p>
        </p:txBody>
      </p:sp>
      <p:sp>
        <p:nvSpPr>
          <p:cNvPr id="10" name="Text 8"/>
          <p:cNvSpPr txBox="1"/>
          <p:nvPr/>
        </p:nvSpPr>
        <p:spPr>
          <a:xfrm>
            <a:off x="3839972" y="1750060"/>
            <a:ext cx="2103120" cy="62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spc="-20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5.448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160012" y="3090672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PLENO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3839972" y="324612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= 0 EM 2028</a:t>
            </a:r>
            <a:endParaRPr lang="en-US" sz="620" dirty="0"/>
          </a:p>
        </p:txBody>
      </p:sp>
      <p:sp>
        <p:nvSpPr>
          <p:cNvPr id="13" name="Text 11"/>
          <p:cNvSpPr txBox="1"/>
          <p:nvPr/>
        </p:nvSpPr>
        <p:spPr>
          <a:xfrm>
            <a:off x="7065518" y="2014220"/>
            <a:ext cx="210312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spc="-200" kern="0" dirty="0">
                <a:solidFill>
                  <a:srgbClr val="C9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6.942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385558" y="3310128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60" kern="0" dirty="0">
                <a:solidFill>
                  <a:srgbClr val="C9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GATE FEE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7065518" y="3465576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 DESTINAÇÃO NÃO FECHAR</a:t>
            </a:r>
            <a:endParaRPr lang="en-US" sz="62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63347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TONELADAS DE BIOCHAR POR ANO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986784"/>
            <a:ext cx="8138160" cy="7315"/>
          </a:xfrm>
          <a:prstGeom prst="rect">
            <a:avLst/>
          </a:prstGeom>
          <a:solidFill>
            <a:srgbClr val="1F7370">
              <a:alpha val="45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407822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C9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VÃO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05993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6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748 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405993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5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Módulo 1 sozinho não alcança o breakeven a mercado pleno — a Planta 1 existe por isso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425696"/>
            <a:ext cx="8138160" cy="7315"/>
          </a:xfrm>
          <a:prstGeom prst="rect">
            <a:avLst/>
          </a:prstGeom>
          <a:solidFill>
            <a:srgbClr val="1F7370">
              <a:alpha val="34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4517136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DESTINAÇÃO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498848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7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1.494 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651760" y="44988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5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quanto o contrato com a PepsiCo vale em toneladas de breakeven evitadas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8289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BIOCHAR · PETROLINA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ESCALA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310896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80"/>
              </a:lnSpc>
              <a:buNone/>
            </a:pPr>
            <a:r>
              <a:rPr lang="en-US" sz="3000" spc="-11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um reator</a:t>
            </a:r>
            <a:endParaRPr lang="en-US" sz="3000" dirty="0"/>
          </a:p>
          <a:p>
            <a:pPr indent="0" marL="0">
              <a:lnSpc>
                <a:spcPts val="3180"/>
              </a:lnSpc>
              <a:buNone/>
            </a:pPr>
            <a:r>
              <a:rPr lang="en-US" sz="3000" spc="-11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uma rede.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968496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REATOR PILOTO</a:t>
            </a:r>
            <a:endParaRPr lang="en-US" sz="620" dirty="0"/>
          </a:p>
        </p:txBody>
      </p:sp>
      <p:sp>
        <p:nvSpPr>
          <p:cNvPr id="5" name="Shape 3"/>
          <p:cNvSpPr/>
          <p:nvPr/>
        </p:nvSpPr>
        <p:spPr>
          <a:xfrm>
            <a:off x="457200" y="4133088"/>
            <a:ext cx="1828800" cy="7315"/>
          </a:xfrm>
          <a:prstGeom prst="rect">
            <a:avLst/>
          </a:prstGeom>
          <a:solidFill>
            <a:srgbClr val="5B8AAE">
              <a:alpha val="4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206240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8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389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553712"/>
            <a:ext cx="19202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spc="-20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810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3968496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MÓDULO</a:t>
            </a:r>
            <a:endParaRPr lang="en-US" sz="620" dirty="0"/>
          </a:p>
        </p:txBody>
      </p:sp>
      <p:sp>
        <p:nvSpPr>
          <p:cNvPr id="10" name="Shape 8"/>
          <p:cNvSpPr/>
          <p:nvPr/>
        </p:nvSpPr>
        <p:spPr>
          <a:xfrm>
            <a:off x="2651760" y="4133088"/>
            <a:ext cx="1828800" cy="7315"/>
          </a:xfrm>
          <a:prstGeom prst="rect">
            <a:avLst/>
          </a:prstGeom>
          <a:solidFill>
            <a:srgbClr val="5B8AAE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51760" y="4206240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5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2028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4389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4553712"/>
            <a:ext cx="192024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spc="-200" kern="0" dirty="0">
                <a:solidFill>
                  <a:srgbClr val="175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 K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968496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 INDUSTRIAL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4846320" y="4133088"/>
            <a:ext cx="1828800" cy="7315"/>
          </a:xfrm>
          <a:prstGeom prst="rect">
            <a:avLst/>
          </a:prstGeom>
          <a:solidFill>
            <a:srgbClr val="5B8AAE">
              <a:alpha val="45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46320" y="4206240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7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2029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4389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 1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4553712"/>
            <a:ext cx="192024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spc="-20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K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968496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REDE COMEÇA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7040880" y="4133088"/>
            <a:ext cx="1828800" cy="7315"/>
          </a:xfrm>
          <a:prstGeom prst="rect">
            <a:avLst/>
          </a:prstGeom>
          <a:solidFill>
            <a:srgbClr val="1F7370">
              <a:alpha val="4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40880" y="4206240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3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389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 2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553712"/>
            <a:ext cx="1920240" cy="561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20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K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1792224"/>
            <a:ext cx="4937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BREAKEVEN DO GRUPO FICA EM ~13.000 T/ANO — POR ISSO A SEGUNDA PLANTA NÃO É RÉPLICA, É O DOBRO</a:t>
            </a:r>
            <a:endParaRPr lang="en-US" sz="68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1975104"/>
            <a:ext cx="4937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BNDES FUNDO CLIMA 6,5% + 1,3% A.A., CARÊNCIA DE 60 MESES · SUDENE 75% IRPJ · FNE VERDE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ipping/design-system/.preview/deck-assets/mark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"/>
            <a:ext cx="256032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41248" y="429768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97D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DISCIPLINA · ARQUITETURA DE GATES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22960"/>
            <a:ext cx="7863840" cy="91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spc="-90" kern="0" dirty="0">
                <a:solidFill>
                  <a:srgbClr val="EE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tonelada da POC compra</a:t>
            </a:r>
            <a:endParaRPr lang="en-US" sz="34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400" spc="-90" kern="0" dirty="0">
                <a:solidFill>
                  <a:srgbClr val="EE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dinheiro não compra depois.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75488" y="2505456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DC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75488" y="270662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BED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DO CARBONO</a:t>
            </a:r>
            <a:endParaRPr lang="en-US" sz="620" dirty="0"/>
          </a:p>
        </p:txBody>
      </p:sp>
      <p:sp>
        <p:nvSpPr>
          <p:cNvPr id="7" name="Text 4"/>
          <p:cNvSpPr txBox="1"/>
          <p:nvPr/>
        </p:nvSpPr>
        <p:spPr>
          <a:xfrm>
            <a:off x="475488" y="2889504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E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H/Corg ≤ 0,40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" y="3346704"/>
            <a:ext cx="1380744" cy="7315"/>
          </a:xfrm>
          <a:prstGeom prst="rect">
            <a:avLst/>
          </a:prstGeom>
          <a:solidFill>
            <a:srgbClr val="97DCC7">
              <a:alpha val="38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75488" y="3419856"/>
            <a:ext cx="1380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260" kern="0" dirty="0">
                <a:solidFill>
                  <a:srgbClr val="BED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FECHADO</a:t>
            </a:r>
            <a:endParaRPr lang="en-US" sz="600" dirty="0"/>
          </a:p>
        </p:txBody>
      </p:sp>
      <p:sp>
        <p:nvSpPr>
          <p:cNvPr id="10" name="Text 7"/>
          <p:cNvSpPr txBox="1"/>
          <p:nvPr/>
        </p:nvSpPr>
        <p:spPr>
          <a:xfrm>
            <a:off x="475488" y="3566160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7D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permanência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5488" y="3950208"/>
            <a:ext cx="1380744" cy="7315"/>
          </a:xfrm>
          <a:prstGeom prst="rect">
            <a:avLst/>
          </a:prstGeom>
          <a:solidFill>
            <a:srgbClr val="97DCC7">
              <a:alpha val="3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75488" y="4023360"/>
            <a:ext cx="1380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260" kern="0" dirty="0">
                <a:solidFill>
                  <a:srgbClr val="97D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DESTRAVA</a:t>
            </a:r>
            <a:endParaRPr lang="en-US" sz="6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" y="4169664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EE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Puro e EBC abertas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2212848" y="2505456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DC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M06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212848" y="270662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BED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OPERABILIDADE</a:t>
            </a:r>
            <a:endParaRPr lang="en-US" sz="620" dirty="0"/>
          </a:p>
        </p:txBody>
      </p:sp>
      <p:sp>
        <p:nvSpPr>
          <p:cNvPr id="16" name="Text 13"/>
          <p:cNvSpPr txBox="1"/>
          <p:nvPr/>
        </p:nvSpPr>
        <p:spPr>
          <a:xfrm>
            <a:off x="2212848" y="2889504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E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leito não aglomera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212848" y="3346704"/>
            <a:ext cx="1380744" cy="7315"/>
          </a:xfrm>
          <a:prstGeom prst="rect">
            <a:avLst/>
          </a:prstGeom>
          <a:solidFill>
            <a:srgbClr val="97DCC7">
              <a:alpha val="38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212848" y="3419856"/>
            <a:ext cx="1380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260" kern="0" dirty="0">
                <a:solidFill>
                  <a:srgbClr val="BED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FECHADO</a:t>
            </a:r>
            <a:endParaRPr lang="en-US" sz="600" dirty="0"/>
          </a:p>
        </p:txBody>
      </p:sp>
      <p:sp>
        <p:nvSpPr>
          <p:cNvPr id="19" name="Text 16"/>
          <p:cNvSpPr txBox="1"/>
          <p:nvPr/>
        </p:nvSpPr>
        <p:spPr>
          <a:xfrm>
            <a:off x="2212848" y="3566160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7D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potássio do coco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212848" y="3950208"/>
            <a:ext cx="1380744" cy="7315"/>
          </a:xfrm>
          <a:prstGeom prst="rect">
            <a:avLst/>
          </a:prstGeom>
          <a:solidFill>
            <a:srgbClr val="97DCC7">
              <a:alpha val="38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212848" y="4023360"/>
            <a:ext cx="1380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260" kern="0" dirty="0">
                <a:solidFill>
                  <a:srgbClr val="97D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DESTRAVA</a:t>
            </a:r>
            <a:endParaRPr lang="en-US" sz="600" dirty="0"/>
          </a:p>
        </p:txBody>
      </p:sp>
      <p:sp>
        <p:nvSpPr>
          <p:cNvPr id="22" name="Text 19"/>
          <p:cNvSpPr txBox="1"/>
          <p:nvPr/>
        </p:nvSpPr>
        <p:spPr>
          <a:xfrm>
            <a:off x="2212848" y="4169664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EE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contínua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3950208" y="2505456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DC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M09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3950208" y="270662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BED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INTEGRIDADE CLIMÁTICA</a:t>
            </a:r>
            <a:endParaRPr lang="en-US" sz="620" dirty="0"/>
          </a:p>
        </p:txBody>
      </p:sp>
      <p:sp>
        <p:nvSpPr>
          <p:cNvPr id="25" name="Text 22"/>
          <p:cNvSpPr txBox="1"/>
          <p:nvPr/>
        </p:nvSpPr>
        <p:spPr>
          <a:xfrm>
            <a:off x="3950208" y="2889504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E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CH₄ sob o teto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950208" y="3346704"/>
            <a:ext cx="1380744" cy="7315"/>
          </a:xfrm>
          <a:prstGeom prst="rect">
            <a:avLst/>
          </a:prstGeom>
          <a:solidFill>
            <a:srgbClr val="97DCC7">
              <a:alpha val="38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950208" y="3419856"/>
            <a:ext cx="1380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260" kern="0" dirty="0">
                <a:solidFill>
                  <a:srgbClr val="BED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FECHADO</a:t>
            </a:r>
            <a:endParaRPr lang="en-US" sz="600" dirty="0"/>
          </a:p>
        </p:txBody>
      </p:sp>
      <p:sp>
        <p:nvSpPr>
          <p:cNvPr id="28" name="Text 25"/>
          <p:cNvSpPr txBox="1"/>
          <p:nvPr/>
        </p:nvSpPr>
        <p:spPr>
          <a:xfrm>
            <a:off x="3950208" y="3566160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7D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fugitivas e spec da areia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950208" y="3950208"/>
            <a:ext cx="1380744" cy="7315"/>
          </a:xfrm>
          <a:prstGeom prst="rect">
            <a:avLst/>
          </a:prstGeom>
          <a:solidFill>
            <a:srgbClr val="97DCC7">
              <a:alpha val="38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950208" y="4023360"/>
            <a:ext cx="1380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260" kern="0" dirty="0">
                <a:solidFill>
                  <a:srgbClr val="97D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DESTRAVA</a:t>
            </a:r>
            <a:endParaRPr lang="en-US" sz="600" dirty="0"/>
          </a:p>
        </p:txBody>
      </p:sp>
      <p:sp>
        <p:nvSpPr>
          <p:cNvPr id="31" name="Text 28"/>
          <p:cNvSpPr txBox="1"/>
          <p:nvPr/>
        </p:nvSpPr>
        <p:spPr>
          <a:xfrm>
            <a:off x="3950208" y="4169664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EE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auditável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5687568" y="2505456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DC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M12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5687568" y="270662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BED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620" dirty="0"/>
          </a:p>
        </p:txBody>
      </p:sp>
      <p:sp>
        <p:nvSpPr>
          <p:cNvPr id="34" name="Text 31"/>
          <p:cNvSpPr txBox="1"/>
          <p:nvPr/>
        </p:nvSpPr>
        <p:spPr>
          <a:xfrm>
            <a:off x="5687568" y="2889504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E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destinação assinada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687568" y="3346704"/>
            <a:ext cx="1380744" cy="7315"/>
          </a:xfrm>
          <a:prstGeom prst="rect">
            <a:avLst/>
          </a:prstGeom>
          <a:solidFill>
            <a:srgbClr val="97DCC7">
              <a:alpha val="38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687568" y="3419856"/>
            <a:ext cx="1380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260" kern="0" dirty="0">
                <a:solidFill>
                  <a:srgbClr val="BED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FECHADO</a:t>
            </a:r>
            <a:endParaRPr lang="en-US" sz="600" dirty="0"/>
          </a:p>
        </p:txBody>
      </p:sp>
      <p:sp>
        <p:nvSpPr>
          <p:cNvPr id="37" name="Text 34"/>
          <p:cNvSpPr txBox="1"/>
          <p:nvPr/>
        </p:nvSpPr>
        <p:spPr>
          <a:xfrm>
            <a:off x="5687568" y="3566160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7D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feedstock e receita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687568" y="3950208"/>
            <a:ext cx="1380744" cy="7315"/>
          </a:xfrm>
          <a:prstGeom prst="rect">
            <a:avLst/>
          </a:prstGeom>
          <a:solidFill>
            <a:srgbClr val="97DCC7">
              <a:alpha val="38000"/>
            </a:srgbClr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687568" y="4023360"/>
            <a:ext cx="1380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260" kern="0" dirty="0">
                <a:solidFill>
                  <a:srgbClr val="97D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DESTRAVA</a:t>
            </a:r>
            <a:endParaRPr lang="en-US" sz="600" dirty="0"/>
          </a:p>
        </p:txBody>
      </p:sp>
      <p:sp>
        <p:nvSpPr>
          <p:cNvPr id="40" name="Text 37"/>
          <p:cNvSpPr txBox="1"/>
          <p:nvPr/>
        </p:nvSpPr>
        <p:spPr>
          <a:xfrm>
            <a:off x="5687568" y="4169664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EE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do Módulo 1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7424928" y="2505456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DC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M15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24928" y="270662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spc="260" kern="0" dirty="0">
                <a:solidFill>
                  <a:srgbClr val="BED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VERIFICABILIDADE</a:t>
            </a:r>
            <a:endParaRPr lang="en-US" sz="620" dirty="0"/>
          </a:p>
        </p:txBody>
      </p:sp>
      <p:sp>
        <p:nvSpPr>
          <p:cNvPr id="43" name="Text 40"/>
          <p:cNvSpPr txBox="1"/>
          <p:nvPr/>
        </p:nvSpPr>
        <p:spPr>
          <a:xfrm>
            <a:off x="7424928" y="2889504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E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audit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424928" y="3346704"/>
            <a:ext cx="1380744" cy="7315"/>
          </a:xfrm>
          <a:prstGeom prst="rect">
            <a:avLst/>
          </a:prstGeom>
          <a:solidFill>
            <a:srgbClr val="97DCC7">
              <a:alpha val="38000"/>
            </a:srgbClr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7424928" y="3419856"/>
            <a:ext cx="1380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260" kern="0" dirty="0">
                <a:solidFill>
                  <a:srgbClr val="BED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FECHADO</a:t>
            </a:r>
            <a:endParaRPr lang="en-US" sz="600" dirty="0"/>
          </a:p>
        </p:txBody>
      </p:sp>
      <p:sp>
        <p:nvSpPr>
          <p:cNvPr id="46" name="Text 43"/>
          <p:cNvSpPr txBox="1"/>
          <p:nvPr/>
        </p:nvSpPr>
        <p:spPr>
          <a:xfrm>
            <a:off x="7424928" y="3566160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7D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MRV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7424928" y="3950208"/>
            <a:ext cx="1380744" cy="7315"/>
          </a:xfrm>
          <a:prstGeom prst="rect">
            <a:avLst/>
          </a:prstGeom>
          <a:solidFill>
            <a:srgbClr val="97DCC7">
              <a:alpha val="38000"/>
            </a:srgbClr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7424928" y="4023360"/>
            <a:ext cx="1380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260" kern="0" dirty="0">
                <a:solidFill>
                  <a:srgbClr val="97D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DESTRAVA</a:t>
            </a:r>
            <a:endParaRPr lang="en-US" sz="600" dirty="0"/>
          </a:p>
        </p:txBody>
      </p:sp>
      <p:sp>
        <p:nvSpPr>
          <p:cNvPr id="49" name="Text 46"/>
          <p:cNvSpPr txBox="1"/>
          <p:nvPr/>
        </p:nvSpPr>
        <p:spPr>
          <a:xfrm>
            <a:off x="7424928" y="4169664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EE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 emissão</a:t>
            </a:r>
            <a:endParaRPr lang="en-US" sz="850" dirty="0"/>
          </a:p>
        </p:txBody>
      </p:sp>
      <p:sp>
        <p:nvSpPr>
          <p:cNvPr id="50" name="Text 47"/>
          <p:cNvSpPr txBox="1"/>
          <p:nvPr/>
        </p:nvSpPr>
        <p:spPr>
          <a:xfrm>
            <a:off x="457200" y="4773168"/>
            <a:ext cx="7863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spc="260" kern="0" dirty="0">
                <a:solidFill>
                  <a:srgbClr val="97D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DENSIDADE DE CADA MEMBRANA CAI À MEDIDA QUE O RISCO FECHA — EM M15 A MATÉRIA ESTÁ RESOLVIDA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FINANCIAMENTO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5120640" cy="86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92"/>
              </a:lnSpc>
              <a:buNone/>
            </a:pPr>
            <a:r>
              <a:rPr lang="en-US" sz="3200" spc="-11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Não-dilutivo primeiro.</a:t>
            </a:r>
            <a:endParaRPr lang="en-US" sz="3200" dirty="0"/>
          </a:p>
          <a:p>
            <a:pPr indent="0" marL="0">
              <a:lnSpc>
                <a:spcPts val="3392"/>
              </a:lnSpc>
              <a:buNone/>
            </a:pPr>
            <a:r>
              <a:rPr lang="en-US" sz="3200" spc="-11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com marco provado.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84048" y="2103120"/>
            <a:ext cx="155448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spc="-200" kern="0" dirty="0">
                <a:solidFill>
                  <a:srgbClr val="175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84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358444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SUBVENÇÃO FINEP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3785616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8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R$ 12.750.000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029968" y="2670048"/>
            <a:ext cx="109728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spc="-20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084832" y="3584448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CONTRAPARTIDA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2084832" y="3785616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R$ 2.250.000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12464" y="2286000"/>
            <a:ext cx="7315" cy="1737360"/>
          </a:xfrm>
          <a:prstGeom prst="rect">
            <a:avLst/>
          </a:prstGeom>
          <a:solidFill>
            <a:srgbClr val="1F7370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968496" y="2395728"/>
            <a:ext cx="21945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spc="-200" kern="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401568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M · TOTAL DA POC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3639312"/>
            <a:ext cx="109362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68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3639312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7A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7,7 M</a:t>
            </a:r>
            <a:endParaRPr lang="en-US" sz="76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854196"/>
            <a:ext cx="109362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spc="260" kern="0" dirty="0">
                <a:solidFill>
                  <a:srgbClr val="5B8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· 30 MESES</a:t>
            </a:r>
            <a:endParaRPr lang="en-US" sz="68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3854196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7A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7,3 M</a:t>
            </a:r>
            <a:endParaRPr lang="en-US" sz="76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137160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90 DIAS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583680" y="1627632"/>
            <a:ext cx="2103120" cy="7315"/>
          </a:xfrm>
          <a:prstGeom prst="rect">
            <a:avLst/>
          </a:prstGeom>
          <a:solidFill>
            <a:srgbClr val="1F7370">
              <a:alpha val="40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1719072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7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19019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Finep Economia Circular protocolada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0" y="2286000"/>
            <a:ext cx="2103120" cy="7315"/>
          </a:xfrm>
          <a:prstGeom prst="rect">
            <a:avLst/>
          </a:prstGeom>
          <a:solidFill>
            <a:srgbClr val="1F7370">
              <a:alpha val="40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0" y="2377440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7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2560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de destinação PepsiCo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0" y="2944368"/>
            <a:ext cx="2103120" cy="7315"/>
          </a:xfrm>
          <a:prstGeom prst="rect">
            <a:avLst/>
          </a:prstGeom>
          <a:solidFill>
            <a:srgbClr val="1F7370">
              <a:alpha val="40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0" y="3035808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7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32186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1437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Fábrica de blocos parceira + seed de R$ 2–3 M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315968"/>
            <a:ext cx="4937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spc="260" kern="0" dirty="0">
                <a:solidFill>
                  <a:srgbClr val="1F7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CINCO GATES FECHAM A INCERTEZA; O CAPITAL SEGUE CADA UM DELES</a:t>
            </a:r>
            <a:endParaRPr lang="en-US" sz="68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809744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spc="260" kern="0" dirty="0">
                <a:solidFill>
                  <a:srgbClr val="7A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[EST] COM PRECISÃO AACE CLASSE 4 (−30% / +50%) · VALORES [DOC] LIDOS DA PROPOSTA FINEP E DO PLANO DA POC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 Biochar Petrolina — CAPEX e OPEX</dc:title>
  <dc:subject>PptxGenJS Presentation</dc:subject>
  <dc:creator>RECICLAR · EPA</dc:creator>
  <cp:lastModifiedBy>RECICLAR · EPA</cp:lastModifiedBy>
  <cp:revision>1</cp:revision>
  <dcterms:created xsi:type="dcterms:W3CDTF">2026-09-01T23:44:32Z</dcterms:created>
  <dcterms:modified xsi:type="dcterms:W3CDTF">2026-09-01T23:44:32Z</dcterms:modified>
</cp:coreProperties>
</file>