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1F7370"/>
            </a:solidFill>
            <a:effectLst/>
          </c:spPr>
          <c:invertIfNegative val="0"/>
          <c:dLbls>
            <c:numFmt formatCode="0.0&quot;M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3743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737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92A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WP1</c:v>
                  </c:pt>
                  <c:pt idx="1">
                    <c:v>WP2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2.2</c:v>
                </c:pt>
                <c:pt idx="1">
                  <c:v>5.5</c:v>
                </c:pt>
              </c:numCache>
            </c:numRef>
          </c:val>
        </c:ser>
        <c:dLbls>
          <c:numFmt formatCode="0.0&quot;M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43743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8AA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OPEX</c:v>
                </c:pt>
              </c:strCache>
            </c:strRef>
          </c:tx>
          <c:spPr>
            <a:solidFill>
              <a:srgbClr val="1F92AB"/>
            </a:solidFill>
            <a:effectLst/>
          </c:spPr>
          <c:invertIfNegative val="0"/>
          <c:dLbls>
            <c:numFmt formatCode="0.0&quot;M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3743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92A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73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92A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737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WP3</c:v>
                  </c:pt>
                  <c:pt idx="1">
                    <c:v>WP4</c:v>
                  </c:pt>
                  <c:pt idx="2">
                    <c:v>WP5</c:v>
                  </c:pt>
                  <c:pt idx="3">
                    <c:v>WP6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2.5</c:v>
                </c:pt>
                <c:pt idx="1">
                  <c:v>2.3</c:v>
                </c:pt>
                <c:pt idx="2">
                  <c:v>1</c:v>
                </c:pt>
                <c:pt idx="3">
                  <c:v>1.5</c:v>
                </c:pt>
              </c:numCache>
            </c:numRef>
          </c:val>
        </c:ser>
        <c:dLbls>
          <c:numFmt formatCode="0.0&quot;M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43743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8AA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OPEX</c:v>
                </c:pt>
              </c:strCache>
            </c:strRef>
          </c:tx>
          <c:spPr>
            <a:solidFill>
              <a:srgbClr val="1F7370"/>
            </a:solidFill>
            <a:effectLst/>
          </c:spPr>
          <c:invertIfNegative val="0"/>
          <c:dLbls>
            <c:numFmt formatCode="#,##0&quot;k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3743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737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92A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A8C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75D5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5B0C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8AAE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equipe</c:v>
                  </c:pt>
                  <c:pt idx="1">
                    <c:v>utilidades</c:v>
                  </c:pt>
                  <c:pt idx="2">
                    <c:v>biomassa</c:v>
                  </c:pt>
                  <c:pt idx="3">
                    <c:v>manutenção</c:v>
                  </c:pt>
                  <c:pt idx="4">
                    <c:v>MRV</c:v>
                  </c:pt>
                  <c:pt idx="5">
                    <c:v>overhead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919</c:v>
                </c:pt>
                <c:pt idx="1">
                  <c:v>432</c:v>
                </c:pt>
                <c:pt idx="2">
                  <c:v>378</c:v>
                </c:pt>
                <c:pt idx="3">
                  <c:v>351</c:v>
                </c:pt>
                <c:pt idx="4">
                  <c:v>324</c:v>
                </c:pt>
                <c:pt idx="5">
                  <c:v>297</c:v>
                </c:pt>
              </c:numCache>
            </c:numRef>
          </c:val>
        </c:ser>
        <c:dLbls>
          <c:numFmt formatCode="#,##0&quot;k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43743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8AA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O enquadramento abre na luz: nenhum slide escuro antes do slide 11. Números da POC: piloto de 500 kg/h, 810 t de biochar/ano, 1.620 tCO2e/ano.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oferta certificada é o gargalo, não a demanda. Microsoft sozinha contratou 34,6 Mt.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elo "produzir char de especificação para construção" está vazio na América Latina.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810 t/ano de char = 4.000 t de biomassa a ~20% de rendimento. A remoção líquida de 2,0 tCO2e/t é o indicador contratado da entrega E5.2.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CAPEX = WP1 (projeto) + WP2 (construção e montagem) = R$ 7,7 M dos R$ 15,0 M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Custeio: campanhas experimentais, caracterização e agronomia, ACV e carbono, e a engenharia da unidade industrial. 85% via subvenção Finep.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Honestidade do slide: a R$ 3.336/t de OPEX contra R$ 3.177/t de receita bruta, o piloto opera no vermelho por tonelada. O breakeven aparece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receitas são independentes: a destinação paga antes do crédito, e o contrato B existe para o caso de a cimenteira reivindicar o carbono no próprio EPD.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4.700 t de capacidade contra 5.448 t de necessidade: o Módulo 1 sozinho não fecha a conta a mercado pleno. É por isso que a Planta 1 entra em 2029.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breakeven do GRUPO fica em ~13 mil t/ano — por isso a Planta 2 é o dobro, não uma réplica.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gates binários. Nenhum deles é uma meta: cada um é uma condição para o degrau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 na luz. A sequência de captação é grant → offtake parcial com dMRV → dívida/equity de infraestrutura.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5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6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7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ipping/design-system/.preview/deck-assets/mark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2336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0120" y="457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· PETROLINA · PERNAMBUCO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51460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transformando resíduo</a:t>
            </a:r>
            <a:endParaRPr lang="en-US" sz="33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3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impacto climático.</a:t>
            </a:r>
            <a:endParaRPr lang="en-US" sz="3300" dirty="0"/>
          </a:p>
        </p:txBody>
      </p:sp>
      <p:sp>
        <p:nvSpPr>
          <p:cNvPr id="5" name="Shape 2"/>
          <p:cNvSpPr/>
          <p:nvPr/>
        </p:nvSpPr>
        <p:spPr>
          <a:xfrm>
            <a:off x="502920" y="4041648"/>
            <a:ext cx="40233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413308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ESTIMATIVAS DE CAPEX E OPEX DA PROVA DE CONCEITO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37083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RECICLAR · EPA/BIOECOTEC · UNIÃO SOLUÇÕES · UEL   ·   AGOSTO 2026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 rot="5400000">
            <a:off x="8540496" y="4023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 −9,3891 · LONG −40,5030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A OPORTUNIDADE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6949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30"/>
              </a:lnSpc>
              <a:buNone/>
            </a:pPr>
            <a:r>
              <a:rPr lang="en-US" sz="23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durável é o mercado</a:t>
            </a:r>
            <a:endParaRPr lang="en-US" sz="2300" dirty="0"/>
          </a:p>
          <a:p>
            <a:pPr indent="0" marL="0">
              <a:lnSpc>
                <a:spcPts val="2530"/>
              </a:lnSpc>
              <a:buNone/>
            </a:pPr>
            <a:r>
              <a:rPr lang="en-US" sz="23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demanda travada pela oferta.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148840"/>
            <a:ext cx="3108960" cy="737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Mt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02920" y="2996184"/>
            <a:ext cx="278892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308762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ENTREGUES NO MUNDO ATÉ JUN/26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325368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 100 Mt/ano de demanda projetada já em 2030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2148840"/>
            <a:ext cx="2377440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US$ 150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931920" y="2828544"/>
            <a:ext cx="205740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931920" y="291998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TONELADA DE CO₂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315772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de entrega do crédito de biochar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148840"/>
            <a:ext cx="237744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34,6 Mt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6629400" y="2727960"/>
            <a:ext cx="205740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281940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COMPRADAS SÓ PELA MICROSOFT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3057144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 de todas as compras de CDR em 2024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 · CAPEX E OPEX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 rot="5400000">
            <a:off x="8540496" y="4023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MCKINSEY · CDR.FYI · S&amp;P GLOBAL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A TESE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6949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30"/>
              </a:lnSpc>
              <a:buNone/>
            </a:pPr>
            <a:r>
              <a:rPr lang="en-US" sz="23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triângulo que ninguém fechou</a:t>
            </a:r>
            <a:endParaRPr lang="en-US" sz="2300" dirty="0"/>
          </a:p>
          <a:p>
            <a:pPr indent="0" marL="0">
              <a:lnSpc>
                <a:spcPts val="2530"/>
              </a:lnSpc>
              <a:buNone/>
            </a:pPr>
            <a:r>
              <a:rPr lang="en-US" sz="23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América Latina.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2212848"/>
            <a:ext cx="2468880" cy="6401"/>
          </a:xfrm>
          <a:prstGeom prst="rect">
            <a:avLst/>
          </a:prstGeom>
          <a:solidFill>
            <a:srgbClr val="1F7370">
              <a:alpha val="6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23042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603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Resíduo cativo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944368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PepsiCo/Kero Coco processa ~120 mil t de coco por ano EM Petrolina — cerca de 100 mil t úmidas de casca na porta da fábrica. Um único contrato de destinação alimenta todas as fases.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2212848"/>
            <a:ext cx="2468880" cy="6401"/>
          </a:xfrm>
          <a:prstGeom prst="rect">
            <a:avLst/>
          </a:prstGeom>
          <a:solidFill>
            <a:srgbClr val="1F7370">
              <a:alpha val="6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91840" y="23042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5603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 nacional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944368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 fluidizado circulante de três zonas (Finep, TRL 4→7): char fino por atrito, redução de potássio pelo leito e syngas queimado no riser — o risco de metano resolvido por projeto.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80760" y="2212848"/>
            <a:ext cx="2468880" cy="6401"/>
          </a:xfrm>
          <a:prstGeom prst="rect">
            <a:avLst/>
          </a:prstGeom>
          <a:solidFill>
            <a:srgbClr val="1F7370">
              <a:alpha val="60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80760" y="23042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6080760" y="25603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receitas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2944368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 (gate fee) + material de construção + crédito de remoção. Regra do carbono único: o mesmo quilo nunca é vendido duas vezes.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 · CAPEX E OPEX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O PILOTO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1325880"/>
            <a:ext cx="4754880" cy="197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8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810</a:t>
            </a:r>
            <a:endParaRPr lang="en-US" sz="11800" dirty="0"/>
          </a:p>
        </p:txBody>
      </p:sp>
      <p:sp>
        <p:nvSpPr>
          <p:cNvPr id="4" name="Shape 2"/>
          <p:cNvSpPr/>
          <p:nvPr/>
        </p:nvSpPr>
        <p:spPr>
          <a:xfrm>
            <a:off x="502920" y="3349752"/>
            <a:ext cx="292608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4411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TONELADAS DE BIOCHAR POR ANO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66064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REATOR DE LEITO FLUIDIZADO CIRCULANTE · 500 KG/H DE BIOMASSA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0" y="1508760"/>
            <a:ext cx="28803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60720" y="1563624"/>
            <a:ext cx="12961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 NOMINAL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6970471" y="1554480"/>
            <a:ext cx="16706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kg/h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760720" y="1819656"/>
            <a:ext cx="28803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1874520"/>
            <a:ext cx="12961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PROCESSADA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6970471" y="1865376"/>
            <a:ext cx="16706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4.000 t/ano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60720" y="2130552"/>
            <a:ext cx="28803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2185416"/>
            <a:ext cx="12961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RENDIMENTO EM BASE SECA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970471" y="2176272"/>
            <a:ext cx="16706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 20 %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760720" y="2441448"/>
            <a:ext cx="28803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60720" y="2496312"/>
            <a:ext cx="12961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LÍQUIDA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6970471" y="2487168"/>
            <a:ext cx="16706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1.620 tCO₂e/ano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760720" y="2752344"/>
            <a:ext cx="28803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760720" y="2807208"/>
            <a:ext cx="12961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DE EXECUÇÃO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6970471" y="2798064"/>
            <a:ext cx="16706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meses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760720" y="3063240"/>
            <a:ext cx="28803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118104"/>
            <a:ext cx="12961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6970471" y="3108960"/>
            <a:ext cx="16706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→ 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760720" y="3374136"/>
            <a:ext cx="28803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292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 · CAPEX E OPEX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 rot="5400000">
            <a:off x="8540496" y="4023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 TCO₂E POR TONELADA DE CHAR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CAPEX DA POC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10"/>
              </a:lnSpc>
              <a:buNone/>
            </a:pPr>
            <a:r>
              <a:rPr lang="en-US" sz="21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CAPEX: o ativo físico e a engenharia</a:t>
            </a:r>
            <a:endParaRPr lang="en-US" sz="2100" dirty="0"/>
          </a:p>
          <a:p>
            <a:pPr indent="0" marL="0">
              <a:lnSpc>
                <a:spcPts val="2310"/>
              </a:lnSpc>
              <a:buNone/>
            </a:pPr>
            <a:r>
              <a:rPr lang="en-US" sz="21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produz.</a:t>
            </a:r>
            <a:endParaRPr lang="en-US" sz="2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965960"/>
          <a:ext cx="411480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877056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MODELAGEM, SIMULAÇÃO E PROJETO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4096512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CONSTRUÇÃO E MONTAGEM DO PILOTO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828800"/>
            <a:ext cx="36576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R$ 7,7 M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5166360" y="2554224"/>
            <a:ext cx="283464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166360" y="264566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TOTAL DA POC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29382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engenharia básica e de detalhamento é capitalizada junto com o equipamento: num piloto ela não tem valor separável dele.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166360" y="3712464"/>
            <a:ext cx="31089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166360" y="3767328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 DE CAPACIDADE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6472123" y="3758184"/>
            <a:ext cx="18031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R$ 9.506/t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166360" y="4023360"/>
            <a:ext cx="31089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66360" y="4078224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PRECISÃO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6472123" y="4069080"/>
            <a:ext cx="18031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AACE classe 4  −30% / +50%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166360" y="4334256"/>
            <a:ext cx="31089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292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 · CAPEX E OPEX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OPEX DO PROJETO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10"/>
              </a:lnSpc>
              <a:buNone/>
            </a:pPr>
            <a:r>
              <a:rPr lang="en-US" sz="21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do projeto: o que se consome</a:t>
            </a:r>
            <a:endParaRPr lang="en-US" sz="2100" dirty="0"/>
          </a:p>
          <a:p>
            <a:pPr indent="0" marL="0">
              <a:lnSpc>
                <a:spcPts val="2310"/>
              </a:lnSpc>
              <a:buNone/>
            </a:pPr>
            <a:r>
              <a:rPr lang="en-US" sz="21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provando o ativo, em 30 meses.</a:t>
            </a:r>
            <a:endParaRPr lang="en-US" sz="2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965960"/>
          <a:ext cx="41148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95020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CAMPANHAS EXPERIMENTAIS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4151376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 E VALIDAÇÃO AGRONÔMICA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352544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ACV E CRÉDITOS DE CARBONO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553712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INDUSTRIAL E NEGÓCIO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828800"/>
            <a:ext cx="36576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R$ 7,3 M</a:t>
            </a:r>
            <a:endParaRPr lang="en-US" sz="4000" dirty="0"/>
          </a:p>
        </p:txBody>
      </p:sp>
      <p:sp>
        <p:nvSpPr>
          <p:cNvPr id="10" name="Shape 7"/>
          <p:cNvSpPr/>
          <p:nvPr/>
        </p:nvSpPr>
        <p:spPr>
          <a:xfrm>
            <a:off x="5166360" y="2554224"/>
            <a:ext cx="283464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166360" y="264566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DO PROJETO · 30 MESES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5166360" y="2938272"/>
            <a:ext cx="31089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166360" y="2993136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MENSAL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6472123" y="2983992"/>
            <a:ext cx="18031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R$ 243.333/mês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166360" y="3249168"/>
            <a:ext cx="31089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166360" y="3304032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+ OPEX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6472123" y="3294888"/>
            <a:ext cx="18031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R$ 15,0 M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166360" y="3560064"/>
            <a:ext cx="31089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166360" y="3614928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SUBVENÇÃO FINEP · 85%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6472123" y="3605784"/>
            <a:ext cx="18031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R$ 12,8 M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166360" y="3870960"/>
            <a:ext cx="31089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166360" y="3925824"/>
            <a:ext cx="1399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 · 15%</a:t>
            </a:r>
            <a:endParaRPr lang="en-US" sz="750" dirty="0"/>
          </a:p>
        </p:txBody>
      </p:sp>
      <p:sp>
        <p:nvSpPr>
          <p:cNvPr id="23" name="Text 20"/>
          <p:cNvSpPr txBox="1"/>
          <p:nvPr/>
        </p:nvSpPr>
        <p:spPr>
          <a:xfrm>
            <a:off x="6472123" y="3916680"/>
            <a:ext cx="18031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R$ 2,3 M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166360" y="4181856"/>
            <a:ext cx="31089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0292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 · CAPEX E OPEX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OPEX EM REGIME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10"/>
              </a:lnSpc>
              <a:buNone/>
            </a:pPr>
            <a:r>
              <a:rPr lang="en-US" sz="21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 o piloto depois do projeto</a:t>
            </a:r>
            <a:endParaRPr lang="en-US" sz="2100" dirty="0"/>
          </a:p>
          <a:p>
            <a:pPr indent="0" marL="0">
              <a:lnSpc>
                <a:spcPts val="2310"/>
              </a:lnSpc>
              <a:buNone/>
            </a:pPr>
            <a:r>
              <a:rPr lang="en-US" sz="21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custa R$ 3.336 por tonelada.</a:t>
            </a:r>
            <a:endParaRPr lang="en-US" sz="2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920240"/>
          <a:ext cx="44805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4169664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MIL POR ANO · RATEIO [EST] SOBRE O TOTAL DERIVADO DO CASO-BASE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5257800" y="1783080"/>
            <a:ext cx="3474720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R$ 2.702.503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257800" y="2273808"/>
            <a:ext cx="278892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257800" y="23652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ANUAL EM REGIME, A 810 T/ANO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257800" y="2639568"/>
            <a:ext cx="278892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257800" y="2694432"/>
            <a:ext cx="12550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FIXO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6429146" y="2685288"/>
            <a:ext cx="1617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R$ 2.098.800/ano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257800" y="2950464"/>
            <a:ext cx="278892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257800" y="3005328"/>
            <a:ext cx="12550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VARIÁVEL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6429146" y="2996184"/>
            <a:ext cx="1617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R$ 745/t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257800" y="3261360"/>
            <a:ext cx="278892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257800" y="3316224"/>
            <a:ext cx="12550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BRUTA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6429146" y="3307080"/>
            <a:ext cx="1617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R$ 3.177/t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257800" y="3572256"/>
            <a:ext cx="278892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257800" y="3627120"/>
            <a:ext cx="12550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· 810 T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6429146" y="3617976"/>
            <a:ext cx="1617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9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-160/t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257800" y="3883152"/>
            <a:ext cx="278892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25780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piloto não se paga — e não deveria. O custo fixo não cai com a escala, e é exatamente por isso que o Módulo 1 fecha a conta e a POC não.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 · CAPEX E OPEX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UNIT ECONOMICS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20624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R$ 763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502920" y="2179320"/>
            <a:ext cx="310896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227076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MARGEM DE CONTRIBUIÇÃO POR TONELADA DE CHAR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49021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CONSERVADOR · CÂMBIO 5,20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937760" y="1325880"/>
            <a:ext cx="3703320" cy="6401"/>
          </a:xfrm>
          <a:prstGeom prst="rect">
            <a:avLst/>
          </a:prstGeom>
          <a:solidFill>
            <a:srgbClr val="1F7370">
              <a:alpha val="5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13990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CORC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39903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R$ 995/t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70992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US$ 150/tCO₂e, com 25% de desconto de offtake e 15% de comissão, sobre 2,0 tCO₂e líquidas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937760" y="2377440"/>
            <a:ext cx="3703320" cy="6401"/>
          </a:xfrm>
          <a:prstGeom prst="rect">
            <a:avLst/>
          </a:prstGeom>
          <a:solidFill>
            <a:srgbClr val="1F7370">
              <a:alpha val="5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37760" y="24505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B · claim/EPD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245059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R$ 2.000/t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76148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fábrica fica com o carbono no EPD e não há CORC. Regra do carbono único embutida no preço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37760" y="3429000"/>
            <a:ext cx="3703320" cy="6401"/>
          </a:xfrm>
          <a:prstGeom prst="rect">
            <a:avLst/>
          </a:prstGeom>
          <a:solidFill>
            <a:srgbClr val="1F7370">
              <a:alpha val="5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37760" y="35021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fee PepsiCo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350215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R$ 182/t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3813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R$ 38 por tonelada úmida × 4,8 t por tonelada de char — o feedstock-passivo paga antes do primeiro crédito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 · CAPEX E OPEX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BREAKEVEN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30"/>
              </a:lnSpc>
              <a:buNone/>
            </a:pPr>
            <a:r>
              <a:rPr lang="en-US" sz="23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solver diz exatamente</a:t>
            </a:r>
            <a:endParaRPr lang="en-US" sz="2300" dirty="0"/>
          </a:p>
          <a:p>
            <a:pPr indent="0" marL="0">
              <a:lnSpc>
                <a:spcPts val="2530"/>
              </a:lnSpc>
              <a:buNone/>
            </a:pPr>
            <a:r>
              <a:rPr lang="en-US" sz="23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ser verdade.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084832"/>
            <a:ext cx="2651760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5.448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795016"/>
            <a:ext cx="246888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288645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POR ANO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1242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EBITDA = 0 em 2028, pagando mercado pleno para 15 pessoas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319272" y="2084832"/>
            <a:ext cx="2651760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4.700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3319272" y="2795016"/>
            <a:ext cx="246888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19272" y="288645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DE CAPACIDADE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3319272" y="31242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Módulo 1 — CAPEX de R$ 21,6 M via FNE BNB e Finep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135624" y="2084832"/>
            <a:ext cx="2651760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3.874</a:t>
            </a:r>
            <a:endParaRPr lang="en-US" sz="3800" dirty="0"/>
          </a:p>
        </p:txBody>
      </p:sp>
      <p:sp>
        <p:nvSpPr>
          <p:cNvPr id="13" name="Shape 11"/>
          <p:cNvSpPr/>
          <p:nvPr/>
        </p:nvSpPr>
        <p:spPr>
          <a:xfrm>
            <a:off x="6135624" y="2795016"/>
            <a:ext cx="246888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35624" y="288645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POR ANO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135624" y="31242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5"/>
              </a:lnSpc>
              <a:buNone/>
            </a:pPr>
            <a:r>
              <a:rPr lang="en-US" sz="9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breakeven DE CAIXA com subvenções de custeio — rótulo honesto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4297680"/>
            <a:ext cx="8138160" cy="6401"/>
          </a:xfrm>
          <a:prstGeom prst="rect">
            <a:avLst/>
          </a:prstGeom>
          <a:solidFill>
            <a:srgbClr val="1F7370">
              <a:alpha val="60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43891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 contrato de destinação da PepsiCo o mínimo sobe para 6.942 t — o gate fee vale cerca de 1.500 t de breakeven.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 · CAPEX E OPEX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PLANO DE ESCALA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30"/>
              </a:lnSpc>
              <a:buNone/>
            </a:pPr>
            <a:r>
              <a:rPr lang="en-US" sz="23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810 toneladas a um grupo</a:t>
            </a:r>
            <a:endParaRPr lang="en-US" sz="2300" dirty="0"/>
          </a:p>
          <a:p>
            <a:pPr indent="0" marL="0">
              <a:lnSpc>
                <a:spcPts val="2530"/>
              </a:lnSpc>
              <a:buNone/>
            </a:pPr>
            <a:r>
              <a:rPr lang="en-US" sz="23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cruza o zero.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1874520" cy="6401"/>
          </a:xfrm>
          <a:prstGeom prst="rect">
            <a:avLst/>
          </a:prstGeom>
          <a:solidFill>
            <a:srgbClr val="1F7370">
              <a:alpha val="6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22860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52374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83464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8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810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18211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DE CHAR/ANO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419856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500 kg/h. Os três números que destravam capital: H/Corg, CH₄ e balanço fechado.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606040" y="2194560"/>
            <a:ext cx="1874520" cy="6401"/>
          </a:xfrm>
          <a:prstGeom prst="rect">
            <a:avLst/>
          </a:prstGeom>
          <a:solidFill>
            <a:srgbClr val="1F7370">
              <a:alpha val="60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06040" y="22860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52374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283464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8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4.700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2606040" y="318211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DE CHAR/ANO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2606040" y="3419856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Breakeven operacional. 50 mil blocos com pré-moldado local e a primeira emissão de CORCs.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2194560"/>
            <a:ext cx="1874520" cy="6401"/>
          </a:xfrm>
          <a:prstGeom prst="rect">
            <a:avLst/>
          </a:prstGeom>
          <a:solidFill>
            <a:srgbClr val="1F7370">
              <a:alpha val="60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09160" y="22860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4709160" y="252374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709160" y="283464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8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20.000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4709160" y="318211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DE BIOMASSA/ANO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3419856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mil t de biomassa. BNDES Fundo Clima: 6,5% + 1,3% a.a., carência de 60 meses.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812280" y="2194560"/>
            <a:ext cx="1874520" cy="6401"/>
          </a:xfrm>
          <a:prstGeom prst="rect">
            <a:avLst/>
          </a:prstGeom>
          <a:solidFill>
            <a:srgbClr val="1F7370">
              <a:alpha val="60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12280" y="22860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2031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52374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812280" y="283464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8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40.000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6812280" y="3182112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DE BIOMASSA/ANO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419856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5"/>
              </a:lnSpc>
              <a:buNone/>
            </a:pPr>
            <a:r>
              <a:rPr lang="en-US" sz="850" dirty="0">
                <a:solidFill>
                  <a:srgbClr val="6577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segunda planta não é réplica: é o dobro. Escala derruba o CAPEX por tonelada.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 · CAPEX E OPEX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— DISCIPLINA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300" spc="-60" kern="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tonelada da POC compra</a:t>
            </a:r>
            <a:endParaRPr lang="en-US" sz="2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2300" spc="-60" kern="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dinheiro não compra depois.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2212848"/>
            <a:ext cx="8138160" cy="6401"/>
          </a:xfrm>
          <a:prstGeom prst="rect">
            <a:avLst/>
          </a:prstGeom>
          <a:solidFill>
            <a:srgbClr val="97DCC7">
              <a:alpha val="3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22951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2860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H/Corg ≤ 0,40 na bancada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806440" y="232257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30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MANTÉM PURO E EBC ABERTAS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02920" y="2715768"/>
            <a:ext cx="8138160" cy="6401"/>
          </a:xfrm>
          <a:prstGeom prst="rect">
            <a:avLst/>
          </a:prstGeom>
          <a:solidFill>
            <a:srgbClr val="97DCC7">
              <a:alpha val="3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7980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7889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 não aglomera com o K do coco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806440" y="282549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30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OBJEÇÃO Nº 1 DE QUEM CONHECE FBR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8138160" cy="6401"/>
          </a:xfrm>
          <a:prstGeom prst="rect">
            <a:avLst/>
          </a:prstGeom>
          <a:solidFill>
            <a:srgbClr val="97DCC7">
              <a:alpha val="3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3009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918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CH₄ sob o teto, por lote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332841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30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AREIA DO LEITO DENTRO DA SPEC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02920" y="3721608"/>
            <a:ext cx="8138160" cy="6401"/>
          </a:xfrm>
          <a:prstGeom prst="rect">
            <a:avLst/>
          </a:prstGeom>
          <a:solidFill>
            <a:srgbClr val="97DCC7">
              <a:alpha val="32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380390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79476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de destinação assinado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06440" y="383133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30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CONDIÇÃO DE CAPEX DO MÓDULO 1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02920" y="4224528"/>
            <a:ext cx="8138160" cy="6401"/>
          </a:xfrm>
          <a:prstGeom prst="rect">
            <a:avLst/>
          </a:prstGeom>
          <a:solidFill>
            <a:srgbClr val="97DCC7">
              <a:alpha val="32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43068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2976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Audit concluída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433425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30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EMISSÃO DE CORCS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 · CAPEX E OPEX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— FINANCIAMENTO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6868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30"/>
              </a:lnSpc>
              <a:buNone/>
            </a:pPr>
            <a:r>
              <a:rPr lang="en-US" sz="23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Não-dilutivo primeiro.</a:t>
            </a:r>
            <a:endParaRPr lang="en-US" sz="2300" dirty="0"/>
          </a:p>
          <a:p>
            <a:pPr indent="0" marL="0">
              <a:lnSpc>
                <a:spcPts val="2530"/>
              </a:lnSpc>
              <a:buNone/>
            </a:pPr>
            <a:r>
              <a:rPr lang="en-US" sz="2300" spc="-6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com marco provado.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420624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2203704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SUBVENÇÃO FINEP · 85%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269541" y="2194560"/>
            <a:ext cx="24396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R$ 12,8 M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2459736"/>
            <a:ext cx="420624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14600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 · 15%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269541" y="2505456"/>
            <a:ext cx="24396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R$ 2,3 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770632"/>
            <a:ext cx="420624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2825496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DA POC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2269541" y="2816352"/>
            <a:ext cx="24396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R$ 7,7 M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3081528"/>
            <a:ext cx="420624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3136392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· 30 MESES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2269541" y="3127248"/>
            <a:ext cx="24396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R$ 7,3 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392424"/>
            <a:ext cx="420624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3447288"/>
            <a:ext cx="1892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DA POC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2269541" y="3438144"/>
            <a:ext cx="24396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R$ 15,0 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703320"/>
            <a:ext cx="420624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120640" y="20848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PRÓXIMOS 90 DIAS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120640" y="2395728"/>
            <a:ext cx="352044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0" y="248716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2487168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Finep Economia Circular protocolada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120640" y="2962656"/>
            <a:ext cx="352044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0" y="30540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0540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Questionário de fornecedor → contrato de destinação PepsiCo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120640" y="3529584"/>
            <a:ext cx="3520440" cy="6401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120640" y="36210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0" y="3621024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Fábrica de blocos parceira + seed de R$ 2–3 M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" y="4315968"/>
            <a:ext cx="8138160" cy="6401"/>
          </a:xfrm>
          <a:prstGeom prst="rect">
            <a:avLst/>
          </a:prstGeom>
          <a:solidFill>
            <a:srgbClr val="1F7370">
              <a:alpha val="60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2920" y="4407408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[EST] COM PRECISÃO AACE CLASSE 4 (−30% / +50%). VALORES [DOC] LIDOS DA PROPOSTA FINEP E DO PLANO DA POC.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47914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 · CAPEX E OPEX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Biochar Petrolina — CAPEX e OPEX</dc:title>
  <dc:subject>Estimativas de CAPEX e OPEX da prova de conceito</dc:subject>
  <dc:creator>RECICLAR · EPA</dc:creator>
  <cp:lastModifiedBy>RECICLAR · EPA</cp:lastModifiedBy>
  <cp:revision>1</cp:revision>
  <dcterms:created xsi:type="dcterms:W3CDTF">2026-08-31T01:20:02Z</dcterms:created>
  <dcterms:modified xsi:type="dcterms:W3CDTF">2026-08-31T01:20:02Z</dcterms:modified>
</cp:coreProperties>
</file>