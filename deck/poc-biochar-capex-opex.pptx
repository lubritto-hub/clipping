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Capa. A membrana translúcida é cortada pelo topo e pela direita; a headline ocupa a zona clara à esquerda. Nenhum quadro escuro antes do slide 11.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1,5 Mt entregues contra 100 Mt/ano de demanda projetada em 2030. O fantasma "100 Mt/ano" na chapa é a demanda que o mercado não alcança.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estados da matéria, não três colunas. O elo do meio é o que está vazio na América Latina.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banda de char é 20,25% da altura da banda de biomassa porque esse é o rendimento; a banda de remoção é o dobro da de char porque são 2,0 tCO2e/t. A geometria é o dado.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CAPEX = WP1 (projeto) + WP2 (construção e montagem) = R$ 7,7 M dos R$ 15,0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R$ 7,3 M de custeio sobre R$ 7,7 M de investimento: R$ 15,0 M no total, 85% via subvenção Finep.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Honestidade deliberada: R$ 3.336/t de custo contra R$ 3.177/t de receita. O breakeven do slide seguinte é 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duas barras partilham origem e escala, então o excesso do custo é lido como distância. A margem de R$ 763 é [DOC] e pertence a outra camada contábil — o slide diz isso em vez de sugerir que uma deriva da outra.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quatro limiares estão em escala. Os dois vãos são subtrações sobre números [DOC]: 5.448 − 4.700 = 748 t, e 6.942 − 5.448 = 1.494 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trajetória é momentum, não um gráfico. Cada nó é um marco de capacidade.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barreiras técnicas atravessadas, não cinco marcos numa linha. A densidade de partículas de cada membrana codifica a incerteza restante.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 na luz e mais claro que a capa. Grant → offtake parcial com dMRV → dívida e equity de infraestrutura.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ipping/design-system/.preview/deck-assets/mark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384048"/>
            <a:ext cx="274320" cy="2743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68680" y="429768"/>
            <a:ext cx="31089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 / PETROLINA / PERNAMBUCO</a:t>
            </a:r>
            <a:endParaRPr lang="en-US" sz="750" dirty="0"/>
          </a:p>
        </p:txBody>
      </p:sp>
      <p:sp>
        <p:nvSpPr>
          <p:cNvPr id="4" name="Text 1"/>
          <p:cNvSpPr txBox="1"/>
          <p:nvPr/>
        </p:nvSpPr>
        <p:spPr>
          <a:xfrm>
            <a:off x="475488" y="2395728"/>
            <a:ext cx="5852160" cy="1238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876"/>
              </a:lnSpc>
              <a:buNone/>
            </a:pPr>
            <a:r>
              <a:rPr lang="en-US" sz="4600" spc="-11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transformando resíduo</a:t>
            </a:r>
            <a:endParaRPr lang="en-US" sz="4600" dirty="0"/>
          </a:p>
          <a:p>
            <a:pPr indent="0" marL="0">
              <a:lnSpc>
                <a:spcPts val="4876"/>
              </a:lnSpc>
              <a:buNone/>
            </a:pPr>
            <a:r>
              <a:rPr lang="en-US" sz="4600" spc="-11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impacto climático.</a:t>
            </a:r>
            <a:endParaRPr lang="en-US" sz="4600" dirty="0"/>
          </a:p>
        </p:txBody>
      </p:sp>
      <p:sp>
        <p:nvSpPr>
          <p:cNvPr id="5" name="Shape 2"/>
          <p:cNvSpPr/>
          <p:nvPr/>
        </p:nvSpPr>
        <p:spPr>
          <a:xfrm>
            <a:off x="475488" y="3913632"/>
            <a:ext cx="3291840" cy="7315"/>
          </a:xfrm>
          <a:prstGeom prst="rect">
            <a:avLst/>
          </a:prstGeom>
          <a:solidFill>
            <a:srgbClr val="1F7370">
              <a:alpha val="50000"/>
            </a:srgbClr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475488" y="4023360"/>
            <a:ext cx="5486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260" kern="0" dirty="0">
                <a:solidFill>
                  <a:srgbClr val="526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ESTIMATIVAS DE CAPEX E OPEX DA PROVA DE CONCEITO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475488" y="4334256"/>
            <a:ext cx="1033272" cy="7315"/>
          </a:xfrm>
          <a:prstGeom prst="rect">
            <a:avLst/>
          </a:prstGeom>
          <a:solidFill>
            <a:srgbClr val="5B8AAE">
              <a:alpha val="38000"/>
            </a:srgbClr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75488" y="4407408"/>
            <a:ext cx="10149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REATOR</a:t>
            </a:r>
            <a:endParaRPr lang="en-US" sz="650" dirty="0"/>
          </a:p>
        </p:txBody>
      </p:sp>
      <p:sp>
        <p:nvSpPr>
          <p:cNvPr id="9" name="Text 6"/>
          <p:cNvSpPr txBox="1"/>
          <p:nvPr/>
        </p:nvSpPr>
        <p:spPr>
          <a:xfrm>
            <a:off x="475488" y="4572000"/>
            <a:ext cx="99669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FBR 3 zonas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1618488" y="4334256"/>
            <a:ext cx="1033272" cy="7315"/>
          </a:xfrm>
          <a:prstGeom prst="rect">
            <a:avLst/>
          </a:prstGeom>
          <a:solidFill>
            <a:srgbClr val="5B8AAE">
              <a:alpha val="38000"/>
            </a:srgbClr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618488" y="4407408"/>
            <a:ext cx="10149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CAPACIDADE</a:t>
            </a:r>
            <a:endParaRPr lang="en-US" sz="650" dirty="0"/>
          </a:p>
        </p:txBody>
      </p:sp>
      <p:sp>
        <p:nvSpPr>
          <p:cNvPr id="12" name="Text 9"/>
          <p:cNvSpPr txBox="1"/>
          <p:nvPr/>
        </p:nvSpPr>
        <p:spPr>
          <a:xfrm>
            <a:off x="1618488" y="4572000"/>
            <a:ext cx="99669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 kg/h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2761488" y="4334256"/>
            <a:ext cx="1033272" cy="7315"/>
          </a:xfrm>
          <a:prstGeom prst="rect">
            <a:avLst/>
          </a:prstGeom>
          <a:solidFill>
            <a:srgbClr val="5B8AAE">
              <a:alpha val="38000"/>
            </a:srgbClr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2761488" y="4407408"/>
            <a:ext cx="10149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TRL</a:t>
            </a:r>
            <a:endParaRPr lang="en-US" sz="650" dirty="0"/>
          </a:p>
        </p:txBody>
      </p:sp>
      <p:sp>
        <p:nvSpPr>
          <p:cNvPr id="15" name="Text 12"/>
          <p:cNvSpPr txBox="1"/>
          <p:nvPr/>
        </p:nvSpPr>
        <p:spPr>
          <a:xfrm>
            <a:off x="2761488" y="4572000"/>
            <a:ext cx="99669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→ 07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3904488" y="4334256"/>
            <a:ext cx="1033272" cy="7315"/>
          </a:xfrm>
          <a:prstGeom prst="rect">
            <a:avLst/>
          </a:prstGeom>
          <a:solidFill>
            <a:srgbClr val="5B8AAE">
              <a:alpha val="38000"/>
            </a:srgbClr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3904488" y="4407408"/>
            <a:ext cx="101498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MÉTODO</a:t>
            </a:r>
            <a:endParaRPr lang="en-US" sz="650" dirty="0"/>
          </a:p>
        </p:txBody>
      </p:sp>
      <p:sp>
        <p:nvSpPr>
          <p:cNvPr id="18" name="Text 15"/>
          <p:cNvSpPr txBox="1"/>
          <p:nvPr/>
        </p:nvSpPr>
        <p:spPr>
          <a:xfrm>
            <a:off x="3904488" y="4572000"/>
            <a:ext cx="99669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VM0044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 rot="5400000">
            <a:off x="8613648" y="384048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spc="300" kern="0" dirty="0">
                <a:solidFill>
                  <a:srgbClr val="7A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 −9,3891 · LONG −40,5030</a:t>
            </a:r>
            <a:endParaRPr lang="en-US" sz="6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2743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MERCADO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41248"/>
            <a:ext cx="5852160" cy="700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56"/>
              </a:lnSpc>
              <a:buNone/>
            </a:pPr>
            <a:r>
              <a:rPr lang="en-US" sz="2600" spc="-11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Remoção durável é o mercado</a:t>
            </a:r>
            <a:endParaRPr lang="en-US" sz="2600" dirty="0"/>
          </a:p>
          <a:p>
            <a:pPr indent="0" marL="0">
              <a:lnSpc>
                <a:spcPts val="2756"/>
              </a:lnSpc>
              <a:buNone/>
            </a:pPr>
            <a:r>
              <a:rPr lang="en-US" sz="2600" spc="-11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a demanda travada pela oferta.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384048" y="1645920"/>
            <a:ext cx="2926080" cy="1816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0" spc="-40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1,5</a:t>
            </a:r>
            <a:endParaRPr lang="en-US" sz="11000" dirty="0"/>
          </a:p>
        </p:txBody>
      </p:sp>
      <p:sp>
        <p:nvSpPr>
          <p:cNvPr id="5" name="Text 3"/>
          <p:cNvSpPr txBox="1"/>
          <p:nvPr/>
        </p:nvSpPr>
        <p:spPr>
          <a:xfrm>
            <a:off x="2139696" y="24688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spc="-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593592"/>
            <a:ext cx="219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OFERTA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76732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526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entregues no mundo inteiro até jun/26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4297680" y="3593592"/>
            <a:ext cx="219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LACUNA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4297680" y="376732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526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oferta certificada é o gargalo — não a demanda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2505456"/>
            <a:ext cx="210312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spc="-200" kern="0" dirty="0">
                <a:solidFill>
                  <a:srgbClr val="175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34,6 Mt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3593592"/>
            <a:ext cx="2103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DEMANDA · MICROSOFT</a:t>
            </a:r>
            <a:endParaRPr lang="en-US" sz="75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376732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526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63% de todas as compras de CDR em 2024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6263640" y="1481328"/>
            <a:ext cx="2103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REFERÊNCIA DE PREÇO</a:t>
            </a:r>
            <a:endParaRPr lang="en-US" sz="750" dirty="0"/>
          </a:p>
        </p:txBody>
      </p:sp>
      <p:sp>
        <p:nvSpPr>
          <p:cNvPr id="14" name="Text 12"/>
          <p:cNvSpPr txBox="1"/>
          <p:nvPr/>
        </p:nvSpPr>
        <p:spPr>
          <a:xfrm>
            <a:off x="6263640" y="16459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US$ 150 / tCO₂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809744"/>
            <a:ext cx="3657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7A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 BIOCHAR · PETROLINA</a:t>
            </a:r>
            <a:endParaRPr lang="en-US" sz="750" dirty="0"/>
          </a:p>
        </p:txBody>
      </p:sp>
      <p:sp>
        <p:nvSpPr>
          <p:cNvPr id="16" name="Text 14"/>
          <p:cNvSpPr txBox="1"/>
          <p:nvPr/>
        </p:nvSpPr>
        <p:spPr>
          <a:xfrm rot="5400000">
            <a:off x="8613648" y="384048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spc="300" kern="0" dirty="0">
                <a:solidFill>
                  <a:srgbClr val="7A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MCKINSEY · CDR.FYI · S&amp;P GLOBAL</a:t>
            </a:r>
            <a:endParaRPr lang="en-US" sz="6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92608"/>
            <a:ext cx="2743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TESE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3291840"/>
            <a:ext cx="3657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F73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749808" y="3291840"/>
            <a:ext cx="13533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FEEDSTOCK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365760" y="347472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-3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resíduo cativo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365760" y="365760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18"/>
              </a:lnSpc>
              <a:buNone/>
            </a:pPr>
            <a:r>
              <a:rPr lang="en-US" sz="850" dirty="0">
                <a:solidFill>
                  <a:srgbClr val="526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~120 mil t de coco por ano EM Petrolina. 100 mil t úmidas de casca na porta da fábrica.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2743200" y="2468880"/>
            <a:ext cx="3657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F73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3127248" y="2468880"/>
            <a:ext cx="26334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CONVERSION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2743200" y="265176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-3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tecnologia nacional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743200" y="283464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18"/>
              </a:lnSpc>
              <a:buNone/>
            </a:pPr>
            <a:r>
              <a:rPr lang="en-US" sz="850" dirty="0">
                <a:solidFill>
                  <a:srgbClr val="526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Leito fluidizado circulante de três zonas (Finep, TRL 4→7): char fino por atrito, redução de potássio pelo leito e syngas queimado no riser — o risco de metano resolvido por projeto.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3913632"/>
            <a:ext cx="3657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F73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6419088" y="3913632"/>
            <a:ext cx="235915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</a:t>
            </a:r>
            <a:endParaRPr lang="en-US" sz="750" dirty="0"/>
          </a:p>
        </p:txBody>
      </p:sp>
      <p:sp>
        <p:nvSpPr>
          <p:cNvPr id="13" name="Text 11"/>
          <p:cNvSpPr txBox="1"/>
          <p:nvPr/>
        </p:nvSpPr>
        <p:spPr>
          <a:xfrm>
            <a:off x="6035040" y="409651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spc="-3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receitas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035040" y="426110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18"/>
              </a:lnSpc>
              <a:buNone/>
            </a:pPr>
            <a:r>
              <a:rPr lang="en-US" sz="850" dirty="0">
                <a:solidFill>
                  <a:srgbClr val="526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Destinação + material + crédito. O mesmo quilo nunca é vendido duas vezes.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365760" y="4626864"/>
            <a:ext cx="3657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 → TECNOLOGIA → VALOR</a:t>
            </a:r>
            <a:endParaRPr lang="en-US" sz="7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0" y="4626864"/>
            <a:ext cx="42062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NENHUMA PLANTA LATINO-AMERICANA PRODUZ CHAR DE ESPECIFICAÇÃO PARA CONSTRUÇÃO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3657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PILOTO · BALANÇO DE MASSA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384048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80"/>
              </a:lnSpc>
              <a:buNone/>
            </a:pPr>
            <a:r>
              <a:rPr lang="en-US" sz="3000" spc="-11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Massa entra.</a:t>
            </a:r>
            <a:endParaRPr lang="en-US" sz="3000" dirty="0"/>
          </a:p>
          <a:p>
            <a:pPr indent="0" marL="0">
              <a:lnSpc>
                <a:spcPts val="3180"/>
              </a:lnSpc>
              <a:buNone/>
            </a:pPr>
            <a:r>
              <a:rPr lang="en-US" sz="3000" spc="-11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Carbono fica.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39696"/>
            <a:ext cx="219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BIOMASSA · ENTRADA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530352" y="3127248"/>
            <a:ext cx="2377440" cy="561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spc="-20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4.000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3712464"/>
            <a:ext cx="23774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spc="260" kern="0" dirty="0">
                <a:solidFill>
                  <a:srgbClr val="7A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T/ANO DE CASCA DE COCO</a:t>
            </a:r>
            <a:endParaRPr lang="en-US" sz="680" dirty="0"/>
          </a:p>
        </p:txBody>
      </p:sp>
      <p:sp>
        <p:nvSpPr>
          <p:cNvPr id="7" name="Text 5"/>
          <p:cNvSpPr txBox="1"/>
          <p:nvPr/>
        </p:nvSpPr>
        <p:spPr>
          <a:xfrm>
            <a:off x="5029200" y="2139696"/>
            <a:ext cx="16459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 · PRODUTO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4992624" y="2889504"/>
            <a:ext cx="18288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spc="-20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810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5047488" y="3913632"/>
            <a:ext cx="1828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T/ANO DE BIOCHAR</a:t>
            </a:r>
            <a:endParaRPr lang="en-US" sz="680" dirty="0"/>
          </a:p>
        </p:txBody>
      </p:sp>
      <p:sp>
        <p:nvSpPr>
          <p:cNvPr id="10" name="Text 8"/>
          <p:cNvSpPr txBox="1"/>
          <p:nvPr/>
        </p:nvSpPr>
        <p:spPr>
          <a:xfrm>
            <a:off x="6858000" y="2139696"/>
            <a:ext cx="15544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1F92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REMOÇÃO · RESULTADO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6839712" y="2962656"/>
            <a:ext cx="201168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spc="-200" kern="0" dirty="0">
                <a:solidFill>
                  <a:srgbClr val="175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1.620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6876288" y="3639312"/>
            <a:ext cx="219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spc="260" kern="0" dirty="0">
                <a:solidFill>
                  <a:srgbClr val="7A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TCO₂E/ANO · 2,0 POR T DE CHAR</a:t>
            </a:r>
            <a:endParaRPr lang="en-US" sz="680" dirty="0"/>
          </a:p>
        </p:txBody>
      </p:sp>
      <p:sp>
        <p:nvSpPr>
          <p:cNvPr id="13" name="Text 11"/>
          <p:cNvSpPr txBox="1"/>
          <p:nvPr/>
        </p:nvSpPr>
        <p:spPr>
          <a:xfrm>
            <a:off x="2834640" y="1810512"/>
            <a:ext cx="219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 KG/H  ·  ≥ 20 % BASE SECA</a:t>
            </a:r>
            <a:endParaRPr lang="en-US" sz="680" dirty="0"/>
          </a:p>
        </p:txBody>
      </p:sp>
      <p:sp>
        <p:nvSpPr>
          <p:cNvPr id="14" name="Shape 12"/>
          <p:cNvSpPr/>
          <p:nvPr/>
        </p:nvSpPr>
        <p:spPr>
          <a:xfrm>
            <a:off x="3895344" y="3931920"/>
            <a:ext cx="1005840" cy="7315"/>
          </a:xfrm>
          <a:prstGeom prst="rect">
            <a:avLst/>
          </a:prstGeom>
          <a:solidFill>
            <a:srgbClr val="1F7370">
              <a:alpha val="50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895344" y="4023360"/>
            <a:ext cx="15544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Z1 COMBUSTÃO</a:t>
            </a:r>
            <a:endParaRPr lang="en-US" sz="620" dirty="0"/>
          </a:p>
        </p:txBody>
      </p:sp>
      <p:sp>
        <p:nvSpPr>
          <p:cNvPr id="16" name="Text 14"/>
          <p:cNvSpPr txBox="1"/>
          <p:nvPr/>
        </p:nvSpPr>
        <p:spPr>
          <a:xfrm>
            <a:off x="3895344" y="4187952"/>
            <a:ext cx="15544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Z2 PIRÓLISE 600 °C</a:t>
            </a:r>
            <a:endParaRPr lang="en-US" sz="620" dirty="0"/>
          </a:p>
        </p:txBody>
      </p:sp>
      <p:sp>
        <p:nvSpPr>
          <p:cNvPr id="17" name="Text 15"/>
          <p:cNvSpPr txBox="1"/>
          <p:nvPr/>
        </p:nvSpPr>
        <p:spPr>
          <a:xfrm>
            <a:off x="3895344" y="4352544"/>
            <a:ext cx="15544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Z3 FREEBOARD</a:t>
            </a:r>
            <a:endParaRPr lang="en-US" sz="620" dirty="0"/>
          </a:p>
        </p:txBody>
      </p:sp>
      <p:sp>
        <p:nvSpPr>
          <p:cNvPr id="18" name="Text 16"/>
          <p:cNvSpPr txBox="1"/>
          <p:nvPr/>
        </p:nvSpPr>
        <p:spPr>
          <a:xfrm>
            <a:off x="3895344" y="4517136"/>
            <a:ext cx="17373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spc="260" kern="0" dirty="0">
                <a:solidFill>
                  <a:srgbClr val="7A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AREIA RECIRCULA Z1↔Z3</a:t>
            </a:r>
            <a:endParaRPr lang="en-US" sz="620" dirty="0"/>
          </a:p>
        </p:txBody>
      </p:sp>
      <p:sp>
        <p:nvSpPr>
          <p:cNvPr id="19" name="Shape 17"/>
          <p:cNvSpPr/>
          <p:nvPr/>
        </p:nvSpPr>
        <p:spPr>
          <a:xfrm>
            <a:off x="457200" y="4626864"/>
            <a:ext cx="3291840" cy="7315"/>
          </a:xfrm>
          <a:prstGeom prst="rect">
            <a:avLst/>
          </a:prstGeom>
          <a:solidFill>
            <a:srgbClr val="5B8AAE">
              <a:alpha val="34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7200" y="4718304"/>
            <a:ext cx="8138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260" kern="0" dirty="0">
                <a:solidFill>
                  <a:srgbClr val="7A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RENDIMENTO ≥20% É O INDICADOR DA ENTREGA E3.1 · 2,0 TCO₂E/T É O PISO DA E5.2</a:t>
            </a:r>
            <a:endParaRPr lang="en-US" sz="6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882896"/>
            <a:ext cx="8138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TRL 04 → 07 · 30 MESES · LEITO FLUIDIZADO CIRCULANTE DE TRÊS ZONAS</a:t>
            </a:r>
            <a:endParaRPr lang="en-US" sz="650" dirty="0"/>
          </a:p>
        </p:txBody>
      </p:sp>
      <p:sp>
        <p:nvSpPr>
          <p:cNvPr id="22" name="Text 20"/>
          <p:cNvSpPr txBox="1"/>
          <p:nvPr/>
        </p:nvSpPr>
        <p:spPr>
          <a:xfrm rot="5400000">
            <a:off x="8613648" y="384048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spc="300" kern="0" dirty="0">
                <a:solidFill>
                  <a:srgbClr val="7A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LINHA TÉRMICA É O PERFIL DE TEMPERATURA</a:t>
            </a:r>
            <a:endParaRPr lang="en-US" sz="6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2743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CAPEX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4937760" cy="700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56"/>
              </a:lnSpc>
              <a:buNone/>
            </a:pPr>
            <a:r>
              <a:rPr lang="en-US" sz="2600" spc="-11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ativo físico e a engenharia</a:t>
            </a:r>
            <a:endParaRPr lang="en-US" sz="2600" dirty="0"/>
          </a:p>
          <a:p>
            <a:pPr indent="0" marL="0">
              <a:lnSpc>
                <a:spcPts val="2756"/>
              </a:lnSpc>
              <a:buNone/>
            </a:pPr>
            <a:r>
              <a:rPr lang="en-US" sz="2600" spc="-11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o produz.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384048" y="1627632"/>
            <a:ext cx="2743200" cy="1584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0" spc="-40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7,7</a:t>
            </a:r>
            <a:endParaRPr lang="en-US" sz="9600" dirty="0"/>
          </a:p>
        </p:txBody>
      </p:sp>
      <p:sp>
        <p:nvSpPr>
          <p:cNvPr id="5" name="Text 3"/>
          <p:cNvSpPr txBox="1"/>
          <p:nvPr/>
        </p:nvSpPr>
        <p:spPr>
          <a:xfrm>
            <a:off x="1975104" y="230428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spc="-4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M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3529584"/>
            <a:ext cx="1410789" cy="68580"/>
          </a:xfrm>
          <a:prstGeom prst="rect">
            <a:avLst/>
          </a:prstGeom>
          <a:solidFill>
            <a:srgbClr val="7AA8C9">
              <a:alpha val="80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57200" y="3675888"/>
            <a:ext cx="1410789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MODELAGEM, SIMULAÇÃO E PROJETO</a:t>
            </a:r>
            <a:endParaRPr lang="en-US" sz="68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21868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2,2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895421" y="3529584"/>
            <a:ext cx="3499539" cy="68580"/>
          </a:xfrm>
          <a:prstGeom prst="rect">
            <a:avLst/>
          </a:prstGeom>
          <a:solidFill>
            <a:srgbClr val="1F737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895421" y="3675888"/>
            <a:ext cx="3499539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CONSTRUÇÃO E MONTAGEM DO PILOTO</a:t>
            </a:r>
            <a:endParaRPr lang="en-US" sz="680" dirty="0"/>
          </a:p>
        </p:txBody>
      </p:sp>
      <p:sp>
        <p:nvSpPr>
          <p:cNvPr id="11" name="Text 9"/>
          <p:cNvSpPr txBox="1"/>
          <p:nvPr/>
        </p:nvSpPr>
        <p:spPr>
          <a:xfrm>
            <a:off x="1895421" y="321868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5,5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877056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7A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WP1</a:t>
            </a:r>
            <a:endParaRPr lang="en-US" sz="750" dirty="0"/>
          </a:p>
        </p:txBody>
      </p:sp>
      <p:sp>
        <p:nvSpPr>
          <p:cNvPr id="13" name="Text 11"/>
          <p:cNvSpPr txBox="1"/>
          <p:nvPr/>
        </p:nvSpPr>
        <p:spPr>
          <a:xfrm>
            <a:off x="1895421" y="3877056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WP2</a:t>
            </a:r>
            <a:endParaRPr lang="en-US" sz="75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4315968"/>
            <a:ext cx="152156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T DE CAPACIDADE</a:t>
            </a:r>
            <a:endParaRPr lang="en-US" sz="680" dirty="0"/>
          </a:p>
        </p:txBody>
      </p:sp>
      <p:sp>
        <p:nvSpPr>
          <p:cNvPr id="15" name="Text 13"/>
          <p:cNvSpPr txBox="1"/>
          <p:nvPr/>
        </p:nvSpPr>
        <p:spPr>
          <a:xfrm>
            <a:off x="1920240" y="4315968"/>
            <a:ext cx="14630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dirty="0">
                <a:solidFill>
                  <a:srgbClr val="7A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R$ 9.506/t</a:t>
            </a:r>
            <a:endParaRPr lang="en-US" sz="76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530852"/>
            <a:ext cx="152156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PRECISÃO</a:t>
            </a:r>
            <a:endParaRPr lang="en-US" sz="680" dirty="0"/>
          </a:p>
        </p:txBody>
      </p:sp>
      <p:sp>
        <p:nvSpPr>
          <p:cNvPr id="17" name="Text 15"/>
          <p:cNvSpPr txBox="1"/>
          <p:nvPr/>
        </p:nvSpPr>
        <p:spPr>
          <a:xfrm>
            <a:off x="1920240" y="4530852"/>
            <a:ext cx="14630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dirty="0">
                <a:solidFill>
                  <a:srgbClr val="7A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AACE 4 · −30/+50%</a:t>
            </a:r>
            <a:endParaRPr lang="en-US" sz="76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80974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18"/>
              </a:lnSpc>
              <a:buNone/>
            </a:pPr>
            <a:r>
              <a:rPr lang="en-US" sz="850" dirty="0">
                <a:solidFill>
                  <a:srgbClr val="526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engenharia básica e de detalhamento é capitalizada junto com o equipamento: num piloto ela não tem valor separável dele.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 rot="5400000">
            <a:off x="8613648" y="384048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spc="300" kern="0" dirty="0">
                <a:solidFill>
                  <a:srgbClr val="7A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WP1 + WP2 · FINEP ECONOMIA CIRCULAR</a:t>
            </a:r>
            <a:endParaRPr lang="en-US" sz="6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2743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OPEX DO PROJETO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4754880" cy="700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56"/>
              </a:lnSpc>
              <a:buNone/>
            </a:pPr>
            <a:r>
              <a:rPr lang="en-US" sz="2600" spc="-11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se consome provando</a:t>
            </a:r>
            <a:endParaRPr lang="en-US" sz="2600" dirty="0"/>
          </a:p>
          <a:p>
            <a:pPr indent="0" marL="0">
              <a:lnSpc>
                <a:spcPts val="2756"/>
              </a:lnSpc>
              <a:buNone/>
            </a:pPr>
            <a:r>
              <a:rPr lang="en-US" sz="2600" spc="-11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ativo, em 30 meses.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384048" y="1700784"/>
            <a:ext cx="2377440" cy="1584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600" spc="-40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7,3</a:t>
            </a:r>
            <a:endParaRPr lang="en-US" sz="9600" dirty="0"/>
          </a:p>
        </p:txBody>
      </p:sp>
      <p:sp>
        <p:nvSpPr>
          <p:cNvPr id="5" name="Text 3"/>
          <p:cNvSpPr txBox="1"/>
          <p:nvPr/>
        </p:nvSpPr>
        <p:spPr>
          <a:xfrm>
            <a:off x="512064" y="352958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M · OPEX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75488" y="3456432"/>
            <a:ext cx="2011680" cy="7315"/>
          </a:xfrm>
          <a:prstGeom prst="rect">
            <a:avLst/>
          </a:prstGeom>
          <a:solidFill>
            <a:srgbClr val="1F7370">
              <a:alpha val="55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395728" y="2450592"/>
            <a:ext cx="173736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0" spc="-20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7,7</a:t>
            </a:r>
            <a:endParaRPr lang="en-US" sz="5000" dirty="0"/>
          </a:p>
        </p:txBody>
      </p:sp>
      <p:sp>
        <p:nvSpPr>
          <p:cNvPr id="8" name="Text 6"/>
          <p:cNvSpPr txBox="1"/>
          <p:nvPr/>
        </p:nvSpPr>
        <p:spPr>
          <a:xfrm>
            <a:off x="2487168" y="3529584"/>
            <a:ext cx="1828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M · CAPEX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2450592" y="3456432"/>
            <a:ext cx="1371600" cy="7315"/>
          </a:xfrm>
          <a:prstGeom prst="rect">
            <a:avLst/>
          </a:prstGeom>
          <a:solidFill>
            <a:srgbClr val="5B8AAE">
              <a:alpha val="45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309360" y="137160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400" spc="-140" kern="0" dirty="0">
                <a:solidFill>
                  <a:srgbClr val="175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 / 15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1975104"/>
            <a:ext cx="23774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SUBVENÇÃO FINEP / CONTRAPARTIDA</a:t>
            </a:r>
            <a:endParaRPr lang="en-US" sz="750" dirty="0"/>
          </a:p>
        </p:txBody>
      </p:sp>
      <p:sp>
        <p:nvSpPr>
          <p:cNvPr id="12" name="Text 10"/>
          <p:cNvSpPr txBox="1"/>
          <p:nvPr/>
        </p:nvSpPr>
        <p:spPr>
          <a:xfrm>
            <a:off x="5943600" y="2340864"/>
            <a:ext cx="14264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SUBVENÇÃO FINEP</a:t>
            </a:r>
            <a:endParaRPr lang="en-US" sz="680" dirty="0"/>
          </a:p>
        </p:txBody>
      </p:sp>
      <p:sp>
        <p:nvSpPr>
          <p:cNvPr id="13" name="Text 11"/>
          <p:cNvSpPr txBox="1"/>
          <p:nvPr/>
        </p:nvSpPr>
        <p:spPr>
          <a:xfrm>
            <a:off x="7315200" y="23408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dirty="0">
                <a:solidFill>
                  <a:srgbClr val="7A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R$ 12.750.000</a:t>
            </a:r>
            <a:endParaRPr lang="en-US" sz="760" dirty="0"/>
          </a:p>
        </p:txBody>
      </p:sp>
      <p:sp>
        <p:nvSpPr>
          <p:cNvPr id="14" name="Text 12"/>
          <p:cNvSpPr txBox="1"/>
          <p:nvPr/>
        </p:nvSpPr>
        <p:spPr>
          <a:xfrm>
            <a:off x="5943600" y="2555748"/>
            <a:ext cx="14264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CONTRAPARTIDA</a:t>
            </a:r>
            <a:endParaRPr lang="en-US" sz="680" dirty="0"/>
          </a:p>
        </p:txBody>
      </p:sp>
      <p:sp>
        <p:nvSpPr>
          <p:cNvPr id="15" name="Text 13"/>
          <p:cNvSpPr txBox="1"/>
          <p:nvPr/>
        </p:nvSpPr>
        <p:spPr>
          <a:xfrm>
            <a:off x="7315200" y="255574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dirty="0">
                <a:solidFill>
                  <a:srgbClr val="7A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R$ 2.250.000</a:t>
            </a:r>
            <a:endParaRPr lang="en-US" sz="760" dirty="0"/>
          </a:p>
        </p:txBody>
      </p:sp>
      <p:sp>
        <p:nvSpPr>
          <p:cNvPr id="16" name="Text 14"/>
          <p:cNvSpPr txBox="1"/>
          <p:nvPr/>
        </p:nvSpPr>
        <p:spPr>
          <a:xfrm>
            <a:off x="5943600" y="2770632"/>
            <a:ext cx="14264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MÉDIA MENSAL</a:t>
            </a:r>
            <a:endParaRPr lang="en-US" sz="680" dirty="0"/>
          </a:p>
        </p:txBody>
      </p:sp>
      <p:sp>
        <p:nvSpPr>
          <p:cNvPr id="17" name="Text 15"/>
          <p:cNvSpPr txBox="1"/>
          <p:nvPr/>
        </p:nvSpPr>
        <p:spPr>
          <a:xfrm>
            <a:off x="7315200" y="277063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dirty="0">
                <a:solidFill>
                  <a:srgbClr val="7A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R$ 243.333</a:t>
            </a:r>
            <a:endParaRPr lang="en-US" sz="760" dirty="0"/>
          </a:p>
        </p:txBody>
      </p:sp>
      <p:sp>
        <p:nvSpPr>
          <p:cNvPr id="18" name="Shape 16"/>
          <p:cNvSpPr/>
          <p:nvPr/>
        </p:nvSpPr>
        <p:spPr>
          <a:xfrm>
            <a:off x="457200" y="4041648"/>
            <a:ext cx="2763492" cy="7315"/>
          </a:xfrm>
          <a:prstGeom prst="rect">
            <a:avLst/>
          </a:prstGeom>
          <a:solidFill>
            <a:srgbClr val="1F7370">
              <a:alpha val="4500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57200" y="4114800"/>
            <a:ext cx="5486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1F73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WP3</a:t>
            </a:r>
            <a:endParaRPr lang="en-US" sz="8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315968"/>
            <a:ext cx="272691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CAMPANHAS EXPERIMENTAIS</a:t>
            </a:r>
            <a:endParaRPr lang="en-US" sz="68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498848"/>
            <a:ext cx="26903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2,5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275556" y="4041648"/>
            <a:ext cx="2538024" cy="7315"/>
          </a:xfrm>
          <a:prstGeom prst="rect">
            <a:avLst/>
          </a:prstGeom>
          <a:solidFill>
            <a:srgbClr val="1F7370">
              <a:alpha val="4500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275556" y="4114800"/>
            <a:ext cx="5486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1F73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WP4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3275556" y="4315968"/>
            <a:ext cx="2501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CARACTERIZAÇÃO E VALIDAÇÃO AGRONÔMICA</a:t>
            </a:r>
            <a:endParaRPr lang="en-US" sz="680" dirty="0"/>
          </a:p>
        </p:txBody>
      </p:sp>
      <p:sp>
        <p:nvSpPr>
          <p:cNvPr id="25" name="Text 23"/>
          <p:cNvSpPr txBox="1"/>
          <p:nvPr/>
        </p:nvSpPr>
        <p:spPr>
          <a:xfrm>
            <a:off x="3275556" y="4498848"/>
            <a:ext cx="246487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2,3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868444" y="4041648"/>
            <a:ext cx="1072478" cy="7315"/>
          </a:xfrm>
          <a:prstGeom prst="rect">
            <a:avLst/>
          </a:prstGeom>
          <a:solidFill>
            <a:srgbClr val="1F7370">
              <a:alpha val="4500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868444" y="4114800"/>
            <a:ext cx="5486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1F73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WP5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5868444" y="4315968"/>
            <a:ext cx="103590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ACV E CRÉDITOS DE CARBONO</a:t>
            </a:r>
            <a:endParaRPr lang="en-US" sz="680" dirty="0"/>
          </a:p>
        </p:txBody>
      </p:sp>
      <p:sp>
        <p:nvSpPr>
          <p:cNvPr id="29" name="Text 27"/>
          <p:cNvSpPr txBox="1"/>
          <p:nvPr/>
        </p:nvSpPr>
        <p:spPr>
          <a:xfrm>
            <a:off x="5868444" y="4498848"/>
            <a:ext cx="99932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1,0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995786" y="4041648"/>
            <a:ext cx="1636150" cy="7315"/>
          </a:xfrm>
          <a:prstGeom prst="rect">
            <a:avLst/>
          </a:prstGeom>
          <a:solidFill>
            <a:srgbClr val="1F7370">
              <a:alpha val="45000"/>
            </a:srgbClr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995786" y="4114800"/>
            <a:ext cx="5486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1F73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WP6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6995786" y="4315968"/>
            <a:ext cx="159957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ENGENHARIA INDUSTRIAL E NEGÓCIO</a:t>
            </a:r>
            <a:endParaRPr lang="en-US" sz="680" dirty="0"/>
          </a:p>
        </p:txBody>
      </p:sp>
      <p:sp>
        <p:nvSpPr>
          <p:cNvPr id="33" name="Text 31"/>
          <p:cNvSpPr txBox="1"/>
          <p:nvPr/>
        </p:nvSpPr>
        <p:spPr>
          <a:xfrm>
            <a:off x="6995786" y="4498848"/>
            <a:ext cx="156299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1,5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457200" y="4809744"/>
            <a:ext cx="3657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7A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 BIOCHAR · PETROLINA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2743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OPEX EM REGIME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493776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80"/>
              </a:lnSpc>
              <a:buNone/>
            </a:pPr>
            <a:r>
              <a:rPr lang="en-US" sz="3000" spc="-11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piloto não se paga.</a:t>
            </a:r>
            <a:endParaRPr lang="en-US" sz="3000" dirty="0"/>
          </a:p>
          <a:p>
            <a:pPr indent="0" marL="0">
              <a:lnSpc>
                <a:spcPts val="3180"/>
              </a:lnSpc>
              <a:buNone/>
            </a:pPr>
            <a:r>
              <a:rPr lang="en-US" sz="3000" spc="-11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não deveria.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2286000"/>
            <a:ext cx="310896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spc="-20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R$ 3.336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603504" y="2999232"/>
            <a:ext cx="29260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POR TONELADA, EM REGIME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2286000" y="2999232"/>
            <a:ext cx="310896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spc="-200" kern="0" dirty="0">
                <a:solidFill>
                  <a:srgbClr val="175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R$ 3.177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2322576" y="3712464"/>
            <a:ext cx="29260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RECEITA BRUTA POR TONELADA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5852160" y="391363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dirty="0">
                <a:solidFill>
                  <a:srgbClr val="C965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−160 / t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4261104"/>
            <a:ext cx="23774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A 810 T/ANO</a:t>
            </a:r>
            <a:endParaRPr lang="en-US" sz="750" dirty="0"/>
          </a:p>
        </p:txBody>
      </p:sp>
      <p:sp>
        <p:nvSpPr>
          <p:cNvPr id="10" name="Text 8"/>
          <p:cNvSpPr txBox="1"/>
          <p:nvPr/>
        </p:nvSpPr>
        <p:spPr>
          <a:xfrm>
            <a:off x="5577840" y="1371600"/>
            <a:ext cx="1616659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FIXO</a:t>
            </a:r>
            <a:endParaRPr lang="en-US" sz="680" dirty="0"/>
          </a:p>
        </p:txBody>
      </p:sp>
      <p:sp>
        <p:nvSpPr>
          <p:cNvPr id="11" name="Text 9"/>
          <p:cNvSpPr txBox="1"/>
          <p:nvPr/>
        </p:nvSpPr>
        <p:spPr>
          <a:xfrm>
            <a:off x="7132320" y="1371600"/>
            <a:ext cx="15544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dirty="0">
                <a:solidFill>
                  <a:srgbClr val="7A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R$ 2.098.800/ano</a:t>
            </a:r>
            <a:endParaRPr lang="en-US" sz="760" dirty="0"/>
          </a:p>
        </p:txBody>
      </p:sp>
      <p:sp>
        <p:nvSpPr>
          <p:cNvPr id="12" name="Text 10"/>
          <p:cNvSpPr txBox="1"/>
          <p:nvPr/>
        </p:nvSpPr>
        <p:spPr>
          <a:xfrm>
            <a:off x="5577840" y="1586484"/>
            <a:ext cx="1616659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VARIÁVEL</a:t>
            </a:r>
            <a:endParaRPr lang="en-US" sz="680" dirty="0"/>
          </a:p>
        </p:txBody>
      </p:sp>
      <p:sp>
        <p:nvSpPr>
          <p:cNvPr id="13" name="Text 11"/>
          <p:cNvSpPr txBox="1"/>
          <p:nvPr/>
        </p:nvSpPr>
        <p:spPr>
          <a:xfrm>
            <a:off x="7132320" y="1586484"/>
            <a:ext cx="15544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dirty="0">
                <a:solidFill>
                  <a:srgbClr val="7A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R$ 745/t</a:t>
            </a:r>
            <a:endParaRPr lang="en-US" sz="760" dirty="0"/>
          </a:p>
        </p:txBody>
      </p:sp>
      <p:sp>
        <p:nvSpPr>
          <p:cNvPr id="14" name="Text 12"/>
          <p:cNvSpPr txBox="1"/>
          <p:nvPr/>
        </p:nvSpPr>
        <p:spPr>
          <a:xfrm>
            <a:off x="5577840" y="1801368"/>
            <a:ext cx="1616659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OPEX ANUAL</a:t>
            </a:r>
            <a:endParaRPr lang="en-US" sz="680" dirty="0"/>
          </a:p>
        </p:txBody>
      </p:sp>
      <p:sp>
        <p:nvSpPr>
          <p:cNvPr id="15" name="Text 13"/>
          <p:cNvSpPr txBox="1"/>
          <p:nvPr/>
        </p:nvSpPr>
        <p:spPr>
          <a:xfrm>
            <a:off x="7132320" y="1801368"/>
            <a:ext cx="15544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dirty="0">
                <a:solidFill>
                  <a:srgbClr val="7A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R$ 2.702.503</a:t>
            </a:r>
            <a:endParaRPr lang="en-US" sz="76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462272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73"/>
              </a:lnSpc>
              <a:buNone/>
            </a:pPr>
            <a:r>
              <a:rPr lang="en-US" sz="950" dirty="0">
                <a:solidFill>
                  <a:srgbClr val="526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custo fixo não cai com a escala — e é exatamente por isso que o Módulo 1 fecha a conta e a POC não. A escala é o destravamento.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2743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UNIT ECONOMICS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1481328"/>
            <a:ext cx="2560320" cy="151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200" spc="-40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763</a:t>
            </a:r>
            <a:endParaRPr lang="en-US" sz="9200" dirty="0"/>
          </a:p>
        </p:txBody>
      </p:sp>
      <p:sp>
        <p:nvSpPr>
          <p:cNvPr id="4" name="Text 2"/>
          <p:cNvSpPr txBox="1"/>
          <p:nvPr/>
        </p:nvSpPr>
        <p:spPr>
          <a:xfrm>
            <a:off x="512064" y="3054096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spc="-3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/ t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75488" y="2980944"/>
            <a:ext cx="2011680" cy="7315"/>
          </a:xfrm>
          <a:prstGeom prst="rect">
            <a:avLst/>
          </a:prstGeom>
          <a:solidFill>
            <a:srgbClr val="1F7370">
              <a:alpha val="55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75488" y="3419856"/>
            <a:ext cx="2743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MARGEM DE CONTRIBUIÇÃO [DOC]</a:t>
            </a:r>
            <a:endParaRPr lang="en-US" sz="650" dirty="0"/>
          </a:p>
        </p:txBody>
      </p:sp>
      <p:sp>
        <p:nvSpPr>
          <p:cNvPr id="7" name="Text 5"/>
          <p:cNvSpPr txBox="1"/>
          <p:nvPr/>
        </p:nvSpPr>
        <p:spPr>
          <a:xfrm>
            <a:off x="475488" y="3584448"/>
            <a:ext cx="2743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CENÁRIO DO PLANO · CÂMBIO 5,20</a:t>
            </a:r>
            <a:endParaRPr lang="en-US" sz="650" dirty="0"/>
          </a:p>
        </p:txBody>
      </p:sp>
      <p:sp>
        <p:nvSpPr>
          <p:cNvPr id="8" name="Text 6"/>
          <p:cNvSpPr txBox="1"/>
          <p:nvPr/>
        </p:nvSpPr>
        <p:spPr>
          <a:xfrm>
            <a:off x="2926080" y="969264"/>
            <a:ext cx="55778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 DO CARBONO ÚNICO · O MESMO QUILO NUNCA É VENDIDO DUAS VEZES</a:t>
            </a:r>
            <a:endParaRPr lang="en-US" sz="650" dirty="0"/>
          </a:p>
        </p:txBody>
      </p:sp>
      <p:sp>
        <p:nvSpPr>
          <p:cNvPr id="9" name="Text 7"/>
          <p:cNvSpPr txBox="1"/>
          <p:nvPr/>
        </p:nvSpPr>
        <p:spPr>
          <a:xfrm>
            <a:off x="2926080" y="1243584"/>
            <a:ext cx="20116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RECEITA BRUTA / T</a:t>
            </a:r>
            <a:endParaRPr lang="en-US" sz="7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1207008"/>
            <a:ext cx="20116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R$ 3.177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2926080" y="1901952"/>
            <a:ext cx="160934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CARBONO</a:t>
            </a:r>
            <a:endParaRPr lang="en-US" sz="680" dirty="0"/>
          </a:p>
        </p:txBody>
      </p:sp>
      <p:sp>
        <p:nvSpPr>
          <p:cNvPr id="12" name="Text 10"/>
          <p:cNvSpPr txBox="1"/>
          <p:nvPr/>
        </p:nvSpPr>
        <p:spPr>
          <a:xfrm>
            <a:off x="2926080" y="2066544"/>
            <a:ext cx="160934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R$ 995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4553712" y="1901952"/>
            <a:ext cx="219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</a:t>
            </a:r>
            <a:endParaRPr lang="en-US" sz="680" dirty="0"/>
          </a:p>
        </p:txBody>
      </p:sp>
      <p:sp>
        <p:nvSpPr>
          <p:cNvPr id="14" name="Text 12"/>
          <p:cNvSpPr txBox="1"/>
          <p:nvPr/>
        </p:nvSpPr>
        <p:spPr>
          <a:xfrm>
            <a:off x="4553712" y="2066544"/>
            <a:ext cx="21945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R$ 2.000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7699248" y="190195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 FEE</a:t>
            </a:r>
            <a:endParaRPr lang="en-US" sz="680" dirty="0"/>
          </a:p>
        </p:txBody>
      </p:sp>
      <p:sp>
        <p:nvSpPr>
          <p:cNvPr id="16" name="Text 14"/>
          <p:cNvSpPr txBox="1"/>
          <p:nvPr/>
        </p:nvSpPr>
        <p:spPr>
          <a:xfrm>
            <a:off x="7699248" y="2066544"/>
            <a:ext cx="914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R$ 182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2926080" y="2834640"/>
            <a:ext cx="2560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PLENO / T · A 810 T/ANO</a:t>
            </a:r>
            <a:endParaRPr lang="en-US" sz="750" dirty="0"/>
          </a:p>
        </p:txBody>
      </p:sp>
      <p:sp>
        <p:nvSpPr>
          <p:cNvPr id="18" name="Text 16"/>
          <p:cNvSpPr txBox="1"/>
          <p:nvPr/>
        </p:nvSpPr>
        <p:spPr>
          <a:xfrm>
            <a:off x="5623560" y="2816352"/>
            <a:ext cx="14630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R$ 3.336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635240" y="2798064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965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−160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2926080" y="3474720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spc="-4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 ≠ unidade econômica.  A escala é o destravamento.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2926080" y="3986784"/>
            <a:ext cx="5577840" cy="7315"/>
          </a:xfrm>
          <a:prstGeom prst="rect">
            <a:avLst/>
          </a:prstGeom>
          <a:solidFill>
            <a:srgbClr val="5B8AAE">
              <a:alpha val="3400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926080" y="4078224"/>
            <a:ext cx="5669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" spc="260" kern="0" dirty="0">
                <a:solidFill>
                  <a:srgbClr val="7A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RECEITA = TRÊS FLUXOS [DOC] SOMADOS · CUSTO = OPEX PLENO [EST], JÁ COM O FIXO</a:t>
            </a:r>
            <a:endParaRPr lang="en-US" sz="600" dirty="0"/>
          </a:p>
        </p:txBody>
      </p:sp>
      <p:sp>
        <p:nvSpPr>
          <p:cNvPr id="23" name="Text 21"/>
          <p:cNvSpPr txBox="1"/>
          <p:nvPr/>
        </p:nvSpPr>
        <p:spPr>
          <a:xfrm>
            <a:off x="2926080" y="4261104"/>
            <a:ext cx="5669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MARGEM DE R$ 763 É OUTRA CAMADA: LÍQUIDA SÓ DE CUSTOS VARIÁVEIS</a:t>
            </a:r>
            <a:endParaRPr lang="en-US" sz="6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4809744"/>
            <a:ext cx="3657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7A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 BIOCHAR · PETROLINA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2743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BREAKEVEN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4023360" cy="700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56"/>
              </a:lnSpc>
              <a:buNone/>
            </a:pPr>
            <a:r>
              <a:rPr lang="en-US" sz="2600" spc="-11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solver diz exatamente</a:t>
            </a:r>
            <a:endParaRPr lang="en-US" sz="2600" dirty="0"/>
          </a:p>
          <a:p>
            <a:pPr indent="0" marL="0">
              <a:lnSpc>
                <a:spcPts val="2756"/>
              </a:lnSpc>
              <a:buNone/>
            </a:pPr>
            <a:r>
              <a:rPr lang="en-US" sz="2600" spc="-11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precisa ser verdade.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41706" y="1948180"/>
            <a:ext cx="210312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spc="-20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3.874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61746" y="3090672"/>
            <a:ext cx="14630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CAIXA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441706" y="3246120"/>
            <a:ext cx="2103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SUBVENÇÕES DE CUSTEIO</a:t>
            </a:r>
            <a:endParaRPr lang="en-US" sz="620" dirty="0"/>
          </a:p>
        </p:txBody>
      </p:sp>
      <p:sp>
        <p:nvSpPr>
          <p:cNvPr id="7" name="Text 5"/>
          <p:cNvSpPr txBox="1"/>
          <p:nvPr/>
        </p:nvSpPr>
        <p:spPr>
          <a:xfrm>
            <a:off x="2225040" y="1882140"/>
            <a:ext cx="210312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spc="-200" kern="0" dirty="0">
                <a:solidFill>
                  <a:srgbClr val="175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4.700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2545080" y="3310128"/>
            <a:ext cx="14630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2225040" y="3465576"/>
            <a:ext cx="2103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CAPEX DE 21,6 M</a:t>
            </a:r>
            <a:endParaRPr lang="en-US" sz="620" dirty="0"/>
          </a:p>
        </p:txBody>
      </p:sp>
      <p:sp>
        <p:nvSpPr>
          <p:cNvPr id="10" name="Text 8"/>
          <p:cNvSpPr txBox="1"/>
          <p:nvPr/>
        </p:nvSpPr>
        <p:spPr>
          <a:xfrm>
            <a:off x="3839972" y="1750060"/>
            <a:ext cx="210312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800" spc="-20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5.448</a:t>
            </a:r>
            <a:endParaRPr lang="en-US" sz="3800" dirty="0"/>
          </a:p>
        </p:txBody>
      </p:sp>
      <p:sp>
        <p:nvSpPr>
          <p:cNvPr id="11" name="Text 9"/>
          <p:cNvSpPr txBox="1"/>
          <p:nvPr/>
        </p:nvSpPr>
        <p:spPr>
          <a:xfrm>
            <a:off x="4160012" y="3090672"/>
            <a:ext cx="14630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MERCADO PLENO</a:t>
            </a:r>
            <a:endParaRPr lang="en-US" sz="750" dirty="0"/>
          </a:p>
        </p:txBody>
      </p:sp>
      <p:sp>
        <p:nvSpPr>
          <p:cNvPr id="12" name="Text 10"/>
          <p:cNvSpPr txBox="1"/>
          <p:nvPr/>
        </p:nvSpPr>
        <p:spPr>
          <a:xfrm>
            <a:off x="3839972" y="3246120"/>
            <a:ext cx="2103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EBITDA = 0 EM 2028</a:t>
            </a:r>
            <a:endParaRPr lang="en-US" sz="620" dirty="0"/>
          </a:p>
        </p:txBody>
      </p:sp>
      <p:sp>
        <p:nvSpPr>
          <p:cNvPr id="13" name="Text 11"/>
          <p:cNvSpPr txBox="1"/>
          <p:nvPr/>
        </p:nvSpPr>
        <p:spPr>
          <a:xfrm>
            <a:off x="7065518" y="2014220"/>
            <a:ext cx="210312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spc="-200" kern="0" dirty="0">
                <a:solidFill>
                  <a:srgbClr val="C96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6.942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7385558" y="3310128"/>
            <a:ext cx="14630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spc="260" kern="0" dirty="0">
                <a:solidFill>
                  <a:srgbClr val="C96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GATE FEE</a:t>
            </a:r>
            <a:endParaRPr lang="en-US" sz="750" dirty="0"/>
          </a:p>
        </p:txBody>
      </p:sp>
      <p:sp>
        <p:nvSpPr>
          <p:cNvPr id="15" name="Text 13"/>
          <p:cNvSpPr txBox="1"/>
          <p:nvPr/>
        </p:nvSpPr>
        <p:spPr>
          <a:xfrm>
            <a:off x="7065518" y="3465576"/>
            <a:ext cx="2103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A DESTINAÇÃO NÃO FECHAR</a:t>
            </a:r>
            <a:endParaRPr lang="en-US" sz="62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2633472"/>
            <a:ext cx="219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7A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TONELADAS DE BIOCHAR POR ANO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457200" y="3986784"/>
            <a:ext cx="8138160" cy="7315"/>
          </a:xfrm>
          <a:prstGeom prst="rect">
            <a:avLst/>
          </a:prstGeom>
          <a:solidFill>
            <a:srgbClr val="1F7370">
              <a:alpha val="45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57200" y="4078224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C965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VÃO</a:t>
            </a:r>
            <a:endParaRPr lang="en-US" sz="750" dirty="0"/>
          </a:p>
        </p:txBody>
      </p:sp>
      <p:sp>
        <p:nvSpPr>
          <p:cNvPr id="19" name="Text 17"/>
          <p:cNvSpPr txBox="1"/>
          <p:nvPr/>
        </p:nvSpPr>
        <p:spPr>
          <a:xfrm>
            <a:off x="1554480" y="4059936"/>
            <a:ext cx="914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965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748 t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2651760" y="4059936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95"/>
              </a:lnSpc>
              <a:buNone/>
            </a:pPr>
            <a:r>
              <a:rPr lang="en-US" sz="900" dirty="0">
                <a:solidFill>
                  <a:srgbClr val="526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Módulo 1 sozinho não alcança o breakeven a mercado pleno — a Planta 1 existe por isso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4425696"/>
            <a:ext cx="8138160" cy="7315"/>
          </a:xfrm>
          <a:prstGeom prst="rect">
            <a:avLst/>
          </a:prstGeom>
          <a:solidFill>
            <a:srgbClr val="1F7370">
              <a:alpha val="3400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57200" y="4517136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DESTINAÇÃO</a:t>
            </a:r>
            <a:endParaRPr lang="en-US" sz="750" dirty="0"/>
          </a:p>
        </p:txBody>
      </p:sp>
      <p:sp>
        <p:nvSpPr>
          <p:cNvPr id="23" name="Text 21"/>
          <p:cNvSpPr txBox="1"/>
          <p:nvPr/>
        </p:nvSpPr>
        <p:spPr>
          <a:xfrm>
            <a:off x="1554480" y="4498848"/>
            <a:ext cx="914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F73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1.494 t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2651760" y="449884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95"/>
              </a:lnSpc>
              <a:buNone/>
            </a:pPr>
            <a:r>
              <a:rPr lang="en-US" sz="900" dirty="0">
                <a:solidFill>
                  <a:srgbClr val="5266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quanto o contrato com a PepsiCo vale em toneladas de breakeven evitadas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4882896"/>
            <a:ext cx="3657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7A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 BIOCHAR · PETROLINA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2743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ESCALA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5120640" cy="700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56"/>
              </a:lnSpc>
              <a:buNone/>
            </a:pPr>
            <a:r>
              <a:rPr lang="en-US" sz="2600" spc="-11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810 toneladas a um grupo</a:t>
            </a:r>
            <a:endParaRPr lang="en-US" sz="2600" dirty="0"/>
          </a:p>
          <a:p>
            <a:pPr indent="0" marL="0">
              <a:lnSpc>
                <a:spcPts val="2756"/>
              </a:lnSpc>
              <a:buNone/>
            </a:pPr>
            <a:r>
              <a:rPr lang="en-US" sz="2600" spc="-11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cruza o zero.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3767328"/>
            <a:ext cx="7315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8A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2027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3950208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POC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4187952"/>
            <a:ext cx="1691640" cy="363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spc="-20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810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4569460"/>
            <a:ext cx="16916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 CHAR/ANO</a:t>
            </a:r>
            <a:endParaRPr lang="en-US" sz="680" dirty="0"/>
          </a:p>
        </p:txBody>
      </p:sp>
      <p:sp>
        <p:nvSpPr>
          <p:cNvPr id="8" name="Text 6"/>
          <p:cNvSpPr txBox="1"/>
          <p:nvPr/>
        </p:nvSpPr>
        <p:spPr>
          <a:xfrm>
            <a:off x="2724912" y="3474720"/>
            <a:ext cx="7315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75D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2028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2724912" y="365760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1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2724912" y="3895344"/>
            <a:ext cx="169164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spc="-200" kern="0" dirty="0">
                <a:solidFill>
                  <a:srgbClr val="175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4,7 K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2724912" y="4342892"/>
            <a:ext cx="16916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 CHAR/ANO</a:t>
            </a:r>
            <a:endParaRPr lang="en-US" sz="680" dirty="0"/>
          </a:p>
        </p:txBody>
      </p:sp>
      <p:sp>
        <p:nvSpPr>
          <p:cNvPr id="12" name="Text 10"/>
          <p:cNvSpPr txBox="1"/>
          <p:nvPr/>
        </p:nvSpPr>
        <p:spPr>
          <a:xfrm>
            <a:off x="5138928" y="2523744"/>
            <a:ext cx="7315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F73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2029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5138928" y="2706624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Planta 1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138928" y="2944368"/>
            <a:ext cx="169164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spc="-20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K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5138928" y="3457956"/>
            <a:ext cx="16916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 BIOMASSA/ANO</a:t>
            </a:r>
            <a:endParaRPr lang="en-US" sz="680" dirty="0"/>
          </a:p>
        </p:txBody>
      </p:sp>
      <p:sp>
        <p:nvSpPr>
          <p:cNvPr id="16" name="Text 14"/>
          <p:cNvSpPr txBox="1"/>
          <p:nvPr/>
        </p:nvSpPr>
        <p:spPr>
          <a:xfrm>
            <a:off x="7406640" y="1243584"/>
            <a:ext cx="7315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437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2031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7406640" y="1426464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Planta 2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7406640" y="1664208"/>
            <a:ext cx="1691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spc="-20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K</a:t>
            </a:r>
            <a:endParaRPr lang="en-US" sz="3600" dirty="0"/>
          </a:p>
        </p:txBody>
      </p:sp>
      <p:sp>
        <p:nvSpPr>
          <p:cNvPr id="19" name="Text 17"/>
          <p:cNvSpPr txBox="1"/>
          <p:nvPr/>
        </p:nvSpPr>
        <p:spPr>
          <a:xfrm>
            <a:off x="7406640" y="2276856"/>
            <a:ext cx="16916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 BIOMASSA/ANO</a:t>
            </a:r>
            <a:endParaRPr lang="en-US" sz="68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919472"/>
            <a:ext cx="6766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BREAKEVEN DO GRUPO FICA EM ~13 MIL T/ANO — A SEGUNDA PLANTA NÃO É RÉPLICA, É O DOBRO</a:t>
            </a:r>
            <a:endParaRPr lang="en-US" sz="750" dirty="0"/>
          </a:p>
        </p:txBody>
      </p:sp>
      <p:sp>
        <p:nvSpPr>
          <p:cNvPr id="21" name="Text 19"/>
          <p:cNvSpPr txBox="1"/>
          <p:nvPr/>
        </p:nvSpPr>
        <p:spPr>
          <a:xfrm rot="5400000">
            <a:off x="8613648" y="384048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spc="300" kern="0" dirty="0">
                <a:solidFill>
                  <a:srgbClr val="7A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BNDES FUNDO CLIMA · SUDENE · FNE VERDE</a:t>
            </a:r>
            <a:endParaRPr lang="en-US" sz="6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ipping/design-system/.preview/deck-assets/mark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84048"/>
            <a:ext cx="256032" cy="2560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41248" y="429768"/>
            <a:ext cx="36576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97DC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DISCIPLINA · ARQUITETURA DE GATES</a:t>
            </a:r>
            <a:endParaRPr lang="en-US" sz="75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822960"/>
            <a:ext cx="7863840" cy="915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600"/>
              </a:lnSpc>
              <a:buNone/>
            </a:pPr>
            <a:r>
              <a:rPr lang="en-US" sz="3400" spc="-90" kern="0" dirty="0">
                <a:solidFill>
                  <a:srgbClr val="EEFA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tonelada da POC compra</a:t>
            </a:r>
            <a:endParaRPr lang="en-US" sz="34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400" spc="-90" kern="0" dirty="0">
                <a:solidFill>
                  <a:srgbClr val="EEFA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dinheiro não compra depois.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475488" y="2505456"/>
            <a:ext cx="7315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7DC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M03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75488" y="2706624"/>
            <a:ext cx="1417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spc="260" kern="0" dirty="0">
                <a:solidFill>
                  <a:srgbClr val="BED7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QUALIDADE DO CARBONO</a:t>
            </a:r>
            <a:endParaRPr lang="en-US" sz="620" dirty="0"/>
          </a:p>
        </p:txBody>
      </p:sp>
      <p:sp>
        <p:nvSpPr>
          <p:cNvPr id="7" name="Text 4"/>
          <p:cNvSpPr txBox="1"/>
          <p:nvPr/>
        </p:nvSpPr>
        <p:spPr>
          <a:xfrm>
            <a:off x="475488" y="2889504"/>
            <a:ext cx="1380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EEFA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H/Corg ≤ 0,40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75488" y="3346704"/>
            <a:ext cx="1380744" cy="7315"/>
          </a:xfrm>
          <a:prstGeom prst="rect">
            <a:avLst/>
          </a:prstGeom>
          <a:solidFill>
            <a:srgbClr val="97DCC7">
              <a:alpha val="38000"/>
            </a:srgbClr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75488" y="3419856"/>
            <a:ext cx="138074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" spc="260" kern="0" dirty="0">
                <a:solidFill>
                  <a:srgbClr val="BED7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FECHADO</a:t>
            </a:r>
            <a:endParaRPr lang="en-US" sz="600" dirty="0"/>
          </a:p>
        </p:txBody>
      </p:sp>
      <p:sp>
        <p:nvSpPr>
          <p:cNvPr id="10" name="Text 7"/>
          <p:cNvSpPr txBox="1"/>
          <p:nvPr/>
        </p:nvSpPr>
        <p:spPr>
          <a:xfrm>
            <a:off x="475488" y="3566160"/>
            <a:ext cx="1380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97DC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permanência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75488" y="3950208"/>
            <a:ext cx="1380744" cy="7315"/>
          </a:xfrm>
          <a:prstGeom prst="rect">
            <a:avLst/>
          </a:prstGeom>
          <a:solidFill>
            <a:srgbClr val="97DCC7">
              <a:alpha val="38000"/>
            </a:srgbClr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75488" y="4023360"/>
            <a:ext cx="138074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" spc="260" kern="0" dirty="0">
                <a:solidFill>
                  <a:srgbClr val="97DC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DESTRAVA</a:t>
            </a:r>
            <a:endParaRPr lang="en-US" sz="600" dirty="0"/>
          </a:p>
        </p:txBody>
      </p:sp>
      <p:sp>
        <p:nvSpPr>
          <p:cNvPr id="13" name="Text 10"/>
          <p:cNvSpPr txBox="1"/>
          <p:nvPr/>
        </p:nvSpPr>
        <p:spPr>
          <a:xfrm>
            <a:off x="475488" y="4169664"/>
            <a:ext cx="1380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EEFA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Puro e EBC abertas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2212848" y="2505456"/>
            <a:ext cx="7315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7DC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M06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2212848" y="2706624"/>
            <a:ext cx="1417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spc="260" kern="0" dirty="0">
                <a:solidFill>
                  <a:srgbClr val="BED7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OPERABILIDADE</a:t>
            </a:r>
            <a:endParaRPr lang="en-US" sz="620" dirty="0"/>
          </a:p>
        </p:txBody>
      </p:sp>
      <p:sp>
        <p:nvSpPr>
          <p:cNvPr id="16" name="Text 13"/>
          <p:cNvSpPr txBox="1"/>
          <p:nvPr/>
        </p:nvSpPr>
        <p:spPr>
          <a:xfrm>
            <a:off x="2212848" y="2889504"/>
            <a:ext cx="1380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EEFA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leito não aglomera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2212848" y="3346704"/>
            <a:ext cx="1380744" cy="7315"/>
          </a:xfrm>
          <a:prstGeom prst="rect">
            <a:avLst/>
          </a:prstGeom>
          <a:solidFill>
            <a:srgbClr val="97DCC7">
              <a:alpha val="38000"/>
            </a:srgbClr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2212848" y="3419856"/>
            <a:ext cx="138074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" spc="260" kern="0" dirty="0">
                <a:solidFill>
                  <a:srgbClr val="BED7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FECHADO</a:t>
            </a:r>
            <a:endParaRPr lang="en-US" sz="600" dirty="0"/>
          </a:p>
        </p:txBody>
      </p:sp>
      <p:sp>
        <p:nvSpPr>
          <p:cNvPr id="19" name="Text 16"/>
          <p:cNvSpPr txBox="1"/>
          <p:nvPr/>
        </p:nvSpPr>
        <p:spPr>
          <a:xfrm>
            <a:off x="2212848" y="3566160"/>
            <a:ext cx="1380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97DC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potássio do coco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2212848" y="3950208"/>
            <a:ext cx="1380744" cy="7315"/>
          </a:xfrm>
          <a:prstGeom prst="rect">
            <a:avLst/>
          </a:prstGeom>
          <a:solidFill>
            <a:srgbClr val="97DCC7">
              <a:alpha val="38000"/>
            </a:srgbClr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212848" y="4023360"/>
            <a:ext cx="138074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" spc="260" kern="0" dirty="0">
                <a:solidFill>
                  <a:srgbClr val="97DC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DESTRAVA</a:t>
            </a:r>
            <a:endParaRPr lang="en-US" sz="600" dirty="0"/>
          </a:p>
        </p:txBody>
      </p:sp>
      <p:sp>
        <p:nvSpPr>
          <p:cNvPr id="22" name="Text 19"/>
          <p:cNvSpPr txBox="1"/>
          <p:nvPr/>
        </p:nvSpPr>
        <p:spPr>
          <a:xfrm>
            <a:off x="2212848" y="4169664"/>
            <a:ext cx="1380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EEFA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operação contínua</a:t>
            </a:r>
            <a:endParaRPr lang="en-US" sz="850" dirty="0"/>
          </a:p>
        </p:txBody>
      </p:sp>
      <p:sp>
        <p:nvSpPr>
          <p:cNvPr id="23" name="Text 20"/>
          <p:cNvSpPr txBox="1"/>
          <p:nvPr/>
        </p:nvSpPr>
        <p:spPr>
          <a:xfrm>
            <a:off x="3950208" y="2505456"/>
            <a:ext cx="7315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7DC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M09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3950208" y="2706624"/>
            <a:ext cx="1417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spc="260" kern="0" dirty="0">
                <a:solidFill>
                  <a:srgbClr val="BED7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INTEGRIDADE CLIMÁTICA</a:t>
            </a:r>
            <a:endParaRPr lang="en-US" sz="620" dirty="0"/>
          </a:p>
        </p:txBody>
      </p:sp>
      <p:sp>
        <p:nvSpPr>
          <p:cNvPr id="25" name="Text 22"/>
          <p:cNvSpPr txBox="1"/>
          <p:nvPr/>
        </p:nvSpPr>
        <p:spPr>
          <a:xfrm>
            <a:off x="3950208" y="2889504"/>
            <a:ext cx="1380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EEFA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CH₄ sob o teto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3950208" y="3346704"/>
            <a:ext cx="1380744" cy="7315"/>
          </a:xfrm>
          <a:prstGeom prst="rect">
            <a:avLst/>
          </a:prstGeom>
          <a:solidFill>
            <a:srgbClr val="97DCC7">
              <a:alpha val="38000"/>
            </a:srgbClr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3950208" y="3419856"/>
            <a:ext cx="138074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" spc="260" kern="0" dirty="0">
                <a:solidFill>
                  <a:srgbClr val="BED7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FECHADO</a:t>
            </a:r>
            <a:endParaRPr lang="en-US" sz="600" dirty="0"/>
          </a:p>
        </p:txBody>
      </p:sp>
      <p:sp>
        <p:nvSpPr>
          <p:cNvPr id="28" name="Text 25"/>
          <p:cNvSpPr txBox="1"/>
          <p:nvPr/>
        </p:nvSpPr>
        <p:spPr>
          <a:xfrm>
            <a:off x="3950208" y="3566160"/>
            <a:ext cx="1380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97DC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fugitivas e spec da areia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3950208" y="3950208"/>
            <a:ext cx="1380744" cy="7315"/>
          </a:xfrm>
          <a:prstGeom prst="rect">
            <a:avLst/>
          </a:prstGeom>
          <a:solidFill>
            <a:srgbClr val="97DCC7">
              <a:alpha val="38000"/>
            </a:srgbClr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3950208" y="4023360"/>
            <a:ext cx="138074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" spc="260" kern="0" dirty="0">
                <a:solidFill>
                  <a:srgbClr val="97DC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DESTRAVA</a:t>
            </a:r>
            <a:endParaRPr lang="en-US" sz="600" dirty="0"/>
          </a:p>
        </p:txBody>
      </p:sp>
      <p:sp>
        <p:nvSpPr>
          <p:cNvPr id="31" name="Text 28"/>
          <p:cNvSpPr txBox="1"/>
          <p:nvPr/>
        </p:nvSpPr>
        <p:spPr>
          <a:xfrm>
            <a:off x="3950208" y="4169664"/>
            <a:ext cx="1380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EEFA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crédito auditável</a:t>
            </a:r>
            <a:endParaRPr lang="en-US" sz="850" dirty="0"/>
          </a:p>
        </p:txBody>
      </p:sp>
      <p:sp>
        <p:nvSpPr>
          <p:cNvPr id="32" name="Text 29"/>
          <p:cNvSpPr txBox="1"/>
          <p:nvPr/>
        </p:nvSpPr>
        <p:spPr>
          <a:xfrm>
            <a:off x="5687568" y="2505456"/>
            <a:ext cx="7315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7DC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M12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5687568" y="2706624"/>
            <a:ext cx="1417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spc="260" kern="0" dirty="0">
                <a:solidFill>
                  <a:srgbClr val="BED7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MERCADO</a:t>
            </a:r>
            <a:endParaRPr lang="en-US" sz="620" dirty="0"/>
          </a:p>
        </p:txBody>
      </p:sp>
      <p:sp>
        <p:nvSpPr>
          <p:cNvPr id="34" name="Text 31"/>
          <p:cNvSpPr txBox="1"/>
          <p:nvPr/>
        </p:nvSpPr>
        <p:spPr>
          <a:xfrm>
            <a:off x="5687568" y="2889504"/>
            <a:ext cx="1380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EEFA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destinação assinada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5687568" y="3346704"/>
            <a:ext cx="1380744" cy="7315"/>
          </a:xfrm>
          <a:prstGeom prst="rect">
            <a:avLst/>
          </a:prstGeom>
          <a:solidFill>
            <a:srgbClr val="97DCC7">
              <a:alpha val="38000"/>
            </a:srgbClr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5687568" y="3419856"/>
            <a:ext cx="138074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" spc="260" kern="0" dirty="0">
                <a:solidFill>
                  <a:srgbClr val="BED7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FECHADO</a:t>
            </a:r>
            <a:endParaRPr lang="en-US" sz="600" dirty="0"/>
          </a:p>
        </p:txBody>
      </p:sp>
      <p:sp>
        <p:nvSpPr>
          <p:cNvPr id="37" name="Text 34"/>
          <p:cNvSpPr txBox="1"/>
          <p:nvPr/>
        </p:nvSpPr>
        <p:spPr>
          <a:xfrm>
            <a:off x="5687568" y="3566160"/>
            <a:ext cx="1380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97DC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feedstock e receita</a:t>
            </a:r>
            <a:endParaRPr lang="en-US" sz="850" dirty="0"/>
          </a:p>
        </p:txBody>
      </p:sp>
      <p:sp>
        <p:nvSpPr>
          <p:cNvPr id="38" name="Shape 35"/>
          <p:cNvSpPr/>
          <p:nvPr/>
        </p:nvSpPr>
        <p:spPr>
          <a:xfrm>
            <a:off x="5687568" y="3950208"/>
            <a:ext cx="1380744" cy="7315"/>
          </a:xfrm>
          <a:prstGeom prst="rect">
            <a:avLst/>
          </a:prstGeom>
          <a:solidFill>
            <a:srgbClr val="97DCC7">
              <a:alpha val="38000"/>
            </a:srgbClr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5687568" y="4023360"/>
            <a:ext cx="138074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" spc="260" kern="0" dirty="0">
                <a:solidFill>
                  <a:srgbClr val="97DC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DESTRAVA</a:t>
            </a:r>
            <a:endParaRPr lang="en-US" sz="600" dirty="0"/>
          </a:p>
        </p:txBody>
      </p:sp>
      <p:sp>
        <p:nvSpPr>
          <p:cNvPr id="40" name="Text 37"/>
          <p:cNvSpPr txBox="1"/>
          <p:nvPr/>
        </p:nvSpPr>
        <p:spPr>
          <a:xfrm>
            <a:off x="5687568" y="4169664"/>
            <a:ext cx="1380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EEFA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CAPEX do Módulo 1</a:t>
            </a:r>
            <a:endParaRPr lang="en-US" sz="850" dirty="0"/>
          </a:p>
        </p:txBody>
      </p:sp>
      <p:sp>
        <p:nvSpPr>
          <p:cNvPr id="41" name="Text 38"/>
          <p:cNvSpPr txBox="1"/>
          <p:nvPr/>
        </p:nvSpPr>
        <p:spPr>
          <a:xfrm>
            <a:off x="7424928" y="2505456"/>
            <a:ext cx="7315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7DC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M15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24928" y="2706624"/>
            <a:ext cx="1417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20" spc="260" kern="0" dirty="0">
                <a:solidFill>
                  <a:srgbClr val="BED7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VERIFICABILIDADE</a:t>
            </a:r>
            <a:endParaRPr lang="en-US" sz="620" dirty="0"/>
          </a:p>
        </p:txBody>
      </p:sp>
      <p:sp>
        <p:nvSpPr>
          <p:cNvPr id="43" name="Text 40"/>
          <p:cNvSpPr txBox="1"/>
          <p:nvPr/>
        </p:nvSpPr>
        <p:spPr>
          <a:xfrm>
            <a:off x="7424928" y="2889504"/>
            <a:ext cx="1380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EEFA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facility audit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7424928" y="3346704"/>
            <a:ext cx="1380744" cy="7315"/>
          </a:xfrm>
          <a:prstGeom prst="rect">
            <a:avLst/>
          </a:prstGeom>
          <a:solidFill>
            <a:srgbClr val="97DCC7">
              <a:alpha val="38000"/>
            </a:srgbClr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7424928" y="3419856"/>
            <a:ext cx="138074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" spc="260" kern="0" dirty="0">
                <a:solidFill>
                  <a:srgbClr val="BED7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FECHADO</a:t>
            </a:r>
            <a:endParaRPr lang="en-US" sz="600" dirty="0"/>
          </a:p>
        </p:txBody>
      </p:sp>
      <p:sp>
        <p:nvSpPr>
          <p:cNvPr id="46" name="Text 43"/>
          <p:cNvSpPr txBox="1"/>
          <p:nvPr/>
        </p:nvSpPr>
        <p:spPr>
          <a:xfrm>
            <a:off x="7424928" y="3566160"/>
            <a:ext cx="1380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97DC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MRV</a:t>
            </a:r>
            <a:endParaRPr lang="en-US" sz="850" dirty="0"/>
          </a:p>
        </p:txBody>
      </p:sp>
      <p:sp>
        <p:nvSpPr>
          <p:cNvPr id="47" name="Shape 44"/>
          <p:cNvSpPr/>
          <p:nvPr/>
        </p:nvSpPr>
        <p:spPr>
          <a:xfrm>
            <a:off x="7424928" y="3950208"/>
            <a:ext cx="1380744" cy="7315"/>
          </a:xfrm>
          <a:prstGeom prst="rect">
            <a:avLst/>
          </a:prstGeom>
          <a:solidFill>
            <a:srgbClr val="97DCC7">
              <a:alpha val="38000"/>
            </a:srgbClr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7424928" y="4023360"/>
            <a:ext cx="138074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" spc="260" kern="0" dirty="0">
                <a:solidFill>
                  <a:srgbClr val="97DC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DESTRAVA</a:t>
            </a:r>
            <a:endParaRPr lang="en-US" sz="600" dirty="0"/>
          </a:p>
        </p:txBody>
      </p:sp>
      <p:sp>
        <p:nvSpPr>
          <p:cNvPr id="49" name="Text 46"/>
          <p:cNvSpPr txBox="1"/>
          <p:nvPr/>
        </p:nvSpPr>
        <p:spPr>
          <a:xfrm>
            <a:off x="7424928" y="4169664"/>
            <a:ext cx="1380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850" dirty="0">
                <a:solidFill>
                  <a:srgbClr val="EEFA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primeira emissão</a:t>
            </a:r>
            <a:endParaRPr lang="en-US" sz="850" dirty="0"/>
          </a:p>
        </p:txBody>
      </p:sp>
      <p:sp>
        <p:nvSpPr>
          <p:cNvPr id="50" name="Text 47"/>
          <p:cNvSpPr txBox="1"/>
          <p:nvPr/>
        </p:nvSpPr>
        <p:spPr>
          <a:xfrm>
            <a:off x="457200" y="4773168"/>
            <a:ext cx="78638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spc="260" kern="0" dirty="0">
                <a:solidFill>
                  <a:srgbClr val="97DC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DENSIDADE DE CADA MEMBRANA CAI À MEDIDA QUE O RISCO FECHA — EM M15 A MATÉRIA ESTÁ RESOLVIDA</a:t>
            </a:r>
            <a:endParaRPr lang="en-US" sz="6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2743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FINANCIAMENTO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41248"/>
            <a:ext cx="5120640" cy="861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92"/>
              </a:lnSpc>
              <a:buNone/>
            </a:pPr>
            <a:r>
              <a:rPr lang="en-US" sz="3200" spc="-11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Não-dilutivo primeiro.</a:t>
            </a:r>
            <a:endParaRPr lang="en-US" sz="3200" dirty="0"/>
          </a:p>
          <a:p>
            <a:pPr indent="0" marL="0">
              <a:lnSpc>
                <a:spcPts val="3392"/>
              </a:lnSpc>
              <a:buNone/>
            </a:pPr>
            <a:r>
              <a:rPr lang="en-US" sz="3200" spc="-11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Equity com marco provado.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384048" y="2103120"/>
            <a:ext cx="1554480" cy="1386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400" spc="-200" kern="0" dirty="0">
                <a:solidFill>
                  <a:srgbClr val="175D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</a:t>
            </a:r>
            <a:endParaRPr lang="en-US" sz="8400" dirty="0"/>
          </a:p>
        </p:txBody>
      </p:sp>
      <p:sp>
        <p:nvSpPr>
          <p:cNvPr id="5" name="Text 3"/>
          <p:cNvSpPr txBox="1"/>
          <p:nvPr/>
        </p:nvSpPr>
        <p:spPr>
          <a:xfrm>
            <a:off x="512064" y="3584448"/>
            <a:ext cx="1417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SUBVENÇÃO FINEP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512064" y="3785616"/>
            <a:ext cx="17373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B8A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R$ 12.750.000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2029968" y="2670048"/>
            <a:ext cx="109728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spc="-20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2084832" y="3584448"/>
            <a:ext cx="14630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CONTRAPARTIDA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2084832" y="3785616"/>
            <a:ext cx="14630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7A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R$ 2.250.000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712464" y="2286000"/>
            <a:ext cx="7315" cy="1737360"/>
          </a:xfrm>
          <a:prstGeom prst="rect">
            <a:avLst/>
          </a:prstGeom>
          <a:solidFill>
            <a:srgbClr val="1F7370">
              <a:alpha val="45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968496" y="2395728"/>
            <a:ext cx="2194560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spc="-200" kern="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15,0</a:t>
            </a:r>
            <a:endParaRPr lang="en-US" sz="540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3401568"/>
            <a:ext cx="219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M · TOTAL DA POC</a:t>
            </a:r>
            <a:endParaRPr lang="en-US" sz="750" dirty="0"/>
          </a:p>
        </p:txBody>
      </p:sp>
      <p:sp>
        <p:nvSpPr>
          <p:cNvPr id="13" name="Text 11"/>
          <p:cNvSpPr txBox="1"/>
          <p:nvPr/>
        </p:nvSpPr>
        <p:spPr>
          <a:xfrm>
            <a:off x="4023360" y="3639312"/>
            <a:ext cx="109362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CAPEX</a:t>
            </a:r>
            <a:endParaRPr lang="en-US" sz="680" dirty="0"/>
          </a:p>
        </p:txBody>
      </p:sp>
      <p:sp>
        <p:nvSpPr>
          <p:cNvPr id="14" name="Text 12"/>
          <p:cNvSpPr txBox="1"/>
          <p:nvPr/>
        </p:nvSpPr>
        <p:spPr>
          <a:xfrm>
            <a:off x="5074920" y="3639312"/>
            <a:ext cx="10515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dirty="0">
                <a:solidFill>
                  <a:srgbClr val="7A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7,7 M</a:t>
            </a:r>
            <a:endParaRPr lang="en-US" sz="760" dirty="0"/>
          </a:p>
        </p:txBody>
      </p:sp>
      <p:sp>
        <p:nvSpPr>
          <p:cNvPr id="15" name="Text 13"/>
          <p:cNvSpPr txBox="1"/>
          <p:nvPr/>
        </p:nvSpPr>
        <p:spPr>
          <a:xfrm>
            <a:off x="4023360" y="3854196"/>
            <a:ext cx="109362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spc="260" kern="0" dirty="0">
                <a:solidFill>
                  <a:srgbClr val="5B8A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OPEX · 30 MESES</a:t>
            </a:r>
            <a:endParaRPr lang="en-US" sz="680" dirty="0"/>
          </a:p>
        </p:txBody>
      </p:sp>
      <p:sp>
        <p:nvSpPr>
          <p:cNvPr id="16" name="Text 14"/>
          <p:cNvSpPr txBox="1"/>
          <p:nvPr/>
        </p:nvSpPr>
        <p:spPr>
          <a:xfrm>
            <a:off x="5074920" y="3854196"/>
            <a:ext cx="10515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dirty="0">
                <a:solidFill>
                  <a:srgbClr val="7A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7,3 M</a:t>
            </a:r>
            <a:endParaRPr lang="en-US" sz="760" dirty="0"/>
          </a:p>
        </p:txBody>
      </p:sp>
      <p:sp>
        <p:nvSpPr>
          <p:cNvPr id="17" name="Text 15"/>
          <p:cNvSpPr txBox="1"/>
          <p:nvPr/>
        </p:nvSpPr>
        <p:spPr>
          <a:xfrm>
            <a:off x="6583680" y="1371600"/>
            <a:ext cx="2103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260" kern="0" dirty="0">
                <a:solidFill>
                  <a:srgbClr val="1F73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PRÓXIMOS 90 DIAS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583680" y="1627632"/>
            <a:ext cx="2103120" cy="7315"/>
          </a:xfrm>
          <a:prstGeom prst="rect">
            <a:avLst/>
          </a:prstGeom>
          <a:solidFill>
            <a:srgbClr val="1F7370">
              <a:alpha val="4000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83680" y="1719072"/>
            <a:ext cx="3657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F73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6583680" y="190195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95"/>
              </a:lnSpc>
              <a:buNone/>
            </a:pPr>
            <a:r>
              <a:rPr lang="en-US" sz="90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Finep Economia Circular protocolada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583680" y="2286000"/>
            <a:ext cx="2103120" cy="7315"/>
          </a:xfrm>
          <a:prstGeom prst="rect">
            <a:avLst/>
          </a:prstGeom>
          <a:solidFill>
            <a:srgbClr val="1F7370">
              <a:alpha val="4000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0" y="2377440"/>
            <a:ext cx="3657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F73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6583680" y="256032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95"/>
              </a:lnSpc>
              <a:buNone/>
            </a:pPr>
            <a:r>
              <a:rPr lang="en-US" sz="90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Contrato de destinação PepsiCo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583680" y="2944368"/>
            <a:ext cx="2103120" cy="7315"/>
          </a:xfrm>
          <a:prstGeom prst="rect">
            <a:avLst/>
          </a:prstGeom>
          <a:solidFill>
            <a:srgbClr val="1F7370">
              <a:alpha val="4000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583680" y="3035808"/>
            <a:ext cx="3657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1F73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6583680" y="3218688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95"/>
              </a:lnSpc>
              <a:buNone/>
            </a:pPr>
            <a:r>
              <a:rPr lang="en-US" sz="900" dirty="0">
                <a:solidFill>
                  <a:srgbClr val="1437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Fábrica de blocos parceira + seed de R$ 2–3 M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4809744"/>
            <a:ext cx="74980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spc="260" kern="0" dirty="0">
                <a:solidFill>
                  <a:srgbClr val="7AA8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VALORES [EST] COM PRECISÃO AACE CLASSE 4 (−30% / +50%) · VALORES [DOC] LIDOS DA PROPOSTA FINEP E DO PLANO DA POC</a:t>
            </a:r>
            <a:endParaRPr lang="en-US" sz="6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POC Biochar Petrolina — CAPEX e OPEX</dc:title>
  <dc:subject>PptxGenJS Presentation</dc:subject>
  <dc:creator>RECICLAR · EPA</dc:creator>
  <cp:lastModifiedBy>RECICLAR · EPA</cp:lastModifiedBy>
  <cp:revision>1</cp:revision>
  <dcterms:created xsi:type="dcterms:W3CDTF">2026-08-31T10:19:22Z</dcterms:created>
  <dcterms:modified xsi:type="dcterms:W3CDTF">2026-08-31T10:19:22Z</dcterms:modified>
</cp:coreProperties>
</file>