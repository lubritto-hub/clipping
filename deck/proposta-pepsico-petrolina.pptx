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 biomassa de coco já existe na unidade; a proposta é uma rota tecnológica que combina biochar, energia recuperável e carbono durável. Conceito para discussão, a configuração é a validar.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Entra biomassa de coco, acontece conversão térmica com oxigênio limitado, sai biochar. Os gases do processo voltam como calor. Três saídas: produto físico, eficiência e remoção de carbono.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eficiência vem da integração: matéria-prima local, energia em circuito e configuração sob medida. A imagem é ilustrativa, a tecnologia ainda será selecionada.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valor não vem de uma fonte só: fluxo atual, biochar, energia e carbono. O desenho mais eficiente captura o conjunto, e cada alavanca é validada com dados reais da unidade.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ciclo: a planta captura CO₂, a biomassa vira casca, a carbonização fixa o carbono no biochar e o biochar devolve esse carbono ao solo, onde a planta recomeça. Duas saídas laterais: energia recuperável da carbonização e certificado de CO₂ do biochar. As emissões do ciclo são medidas e descontadas.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dimensionamento começa pelo fluxo real: volume e sazonalidade, umidade e propriedades, destinação e economia atual, espaço e energia. A saída é escala, tecnologia, produto e economia.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Pedido único e objetivo: agendar a sessão técnica com Operações e Sustentabilidade. Com dados essenciais e uma amostra representativa, a saída é um case pronto para decisão.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gif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gif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5.png"/><Relationship Id="rId7" Type="http://schemas.openxmlformats.org/officeDocument/2006/relationships/image" Target="../media/image-7-5.png"/><Relationship Id="rId8" Type="http://schemas.openxmlformats.org/officeDocument/2006/relationships/image" Target="../media/image-7-5.png"/><Relationship Id="rId9" Type="http://schemas.openxmlformats.org/officeDocument/2006/relationships/image" Target="../media/image-7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/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DISCUSSÃO,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58368" y="1078992"/>
            <a:ext cx="1737360" cy="292608"/>
          </a:xfrm>
          <a:prstGeom prst="roundRect">
            <a:avLst>
              <a:gd name="adj" fmla="val 156250"/>
            </a:avLst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0789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40" kern="0" dirty="0">
                <a:solidFill>
                  <a:srgbClr val="0C0C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PETROLINA / PE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45920"/>
            <a:ext cx="6035040" cy="150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936"/>
              </a:lnSpc>
              <a:buNone/>
            </a:pPr>
            <a:r>
              <a:rPr lang="en-US" sz="56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novo ativo</a:t>
            </a:r>
            <a:endParaRPr lang="en-US" sz="5600" dirty="0"/>
          </a:p>
          <a:p>
            <a:pPr indent="0" marL="0">
              <a:lnSpc>
                <a:spcPts val="5936"/>
              </a:lnSpc>
              <a:buNone/>
            </a:pPr>
            <a:r>
              <a:rPr lang="en-US" sz="56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industrial.</a:t>
            </a:r>
            <a:endParaRPr lang="en-US" sz="56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3310128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3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rota tecnológica para combinar biochar, energia recuperável e carbono durável, desenhada a partir da realidade da unidade.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4590288"/>
            <a:ext cx="4572000" cy="10058"/>
          </a:xfrm>
          <a:prstGeom prst="rect">
            <a:avLst/>
          </a:prstGeom>
          <a:solidFill>
            <a:srgbClr val="AEB7B9">
              <a:alpha val="42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47731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COCO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2121408" y="47731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TECNOLOGIA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3584448" y="47731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58704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RECICLAR / EPA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/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DISCUSSÃO,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969264"/>
            <a:ext cx="5577840" cy="1076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4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Pirólise</a:t>
            </a:r>
            <a:endParaRPr lang="en-US" sz="4000" dirty="0"/>
          </a:p>
          <a:p>
            <a:pPr indent="0" marL="0">
              <a:lnSpc>
                <a:spcPts val="424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 valor.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212848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processo térmico converte a biomassa de coco em um sólido rico em carbono e permite recuperar parte da energia dos gases.</a:t>
            </a:r>
            <a:endParaRPr lang="en-US" sz="1200" dirty="0"/>
          </a:p>
        </p:txBody>
      </p:sp>
      <p:pic>
        <p:nvPicPr>
          <p:cNvPr id="7" name="Image 0" descr="/home/user/clipping/design-system/.preview/deck-assets/coco-biochar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969264"/>
            <a:ext cx="5221224" cy="293522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09360" y="969264"/>
            <a:ext cx="5221224" cy="10973"/>
          </a:xfrm>
          <a:prstGeom prst="rect">
            <a:avLst/>
          </a:prstGeom>
          <a:solidFill>
            <a:srgbClr val="AEB7B9">
              <a:alpha val="48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6309360" y="3893515"/>
            <a:ext cx="5221224" cy="10973"/>
          </a:xfrm>
          <a:prstGeom prst="rect">
            <a:avLst/>
          </a:prstGeom>
          <a:solidFill>
            <a:srgbClr val="AEB7B9">
              <a:alpha val="48000"/>
            </a:srgbClr>
          </a:solidFill>
          <a:ln/>
        </p:spPr>
      </p:sp>
      <p:sp>
        <p:nvSpPr>
          <p:cNvPr id="10" name="Shape 7"/>
          <p:cNvSpPr/>
          <p:nvPr/>
        </p:nvSpPr>
        <p:spPr>
          <a:xfrm>
            <a:off x="6309360" y="969264"/>
            <a:ext cx="10973" cy="2935224"/>
          </a:xfrm>
          <a:prstGeom prst="rect">
            <a:avLst/>
          </a:prstGeom>
          <a:solidFill>
            <a:srgbClr val="AEB7B9">
              <a:alpha val="48000"/>
            </a:srgbClr>
          </a:solidFill>
          <a:ln/>
        </p:spPr>
      </p:sp>
      <p:sp>
        <p:nvSpPr>
          <p:cNvPr id="11" name="Shape 8"/>
          <p:cNvSpPr/>
          <p:nvPr/>
        </p:nvSpPr>
        <p:spPr>
          <a:xfrm>
            <a:off x="11519611" y="969264"/>
            <a:ext cx="10973" cy="2935224"/>
          </a:xfrm>
          <a:prstGeom prst="rect">
            <a:avLst/>
          </a:prstGeom>
          <a:solidFill>
            <a:srgbClr val="AEB7B9">
              <a:alpha val="48000"/>
            </a:srgbClr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309360" y="3986784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CASCA DE COCO  →  BIOCHAR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658368" y="4315968"/>
            <a:ext cx="3401568" cy="1591056"/>
          </a:xfrm>
          <a:prstGeom prst="roundRect">
            <a:avLst>
              <a:gd name="adj" fmla="val 3448"/>
            </a:avLst>
          </a:prstGeom>
          <a:solidFill>
            <a:srgbClr val="17181A"/>
          </a:solidFill>
          <a:ln w="12700">
            <a:solidFill>
              <a:srgbClr val="17181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59536" y="4462272"/>
            <a:ext cx="548640" cy="548640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15" name="Image 1" descr="/home/user/clipping/design-system/.preview/deck-assets/ico/pilha-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4585716"/>
            <a:ext cx="301752" cy="30175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591056" y="46268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914400" y="5084064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Biomassa de coco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914400" y="5376672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(resíduo)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914400" y="5614416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matéria-prima local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4370832" y="4315968"/>
            <a:ext cx="3401568" cy="1591056"/>
          </a:xfrm>
          <a:prstGeom prst="roundRect">
            <a:avLst>
              <a:gd name="adj" fmla="val 3448"/>
            </a:avLst>
          </a:prstGeom>
          <a:solidFill>
            <a:srgbClr val="17181A"/>
          </a:solidFill>
          <a:ln w="12700">
            <a:solidFill>
              <a:srgbClr val="17181A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572000" y="4462272"/>
            <a:ext cx="548640" cy="548640"/>
          </a:xfrm>
          <a:prstGeom prst="ellipse">
            <a:avLst/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22" name="Image 2" descr="/home/user/clipping/design-system/.preview/deck-assets/ico/reator-ac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5444" y="4585716"/>
            <a:ext cx="301752" cy="30175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303520" y="46268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24" name="Text 19"/>
          <p:cNvSpPr txBox="1"/>
          <p:nvPr/>
        </p:nvSpPr>
        <p:spPr>
          <a:xfrm>
            <a:off x="4626864" y="5084064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Conversão térmica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4626864" y="5376672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(autossustentada)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4626864" y="5614416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calor + oxigênio limitado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083296" y="4315968"/>
            <a:ext cx="3401568" cy="1591056"/>
          </a:xfrm>
          <a:prstGeom prst="roundRect">
            <a:avLst>
              <a:gd name="adj" fmla="val 3448"/>
            </a:avLst>
          </a:prstGeom>
          <a:solidFill>
            <a:srgbClr val="17181A"/>
          </a:solidFill>
          <a:ln w="12700">
            <a:solidFill>
              <a:srgbClr val="17181A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8284464" y="4462272"/>
            <a:ext cx="548640" cy="548640"/>
          </a:xfrm>
          <a:prstGeom prst="ellipse">
            <a:avLst/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pic>
        <p:nvPicPr>
          <p:cNvPr id="29" name="Image 3" descr="/home/user/clipping/design-system/.preview/deck-assets/ico/char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7908" y="4585716"/>
            <a:ext cx="301752" cy="301752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9015984" y="46268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31" name="Text 25"/>
          <p:cNvSpPr txBox="1"/>
          <p:nvPr/>
        </p:nvSpPr>
        <p:spPr>
          <a:xfrm>
            <a:off x="8339328" y="5084064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</a:t>
            </a:r>
            <a:endParaRPr lang="en-US" sz="1500" dirty="0"/>
          </a:p>
        </p:txBody>
      </p:sp>
      <p:sp>
        <p:nvSpPr>
          <p:cNvPr id="32" name="Text 26"/>
          <p:cNvSpPr txBox="1"/>
          <p:nvPr/>
        </p:nvSpPr>
        <p:spPr>
          <a:xfrm>
            <a:off x="8339328" y="5376672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(gera crédito)</a:t>
            </a:r>
            <a:endParaRPr lang="en-US" sz="1200" dirty="0"/>
          </a:p>
        </p:txBody>
      </p:sp>
      <p:sp>
        <p:nvSpPr>
          <p:cNvPr id="33" name="Text 27"/>
          <p:cNvSpPr txBox="1"/>
          <p:nvPr/>
        </p:nvSpPr>
        <p:spPr>
          <a:xfrm>
            <a:off x="8339328" y="5614416"/>
            <a:ext cx="28895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rico em carbono</a:t>
            </a:r>
            <a:endParaRPr lang="en-US" sz="1100" dirty="0"/>
          </a:p>
        </p:txBody>
      </p:sp>
      <p:sp>
        <p:nvSpPr>
          <p:cNvPr id="34" name="Shape 28"/>
          <p:cNvSpPr/>
          <p:nvPr/>
        </p:nvSpPr>
        <p:spPr>
          <a:xfrm>
            <a:off x="658368" y="6144768"/>
            <a:ext cx="10872216" cy="10058"/>
          </a:xfrm>
          <a:prstGeom prst="rect">
            <a:avLst/>
          </a:prstGeom>
          <a:solidFill>
            <a:srgbClr val="AEB7B9">
              <a:alpha val="42000"/>
            </a:srgbClr>
          </a:solidFill>
          <a:ln/>
        </p:spPr>
      </p:sp>
      <p:pic>
        <p:nvPicPr>
          <p:cNvPr id="35" name="Image 4" descr="/home/user/clipping/design-system/.preview/deck-assets/ico/gases-aci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6254496"/>
            <a:ext cx="256032" cy="256032"/>
          </a:xfrm>
          <a:prstGeom prst="rect">
            <a:avLst/>
          </a:prstGeom>
        </p:spPr>
      </p:pic>
      <p:sp>
        <p:nvSpPr>
          <p:cNvPr id="36" name="Text 29"/>
          <p:cNvSpPr txBox="1"/>
          <p:nvPr/>
        </p:nvSpPr>
        <p:spPr>
          <a:xfrm>
            <a:off x="1024128" y="633679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GASES DO PROCESSO  →  CALOR / ENERGIA RECUPERÁVEL</a:t>
            </a:r>
            <a:endParaRPr lang="en-US" sz="900" dirty="0"/>
          </a:p>
        </p:txBody>
      </p:sp>
      <p:pic>
        <p:nvPicPr>
          <p:cNvPr id="37" name="Image 5" descr="/home/user/clipping/design-system/.preview/deck-assets/ico/bloco-aci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6254496"/>
            <a:ext cx="237744" cy="237744"/>
          </a:xfrm>
          <a:prstGeom prst="rect">
            <a:avLst/>
          </a:prstGeom>
        </p:spPr>
      </p:pic>
      <p:sp>
        <p:nvSpPr>
          <p:cNvPr id="38" name="Text 30"/>
          <p:cNvSpPr txBox="1"/>
          <p:nvPr/>
        </p:nvSpPr>
        <p:spPr>
          <a:xfrm>
            <a:off x="6647688" y="6336792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 FÍSICO</a:t>
            </a:r>
            <a:endParaRPr lang="en-US" sz="750" dirty="0"/>
          </a:p>
        </p:txBody>
      </p:sp>
      <p:pic>
        <p:nvPicPr>
          <p:cNvPr id="39" name="Image 6" descr="/home/user/clipping/design-system/.preview/deck-assets/ico/calor-aci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0728" y="6254496"/>
            <a:ext cx="237744" cy="237744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8403336" y="6336792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EFICIÊNCIA</a:t>
            </a:r>
            <a:endParaRPr lang="en-US" sz="750" dirty="0"/>
          </a:p>
        </p:txBody>
      </p:sp>
      <p:pic>
        <p:nvPicPr>
          <p:cNvPr id="41" name="Image 7" descr="/home/user/clipping/design-system/.preview/deck-assets/ico/removal-aci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66376" y="6254496"/>
            <a:ext cx="237744" cy="237744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10158984" y="6336792"/>
            <a:ext cx="1627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REMOÇÃO DE CARBONO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/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DISCUSSÃO,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6437376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CONFIGURAÇÃO ILUSTRATIVA, TECNOLOGIA A SELECIONAR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5394960" y="932688"/>
            <a:ext cx="6126480" cy="1023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28"/>
              </a:lnSpc>
              <a:buNone/>
            </a:pPr>
            <a:r>
              <a:rPr lang="en-US" sz="38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Eficiência</a:t>
            </a:r>
            <a:endParaRPr lang="en-US" sz="3800" dirty="0"/>
          </a:p>
          <a:p>
            <a:pPr indent="0" marL="0">
              <a:lnSpc>
                <a:spcPts val="4028"/>
              </a:lnSpc>
              <a:buNone/>
            </a:pPr>
            <a:r>
              <a:rPr lang="en-US" sz="38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pela integração.</a:t>
            </a:r>
            <a:endParaRPr lang="en-US" sz="3800" dirty="0"/>
          </a:p>
        </p:txBody>
      </p:sp>
      <p:pic>
        <p:nvPicPr>
          <p:cNvPr id="7" name="Image 0" descr="/home/user/clipping/design-system/.preview/deck-assets/ico/pilha-ac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304288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5797296" y="231343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272784" y="2286000"/>
            <a:ext cx="5248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Matéria-prima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6272784" y="261518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sistema parte do fluxo já gerado na unidade, reduzindo etapas de manejo, logística e disposição.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0" y="3182112"/>
            <a:ext cx="6126480" cy="10058"/>
          </a:xfrm>
          <a:prstGeom prst="rect">
            <a:avLst/>
          </a:prstGeom>
          <a:solidFill>
            <a:srgbClr val="AEB7B9">
              <a:alpha val="30000"/>
            </a:srgbClr>
          </a:solidFill>
          <a:ln/>
        </p:spPr>
      </p:sp>
      <p:pic>
        <p:nvPicPr>
          <p:cNvPr id="12" name="Image 1" descr="/home/user/clipping/design-system/.preview/deck-assets/ico/gases-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3346704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797296" y="335584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6272784" y="3328416"/>
            <a:ext cx="5248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em circuito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6272784" y="365760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gases do processo podem retornar como calor, elevando a eficiência e reduzindo demanda externa.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394960" y="4224528"/>
            <a:ext cx="6126480" cy="10058"/>
          </a:xfrm>
          <a:prstGeom prst="rect">
            <a:avLst/>
          </a:prstGeom>
          <a:solidFill>
            <a:srgbClr val="AEB7B9">
              <a:alpha val="30000"/>
            </a:srgbClr>
          </a:solidFill>
          <a:ln/>
        </p:spPr>
      </p:sp>
      <p:pic>
        <p:nvPicPr>
          <p:cNvPr id="17" name="Image 2" descr="/home/user/clipping/design-system/.preview/deck-assets/ico/unidade-ac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4389120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5797296" y="439826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6272784" y="4370832"/>
            <a:ext cx="5248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Configuração sob demanda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6272784" y="470001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15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Preparo e tecnologia se adequam à escala, umidade, granulometria e rotina operacional de Petrolina.</a:t>
            </a:r>
            <a:endParaRPr lang="en-US" sz="1150" dirty="0"/>
          </a:p>
        </p:txBody>
      </p:sp>
      <p:sp>
        <p:nvSpPr>
          <p:cNvPr id="21" name="Text 16"/>
          <p:cNvSpPr txBox="1"/>
          <p:nvPr/>
        </p:nvSpPr>
        <p:spPr>
          <a:xfrm>
            <a:off x="5394960" y="546811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EIXOS DE ESPECIFICAÇÃO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5394960" y="5669280"/>
            <a:ext cx="6126480" cy="10058"/>
          </a:xfrm>
          <a:prstGeom prst="rect">
            <a:avLst/>
          </a:prstGeom>
          <a:solidFill>
            <a:srgbClr val="AEB7B9">
              <a:alpha val="60000"/>
            </a:srgbClr>
          </a:solidFill>
          <a:ln/>
        </p:spPr>
      </p:sp>
      <p:sp>
        <p:nvSpPr>
          <p:cNvPr id="23" name="Text 18"/>
          <p:cNvSpPr txBox="1"/>
          <p:nvPr/>
        </p:nvSpPr>
        <p:spPr>
          <a:xfrm>
            <a:off x="5394960" y="57607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</a:t>
            </a:r>
            <a:endParaRPr lang="en-US" sz="850" dirty="0"/>
          </a:p>
        </p:txBody>
      </p:sp>
      <p:sp>
        <p:nvSpPr>
          <p:cNvPr id="24" name="Text 19"/>
          <p:cNvSpPr txBox="1"/>
          <p:nvPr/>
        </p:nvSpPr>
        <p:spPr>
          <a:xfrm>
            <a:off x="7461504" y="57607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PREPARO</a:t>
            </a:r>
            <a:endParaRPr lang="en-US" sz="850" dirty="0"/>
          </a:p>
        </p:txBody>
      </p:sp>
      <p:sp>
        <p:nvSpPr>
          <p:cNvPr id="25" name="Text 20"/>
          <p:cNvSpPr txBox="1"/>
          <p:nvPr/>
        </p:nvSpPr>
        <p:spPr>
          <a:xfrm>
            <a:off x="9528048" y="576072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RECUPERAÇÃO DE CALOR</a:t>
            </a:r>
            <a:endParaRPr lang="en-US" sz="850" dirty="0"/>
          </a:p>
        </p:txBody>
      </p:sp>
      <p:sp>
        <p:nvSpPr>
          <p:cNvPr id="26" name="Text 21"/>
          <p:cNvSpPr txBox="1"/>
          <p:nvPr/>
        </p:nvSpPr>
        <p:spPr>
          <a:xfrm>
            <a:off x="5394960" y="601675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DE PROCESSO</a:t>
            </a:r>
            <a:endParaRPr lang="en-US" sz="850" dirty="0"/>
          </a:p>
        </p:txBody>
      </p:sp>
      <p:sp>
        <p:nvSpPr>
          <p:cNvPr id="27" name="Text 22"/>
          <p:cNvSpPr txBox="1"/>
          <p:nvPr/>
        </p:nvSpPr>
        <p:spPr>
          <a:xfrm>
            <a:off x="7461504" y="601675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MANUTENÇÃO</a:t>
            </a:r>
            <a:endParaRPr lang="en-US" sz="850" dirty="0"/>
          </a:p>
        </p:txBody>
      </p:sp>
      <p:sp>
        <p:nvSpPr>
          <p:cNvPr id="28" name="Text 23"/>
          <p:cNvSpPr txBox="1"/>
          <p:nvPr/>
        </p:nvSpPr>
        <p:spPr>
          <a:xfrm>
            <a:off x="9528048" y="6016752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SEGURANÇA</a:t>
            </a:r>
            <a:endParaRPr lang="en-US" sz="850" dirty="0"/>
          </a:p>
        </p:txBody>
      </p:sp>
      <p:sp>
        <p:nvSpPr>
          <p:cNvPr id="29" name="Shape 24"/>
          <p:cNvSpPr/>
          <p:nvPr/>
        </p:nvSpPr>
        <p:spPr>
          <a:xfrm>
            <a:off x="5394960" y="6309360"/>
            <a:ext cx="6126480" cy="457200"/>
          </a:xfrm>
          <a:prstGeom prst="roundRect">
            <a:avLst>
              <a:gd name="adj" fmla="val 12000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5614416" y="630936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-2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uma máquina isolada. É um sistema industrial.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/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DISCUSSÃO,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969264"/>
            <a:ext cx="7315200" cy="1076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40"/>
              </a:lnSpc>
              <a:buNone/>
            </a:pPr>
            <a:r>
              <a:rPr lang="en-US" sz="4000" b="1" spc="-12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alavancas</a:t>
            </a:r>
            <a:endParaRPr lang="en-US" sz="4000" dirty="0"/>
          </a:p>
          <a:p>
            <a:pPr indent="0" marL="0">
              <a:lnSpc>
                <a:spcPts val="4240"/>
              </a:lnSpc>
              <a:buNone/>
            </a:pPr>
            <a:r>
              <a:rPr lang="en-US" sz="4000" b="1" spc="-12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valor.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231136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atratividade econômica aumenta quando a solução soma ganhos operacionais, produto, energia e carbono.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58368" y="3072384"/>
            <a:ext cx="2542032" cy="1499616"/>
          </a:xfrm>
          <a:prstGeom prst="roundRect">
            <a:avLst>
              <a:gd name="adj" fmla="val 3659"/>
            </a:avLst>
          </a:prstGeom>
          <a:solidFill>
            <a:srgbClr val="F4F2EC"/>
          </a:solidFill>
          <a:ln w="12700">
            <a:solidFill>
              <a:srgbClr val="F4F2EC"/>
            </a:solidFill>
            <a:prstDash val="solid"/>
          </a:ln>
        </p:spPr>
      </p:sp>
      <p:pic>
        <p:nvPicPr>
          <p:cNvPr id="8" name="Image 0" descr="/home/user/clipping/design-system/.preview/deck-assets/ico/pilha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3291840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98448" y="33009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371246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atual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4059936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evitado ou valor preservado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419856" y="3072384"/>
            <a:ext cx="2542032" cy="1499616"/>
          </a:xfrm>
          <a:prstGeom prst="roundRect">
            <a:avLst>
              <a:gd name="adj" fmla="val 3659"/>
            </a:avLst>
          </a:prstGeom>
          <a:solidFill>
            <a:srgbClr val="F4F2EC"/>
          </a:solidFill>
          <a:ln w="12700">
            <a:solidFill>
              <a:srgbClr val="F4F2EC"/>
            </a:solidFill>
            <a:prstDash val="solid"/>
          </a:ln>
        </p:spPr>
      </p:sp>
      <p:pic>
        <p:nvPicPr>
          <p:cNvPr id="13" name="Image 1" descr="/home/user/clipping/design-system/.preview/deck-assets/ico/char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329184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059936" y="33009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3657600" y="371246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3657600" y="4059936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receita e rota de aplicação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181344" y="3072384"/>
            <a:ext cx="2542032" cy="1499616"/>
          </a:xfrm>
          <a:prstGeom prst="roundRect">
            <a:avLst>
              <a:gd name="adj" fmla="val 3659"/>
            </a:avLst>
          </a:prstGeom>
          <a:solidFill>
            <a:srgbClr val="F4F2EC"/>
          </a:solidFill>
          <a:ln w="12700">
            <a:solidFill>
              <a:srgbClr val="F4F2EC"/>
            </a:solidFill>
            <a:prstDash val="solid"/>
          </a:ln>
        </p:spPr>
      </p:sp>
      <p:pic>
        <p:nvPicPr>
          <p:cNvPr id="18" name="Image 2" descr="/home/user/clipping/design-system/.preview/deck-assets/ico/calor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088" y="3291840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6821424" y="33009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6419088" y="371246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6419088" y="4059936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 e eficiência térmica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8942832" y="3072384"/>
            <a:ext cx="2542032" cy="1499616"/>
          </a:xfrm>
          <a:prstGeom prst="roundRect">
            <a:avLst>
              <a:gd name="adj" fmla="val 3659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pic>
        <p:nvPicPr>
          <p:cNvPr id="23" name="Image 3" descr="/home/user/clipping/design-system/.preview/deck-assets/ico/removal-aci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80576" y="3291840"/>
            <a:ext cx="274320" cy="2743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9582912" y="3300984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9180576" y="3712464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4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Carbono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9180576" y="4059936"/>
            <a:ext cx="20665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remoção líquida certificável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658368" y="484632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ROBUSTEZ ECONÔMICA</a:t>
            </a:r>
            <a:endParaRPr lang="en-US" sz="850" dirty="0"/>
          </a:p>
        </p:txBody>
      </p:sp>
      <p:sp>
        <p:nvSpPr>
          <p:cNvPr id="28" name="Text 22"/>
          <p:cNvSpPr txBox="1"/>
          <p:nvPr/>
        </p:nvSpPr>
        <p:spPr>
          <a:xfrm>
            <a:off x="658368" y="5084064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valor não precisa vir de uma única fonte. O desenho mais eficiente captura o conjunto, e valida cada alavanca com dados reais.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7863840" y="4791456"/>
            <a:ext cx="3666744" cy="1005840"/>
          </a:xfrm>
          <a:prstGeom prst="roundRect">
            <a:avLst>
              <a:gd name="adj" fmla="val 5455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8101584" y="4791456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b="1" spc="-3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economia do projeto é resultado da integração.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/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DISCUSSÃO,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932688"/>
            <a:ext cx="4937760" cy="1023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28"/>
              </a:lnSpc>
              <a:buNone/>
            </a:pPr>
            <a:r>
              <a:rPr lang="en-US" sz="38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carbono fecha</a:t>
            </a:r>
            <a:endParaRPr lang="en-US" sz="3800" dirty="0"/>
          </a:p>
          <a:p>
            <a:pPr indent="0" marL="0">
              <a:lnSpc>
                <a:spcPts val="4028"/>
              </a:lnSpc>
              <a:buNone/>
            </a:pPr>
            <a:r>
              <a:rPr lang="en-US" sz="38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ciclo.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969264"/>
            <a:ext cx="5212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biomassa capturou CO₂ durante o crescimento. A pirólise estabiliza uma fração desse carbono no biochar, e o produto devolve esse carbono ao solo em forma estável.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309360" y="1883664"/>
            <a:ext cx="5212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EMISSÕES DO CICLO SÃO MEDIDAS E DESCONTADAS.</a:t>
            </a:r>
            <a:endParaRPr lang="en-US" sz="850" dirty="0"/>
          </a:p>
        </p:txBody>
      </p:sp>
      <p:pic>
        <p:nvPicPr>
          <p:cNvPr id="8" name="Image 0" descr="/home/user/clipping/design-system/.preview/deck-assets/ciclo.gi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249424"/>
            <a:ext cx="10872216" cy="42062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3108960" y="2212848"/>
            <a:ext cx="5943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CARBONO VOLTA AO SOLO E À PLANTA</a:t>
            </a:r>
            <a:endParaRPr lang="en-US" sz="800" dirty="0"/>
          </a:p>
        </p:txBody>
      </p:sp>
      <p:pic>
        <p:nvPicPr>
          <p:cNvPr id="10" name="Image 1" descr="/home/user/clipping/design-system/.preview/deck-assets/ico/muda-ste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2144" y="3803904"/>
            <a:ext cx="475488" cy="47548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46888" y="30540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Fotossíntese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2450592" y="392277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CO₂</a:t>
            </a:r>
            <a:endParaRPr lang="en-US" sz="1100" dirty="0"/>
          </a:p>
        </p:txBody>
      </p:sp>
      <p:pic>
        <p:nvPicPr>
          <p:cNvPr id="13" name="Image 2" descr="/home/user/clipping/design-system/.preview/deck-assets/ico/coco-stee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0" y="3803904"/>
            <a:ext cx="475488" cy="47548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575304" y="30540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Biomassa de coco</a:t>
            </a:r>
            <a:endParaRPr lang="en-US" sz="1300" dirty="0"/>
          </a:p>
        </p:txBody>
      </p:sp>
      <p:pic>
        <p:nvPicPr>
          <p:cNvPr id="15" name="Image 3" descr="/home/user/clipping/design-system/.preview/deck-assets/ico/reator-ste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3803904"/>
            <a:ext cx="475488" cy="475488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6044184" y="30540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spc="-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Carbonização</a:t>
            </a:r>
            <a:endParaRPr lang="en-US" sz="1300" dirty="0"/>
          </a:p>
        </p:txBody>
      </p:sp>
      <p:pic>
        <p:nvPicPr>
          <p:cNvPr id="17" name="Image 4" descr="/home/user/clipping/design-system/.preview/deck-assets/ico/char-aci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0" y="3803904"/>
            <a:ext cx="475488" cy="475488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513064" y="305409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300" b="1" spc="-2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Biochar</a:t>
            </a:r>
            <a:endParaRPr lang="en-US" sz="1300" dirty="0"/>
          </a:p>
        </p:txBody>
      </p:sp>
      <p:pic>
        <p:nvPicPr>
          <p:cNvPr id="19" name="Image 5" descr="/home/user/clipping/design-system/.preview/deck-assets/ico/calor-aci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13448" y="5312664"/>
            <a:ext cx="347472" cy="347472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6272784" y="592531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</a:t>
            </a:r>
            <a:endParaRPr lang="en-US" sz="750" dirty="0"/>
          </a:p>
        </p:txBody>
      </p:sp>
      <p:sp>
        <p:nvSpPr>
          <p:cNvPr id="21" name="Text 13"/>
          <p:cNvSpPr txBox="1"/>
          <p:nvPr/>
        </p:nvSpPr>
        <p:spPr>
          <a:xfrm>
            <a:off x="5907024" y="61081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-2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Energia recuperável</a:t>
            </a:r>
            <a:endParaRPr lang="en-US" sz="1200" dirty="0"/>
          </a:p>
        </p:txBody>
      </p:sp>
      <p:pic>
        <p:nvPicPr>
          <p:cNvPr id="22" name="Image 6" descr="/home/user/clipping/design-system/.preview/deck-assets/ico/registro-aci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82328" y="5312664"/>
            <a:ext cx="347472" cy="347472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8741664" y="592531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</a:t>
            </a:r>
            <a:endParaRPr lang="en-US" sz="750" dirty="0"/>
          </a:p>
        </p:txBody>
      </p:sp>
      <p:sp>
        <p:nvSpPr>
          <p:cNvPr id="24" name="Text 15"/>
          <p:cNvSpPr txBox="1"/>
          <p:nvPr/>
        </p:nvSpPr>
        <p:spPr>
          <a:xfrm>
            <a:off x="8375904" y="610819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spc="-20" kern="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Certificado de CO₂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/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DISCUSSÃO,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969264"/>
            <a:ext cx="5669280" cy="1076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40"/>
              </a:lnSpc>
              <a:buNone/>
            </a:pPr>
            <a:r>
              <a:rPr lang="en-US" sz="4000" b="1" spc="-12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dados</a:t>
            </a:r>
            <a:endParaRPr lang="en-US" sz="4000" dirty="0"/>
          </a:p>
          <a:p>
            <a:pPr indent="0" marL="0">
              <a:lnSpc>
                <a:spcPts val="4240"/>
              </a:lnSpc>
              <a:buNone/>
            </a:pPr>
            <a:r>
              <a:rPr lang="en-US" sz="4000" b="1" spc="-12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modelar.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13969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modelar o projeto, o primeiro dado é a disponibilidade de biomassa na unidade: quanto, com que regularidade e em que condição.</a:t>
            </a:r>
            <a:endParaRPr lang="en-US" sz="1200" dirty="0"/>
          </a:p>
        </p:txBody>
      </p:sp>
      <p:pic>
        <p:nvPicPr>
          <p:cNvPr id="7" name="Image 0" descr="/home/user/clipping/design-system/.preview/deck-assets/ico/pilha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2779776"/>
            <a:ext cx="274320" cy="2743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278892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481328" y="276148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Disponibilidade de biomassa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481328" y="307238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volume, sazonalidade e perfil de geração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58368" y="3419856"/>
            <a:ext cx="6126480" cy="10058"/>
          </a:xfrm>
          <a:prstGeom prst="rect">
            <a:avLst/>
          </a:prstGeom>
          <a:solidFill>
            <a:srgbClr val="AEB7B9">
              <a:alpha val="38000"/>
            </a:srgbClr>
          </a:solidFill>
          <a:ln/>
        </p:spPr>
      </p:sp>
      <p:pic>
        <p:nvPicPr>
          <p:cNvPr id="12" name="Image 1" descr="/home/user/clipping/design-system/.preview/deck-assets/ico/secao-d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639312"/>
            <a:ext cx="274320" cy="27432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060704" y="364845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1481328" y="362102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Umidade + propriedades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481328" y="393192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preparo necessário e comportamento em teste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58368" y="4279392"/>
            <a:ext cx="6126480" cy="10058"/>
          </a:xfrm>
          <a:prstGeom prst="rect">
            <a:avLst/>
          </a:prstGeom>
          <a:solidFill>
            <a:srgbClr val="AEB7B9">
              <a:alpha val="38000"/>
            </a:srgbClr>
          </a:solidFill>
          <a:ln/>
        </p:spPr>
      </p:sp>
      <p:pic>
        <p:nvPicPr>
          <p:cNvPr id="17" name="Image 2" descr="/home/user/clipping/design-system/.preview/deck-assets/ico/registro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498848"/>
            <a:ext cx="274320" cy="2743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060704" y="450799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481328" y="44805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Destinação + economia atual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1481328" y="4791456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baseline real para o business case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658368" y="5138928"/>
            <a:ext cx="6126480" cy="10058"/>
          </a:xfrm>
          <a:prstGeom prst="rect">
            <a:avLst/>
          </a:prstGeom>
          <a:solidFill>
            <a:srgbClr val="AEB7B9">
              <a:alpha val="38000"/>
            </a:srgbClr>
          </a:solidFill>
          <a:ln/>
        </p:spPr>
      </p:sp>
      <p:pic>
        <p:nvPicPr>
          <p:cNvPr id="22" name="Image 3" descr="/home/user/clipping/design-system/.preview/deck-assets/ico/unidade-dark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5358384"/>
            <a:ext cx="274320" cy="27432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60704" y="536752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1481328" y="534009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1E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Espaço + energia + operação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1481328" y="565099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4A33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condições para integrar o sistema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658368" y="6108192"/>
            <a:ext cx="6126480" cy="457200"/>
          </a:xfrm>
          <a:prstGeom prst="roundRect">
            <a:avLst>
              <a:gd name="adj" fmla="val 12000"/>
            </a:avLst>
          </a:prstGeom>
          <a:solidFill>
            <a:srgbClr val="1E3320"/>
          </a:solidFill>
          <a:ln w="12700">
            <a:solidFill>
              <a:srgbClr val="1E3320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877824" y="6108192"/>
            <a:ext cx="5760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SAÍDA:  ESCALA, TECNOLOGIA, PRODUTO, ECONOMIA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PEPSICO / PETROLINA  /  BIOCHAR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4663440" y="38404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180" kern="0" dirty="0">
                <a:solidFill>
                  <a:srgbClr val="7C83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CONCEITO PARA DISCUSSÃO, CONFIGURAÇÃO A VALIDAR</a:t>
            </a:r>
            <a:endParaRPr lang="en-US" sz="750" dirty="0"/>
          </a:p>
        </p:txBody>
      </p:sp>
      <p:sp>
        <p:nvSpPr>
          <p:cNvPr id="4" name="Text 2"/>
          <p:cNvSpPr txBox="1"/>
          <p:nvPr/>
        </p:nvSpPr>
        <p:spPr>
          <a:xfrm>
            <a:off x="10984687" y="38404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180" kern="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969264"/>
            <a:ext cx="6766560" cy="1076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4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 o</a:t>
            </a:r>
            <a:endParaRPr lang="en-US" sz="4000" dirty="0"/>
          </a:p>
          <a:p>
            <a:pPr indent="0" marL="0">
              <a:lnSpc>
                <a:spcPts val="4240"/>
              </a:lnSpc>
              <a:buNone/>
            </a:pPr>
            <a:r>
              <a:rPr lang="en-US" sz="4000" b="1" spc="-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case.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231136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próximo passo simples para transformar a oportunidade em decisão.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2798064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ENTRADAS PARA COMEÇAR</a:t>
            </a:r>
            <a:endParaRPr lang="en-US" sz="850" dirty="0"/>
          </a:p>
        </p:txBody>
      </p:sp>
      <p:pic>
        <p:nvPicPr>
          <p:cNvPr id="8" name="Image 0" descr="/home/user/clipping/design-system/.preview/deck-assets/ico/unidade-aci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3145536"/>
            <a:ext cx="274320" cy="27432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060704" y="3154680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1481328" y="3127248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Visita técnica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675888" y="3145536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Operações + Sustentabilidade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58368" y="3712464"/>
            <a:ext cx="5486400" cy="10058"/>
          </a:xfrm>
          <a:prstGeom prst="rect">
            <a:avLst/>
          </a:prstGeom>
          <a:solidFill>
            <a:srgbClr val="AEB7B9">
              <a:alpha val="22000"/>
            </a:srgbClr>
          </a:solidFill>
          <a:ln/>
        </p:spPr>
      </p:sp>
      <p:pic>
        <p:nvPicPr>
          <p:cNvPr id="13" name="Image 1" descr="/home/user/clipping/design-system/.preview/deck-assets/ico/registro-aci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3931920"/>
            <a:ext cx="274320" cy="27432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60704" y="3941064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1481328" y="3913632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essenciais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675888" y="393192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fluxo, destinação, integração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658368" y="4498848"/>
            <a:ext cx="5486400" cy="10058"/>
          </a:xfrm>
          <a:prstGeom prst="rect">
            <a:avLst/>
          </a:prstGeom>
          <a:solidFill>
            <a:srgbClr val="AEB7B9">
              <a:alpha val="22000"/>
            </a:srgbClr>
          </a:solidFill>
          <a:ln/>
        </p:spPr>
      </p:sp>
      <p:pic>
        <p:nvPicPr>
          <p:cNvPr id="18" name="Image 2" descr="/home/user/clipping/design-system/.preview/deck-assets/ico/secao-aci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718304"/>
            <a:ext cx="274320" cy="27432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060704" y="472744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Text 15"/>
          <p:cNvSpPr txBox="1"/>
          <p:nvPr/>
        </p:nvSpPr>
        <p:spPr>
          <a:xfrm>
            <a:off x="1481328" y="470001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-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Amostra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3675888" y="4718304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AEB7B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representativa, caracterização + teste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6858000" y="2798064"/>
            <a:ext cx="4672584" cy="2487168"/>
          </a:xfrm>
          <a:prstGeom prst="roundRect">
            <a:avLst>
              <a:gd name="adj" fmla="val 2206"/>
            </a:avLst>
          </a:prstGeom>
          <a:solidFill>
            <a:srgbClr val="17181A"/>
          </a:solidFill>
          <a:ln w="12700">
            <a:solidFill>
              <a:srgbClr val="17181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7114032" y="3017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spc="180" kern="0" dirty="0">
                <a:solidFill>
                  <a:srgbClr val="8FB0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CASE PRONTO PARA DECISÃO</a:t>
            </a:r>
            <a:endParaRPr lang="en-US" sz="850" dirty="0"/>
          </a:p>
        </p:txBody>
      </p:sp>
      <p:pic>
        <p:nvPicPr>
          <p:cNvPr id="24" name="Image 3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4032" y="3438144"/>
            <a:ext cx="201168" cy="20116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443216" y="346557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balanço preliminar</a:t>
            </a:r>
            <a:endParaRPr lang="en-US" sz="1150" dirty="0"/>
          </a:p>
        </p:txBody>
      </p:sp>
      <p:pic>
        <p:nvPicPr>
          <p:cNvPr id="26" name="Image 4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4032" y="3803904"/>
            <a:ext cx="201168" cy="20116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7443216" y="383133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screening tecnológico</a:t>
            </a:r>
            <a:endParaRPr lang="en-US" sz="1150" dirty="0"/>
          </a:p>
        </p:txBody>
      </p:sp>
      <p:pic>
        <p:nvPicPr>
          <p:cNvPr id="28" name="Image 5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14032" y="4169664"/>
            <a:ext cx="201168" cy="20116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443216" y="419709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rotas de uso do biochar</a:t>
            </a:r>
            <a:endParaRPr lang="en-US" sz="1150" dirty="0"/>
          </a:p>
        </p:txBody>
      </p:sp>
      <p:pic>
        <p:nvPicPr>
          <p:cNvPr id="30" name="Image 6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14032" y="4535424"/>
            <a:ext cx="201168" cy="201168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7443216" y="456285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 econômica</a:t>
            </a:r>
            <a:endParaRPr lang="en-US" sz="1150" dirty="0"/>
          </a:p>
        </p:txBody>
      </p:sp>
      <p:pic>
        <p:nvPicPr>
          <p:cNvPr id="32" name="Image 7" descr="/home/user/clipping/design-system/.preview/deck-assets/ico/registro-steel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14032" y="4901184"/>
            <a:ext cx="201168" cy="201168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7443216" y="4928616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F2EE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recomendação de teste / piloto</a:t>
            </a:r>
            <a:endParaRPr lang="en-US" sz="1150" dirty="0"/>
          </a:p>
        </p:txBody>
      </p:sp>
      <p:sp>
        <p:nvSpPr>
          <p:cNvPr id="34" name="Shape 24"/>
          <p:cNvSpPr/>
          <p:nvPr/>
        </p:nvSpPr>
        <p:spPr>
          <a:xfrm>
            <a:off x="658368" y="5504688"/>
            <a:ext cx="10872216" cy="603504"/>
          </a:xfrm>
          <a:prstGeom prst="roundRect">
            <a:avLst>
              <a:gd name="adj" fmla="val 9091"/>
            </a:avLst>
          </a:prstGeom>
          <a:solidFill>
            <a:srgbClr val="8FB04E"/>
          </a:solidFill>
          <a:ln w="12700">
            <a:solidFill>
              <a:srgbClr val="8FB04E"/>
            </a:solidFill>
            <a:prstDash val="solid"/>
          </a:ln>
        </p:spPr>
      </p:sp>
      <p:sp>
        <p:nvSpPr>
          <p:cNvPr id="35" name="Text 25"/>
          <p:cNvSpPr txBox="1"/>
          <p:nvPr/>
        </p:nvSpPr>
        <p:spPr>
          <a:xfrm>
            <a:off x="896112" y="5504688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0C0C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passo: apresentação da viabilidade do projeto.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PepsiCo Petrolina, Biochar</dc:title>
  <dc:subject>PptxGenJS Presentation</dc:subject>
  <dc:creator>RECICLAR, EPA</dc:creator>
  <cp:lastModifiedBy>RECICLAR, EPA</cp:lastModifiedBy>
  <cp:revision>1</cp:revision>
  <dcterms:created xsi:type="dcterms:W3CDTF">2026-09-04T14:42:30Z</dcterms:created>
  <dcterms:modified xsi:type="dcterms:W3CDTF">2026-09-04T14:42:30Z</dcterms:modified>
</cp:coreProperties>
</file>