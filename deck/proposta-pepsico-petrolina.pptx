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biomassa de coco já existe na unidade; a proposta é uma rota tecnológica que combina biochar, energia recuperável e carbono durável. Conceito para discussão — a configuração é 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biomassa de coco, acontece conversão térmica com oxigênio limitado, sai biochar. Os gases do processo voltam como calor. Três saídas: produto físico, eficiência e remoção de carbono.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eficiência vem da integração: matéria-prima local, energia em circuito e configuração sob medida. A imagem é ilustrativa — a tecnologia ainda será selecionada.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valor não vem de uma fonte só: fluxo atual, biochar, energia e carbono. O desenho mais eficiente captura o conjunto, e cada alavanca é validada com dados reais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biomassa capturou CO₂ ao crescer; a pirólise estabiliza parte desse carbono no biochar, que é aplicado num uso elegível. As emissões do ciclo são medidas e descontadas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dimensionamento começa pelo fluxo real: volume e sazonalidade, umidade e propriedades, destinação e economia atual, espaço e energia. A saída é escala, tecnologia, produto e economia.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único e objetivo: agendar a sessão técnica com Operações e Sustentabilidade. Com dados essenciais e uma amostra representativa, a saída é um case pronto para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5.png"/><Relationship Id="rId7" Type="http://schemas.openxmlformats.org/officeDocument/2006/relationships/image" Target="../media/image-7-5.png"/><Relationship Id="rId8" Type="http://schemas.openxmlformats.org/officeDocument/2006/relationships/image" Target="../media/image-7-5.png"/><Relationship Id="rId9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078992"/>
            <a:ext cx="1737360" cy="292608"/>
          </a:xfrm>
          <a:prstGeom prst="roundRect">
            <a:avLst>
              <a:gd name="adj" fmla="val 156250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078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773936"/>
            <a:ext cx="6035040" cy="1776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de coco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se tornar um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 ativo industrial.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8678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rota tecnológica para combinar biochar, energia recuperável e carbono durável — desenhada a partir da realidade da unidade.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358384"/>
            <a:ext cx="4572000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pirólise concentra valor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 fluxo que já existe.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térmico converte a biomassa de coco em um sólido rico em carbono e permite recuperar parte da energia dos gases.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054096"/>
            <a:ext cx="3401568" cy="1645920"/>
          </a:xfrm>
          <a:prstGeom prst="roundRect">
            <a:avLst>
              <a:gd name="adj" fmla="val 3333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3218688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9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3342132"/>
            <a:ext cx="301752" cy="3017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91056" y="33832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84048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15137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(resíduo)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3891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 local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70832" y="3054096"/>
            <a:ext cx="3401568" cy="1645920"/>
          </a:xfrm>
          <a:prstGeom prst="roundRect">
            <a:avLst>
              <a:gd name="adj" fmla="val 3333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0" y="3218688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6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444" y="3342132"/>
            <a:ext cx="301752" cy="3017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303520" y="33832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26864" y="384048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térmica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626864" y="415137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(autossustentada)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626864" y="43891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 + oxigênio limitado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083296" y="3054096"/>
            <a:ext cx="3401568" cy="1645920"/>
          </a:xfrm>
          <a:prstGeom prst="roundRect">
            <a:avLst>
              <a:gd name="adj" fmla="val 3333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84464" y="3218688"/>
            <a:ext cx="548640" cy="548640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3" name="Image 2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3342132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015984" y="33832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339328" y="384048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339328" y="415137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(gera crédito)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39328" y="43891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rico em carbono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2395728" y="5010912"/>
            <a:ext cx="7680960" cy="10058"/>
          </a:xfrm>
          <a:prstGeom prst="rect">
            <a:avLst/>
          </a:prstGeom>
          <a:solidFill>
            <a:srgbClr val="AEB7B9">
              <a:alpha val="34000"/>
            </a:srgbClr>
          </a:solidFill>
          <a:ln/>
        </p:spPr>
      </p:sp>
      <p:pic>
        <p:nvPicPr>
          <p:cNvPr id="29" name="Image 3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5102352"/>
            <a:ext cx="274320" cy="2743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2395728" y="5504688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 DO PROCESSO  →  CALOR / ENERGIA RECUPERÁVEL</a:t>
            </a:r>
            <a:endParaRPr lang="en-US" sz="900" dirty="0"/>
          </a:p>
        </p:txBody>
      </p:sp>
      <p:pic>
        <p:nvPicPr>
          <p:cNvPr id="31" name="Image 4" descr="/home/user/clipping/design-system/.preview/deck-assets/ico/bloco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6016752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042416" y="60990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FÍSICO</a:t>
            </a:r>
            <a:endParaRPr lang="en-US" sz="900" dirty="0"/>
          </a:p>
        </p:txBody>
      </p:sp>
      <p:pic>
        <p:nvPicPr>
          <p:cNvPr id="33" name="Image 5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7248" y="6016752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511296" y="60990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900" dirty="0"/>
          </a:p>
        </p:txBody>
      </p:sp>
      <p:pic>
        <p:nvPicPr>
          <p:cNvPr id="35" name="Image 6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6128" y="6016752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980176" y="60990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DE CARBONO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60899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ILUSTRATIVA — TECNOLOGIA A SELECIONAR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969264"/>
            <a:ext cx="61264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ganha eficiência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nasce integrada à planta.</a:t>
            </a:r>
            <a:endParaRPr lang="en-US" sz="2700" dirty="0"/>
          </a:p>
        </p:txBody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140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97296" y="2423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272784" y="2395728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72784" y="27249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parte do fluxo já gerado na unidade, reduzindo etapas de manejo, logística e disposição.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0" y="3364992"/>
            <a:ext cx="6126480" cy="10058"/>
          </a:xfrm>
          <a:prstGeom prst="rect">
            <a:avLst/>
          </a:prstGeom>
          <a:solidFill>
            <a:srgbClr val="AEB7B9">
              <a:alpha val="24000"/>
            </a:srgbClr>
          </a:solidFill>
          <a:ln/>
        </p:spPr>
      </p:sp>
      <p:pic>
        <p:nvPicPr>
          <p:cNvPr id="12" name="Image 1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54787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97296" y="35570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272784" y="3529584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em circuito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272784" y="38587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gases do processo podem retornar como calor, elevando a eficiência e reduzindo demanda externa.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94960" y="4498848"/>
            <a:ext cx="6126480" cy="10058"/>
          </a:xfrm>
          <a:prstGeom prst="rect">
            <a:avLst/>
          </a:prstGeom>
          <a:solidFill>
            <a:srgbClr val="AEB7B9">
              <a:alpha val="24000"/>
            </a:srgbClr>
          </a:solidFill>
          <a:ln/>
        </p:spPr>
      </p:sp>
      <p:pic>
        <p:nvPicPr>
          <p:cNvPr id="17" name="Image 2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468172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97296" y="46908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6272784" y="466344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sob demanda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272784" y="499262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e tecnologia se adequam à escala, umidade, granulometria e rotina operacional de Petrolina.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394960" y="5815584"/>
            <a:ext cx="6126480" cy="512064"/>
          </a:xfrm>
          <a:prstGeom prst="roundRect">
            <a:avLst>
              <a:gd name="adj" fmla="val 10714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614416" y="581558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uma máquina isolada. É um sistema industrial.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business case combina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alavancas de valor.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atratividade econômica aumenta quando a solução soma ganhos operacionais, produto, energia e carbono.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8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2918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atual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 ou valor preservado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19856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3" name="Image 1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2918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59936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 rota de aplicação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81344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2" descr="/home/user/clipping/design-system/.preview/deck-assets/ico/calo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2918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21424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19088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19088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eficiência térmica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942832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3" name="Image 3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32918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582912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9180576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80576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 certificável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58368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ECONÔMICA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658368" y="5084064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não precisa vir de uma única fonte. O desenho mais eficiente captura o conjunto — e valida cada alavanca com dados reais.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863840" y="4791456"/>
            <a:ext cx="3666744" cy="1005840"/>
          </a:xfrm>
          <a:prstGeom prst="roundRect">
            <a:avLst>
              <a:gd name="adj" fmla="val 54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101584" y="4791456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spc="-3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do projeto é resultado da integração.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1078992"/>
            <a:ext cx="56692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transforma carbono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biogênico em produto durável.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22860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capturou CO₂ durante o crescimento. A pirólise estabiliza uma fração desse carbono no biochar.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3163824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8" name="Image 0" descr="/home/user/clipping/design-system/.preview/deck-assets/ico/mud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145" y="3270809"/>
            <a:ext cx="261518" cy="2615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32369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967728" y="32186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323697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de origem biogênica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785616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852160" y="3931920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4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145" y="4038905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92240" y="40050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967728" y="39867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144000" y="4005072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sob controle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852160" y="4553712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5852160" y="4700016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0" name="Image 2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145" y="480700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92240" y="47731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6967728" y="4754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9144000" y="477316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em material estável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852160" y="5321808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5852160" y="5468112"/>
            <a:ext cx="475488" cy="475488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6" name="Image 3" descr="/home/user/clipping/design-system/.preview/deck-assets/ico/solo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145" y="5575097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92240" y="55412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6967728" y="55229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elegível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9144000" y="554126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longa duração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852160" y="614476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EMISSÕES DO CICLO SÃO MEDIDAS E DESCONTADAS.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dados convertem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em projeto.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dimensionamento começa pelo fluxo real de Petrolina.</a:t>
            </a:r>
            <a:endParaRPr lang="en-US" sz="1200" dirty="0"/>
          </a:p>
        </p:txBody>
      </p:sp>
      <p:pic>
        <p:nvPicPr>
          <p:cNvPr id="7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797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27889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27614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+ sazonalidade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07238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crítica e perfil de geração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3419856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2" name="Image 1" descr="/home/user/clipping/design-system/.preview/deck-assets/ico/secao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6393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0704" y="364845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621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+ propriedades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319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necessário e comportamento em teste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58368" y="4279392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7" name="Image 2" descr="/home/user/clipping/design-system/.preview/deck-assets/ico/registro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60704" y="450799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44805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economia atual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9145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real para o business case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58368" y="5138928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22" name="Image 3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35838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0704" y="5367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481328" y="53400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+ energia + operação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481328" y="565099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para integrar o sistema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58368" y="610819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77824" y="6108192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SAÍDA:  ESCALA · TECNOLOGIA · PRODUTO · ECONOMIA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67665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construir o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de Petrolina.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2140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próximo passo simples para transformar a oportunidade em decisão.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798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PARA COMEÇAR</a:t>
            </a:r>
            <a:endParaRPr lang="en-US" sz="850" dirty="0"/>
          </a:p>
        </p:txBody>
      </p:sp>
      <p:pic>
        <p:nvPicPr>
          <p:cNvPr id="8" name="Image 0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4553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0704" y="3154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técnica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675888" y="31455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+ Sustentabilidade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712464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3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60704" y="39410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13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essenciais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75888" y="39319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· destinação · integração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58368" y="4498848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8" name="Image 2" descr="/home/user/clipping/design-system/.preview/deck-assets/ico/seca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71830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0704" y="47274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00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Amostra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675888" y="47183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representativa · caracterização + teste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858000" y="2798064"/>
            <a:ext cx="4672584" cy="2487168"/>
          </a:xfrm>
          <a:prstGeom prst="roundRect">
            <a:avLst>
              <a:gd name="adj" fmla="val 2206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14032" y="3017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PRONTO PARA DECISÃO</a:t>
            </a:r>
            <a:endParaRPr lang="en-US" sz="850" dirty="0"/>
          </a:p>
        </p:txBody>
      </p:sp>
      <p:pic>
        <p:nvPicPr>
          <p:cNvPr id="24" name="Image 3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2" y="3438144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43216" y="34655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balanço preliminar</a:t>
            </a:r>
            <a:endParaRPr lang="en-US" sz="1150" dirty="0"/>
          </a:p>
        </p:txBody>
      </p:sp>
      <p:pic>
        <p:nvPicPr>
          <p:cNvPr id="26" name="Image 4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3803904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43216" y="38313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tecnológico</a:t>
            </a:r>
            <a:endParaRPr lang="en-US" sz="1150" dirty="0"/>
          </a:p>
        </p:txBody>
      </p:sp>
      <p:pic>
        <p:nvPicPr>
          <p:cNvPr id="28" name="Image 5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032" y="4169664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43216" y="41970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de uso do biochar</a:t>
            </a:r>
            <a:endParaRPr lang="en-US" sz="1150" dirty="0"/>
          </a:p>
        </p:txBody>
      </p:sp>
      <p:pic>
        <p:nvPicPr>
          <p:cNvPr id="30" name="Image 6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4032" y="4535424"/>
            <a:ext cx="201168" cy="20116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43216" y="4562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econômica</a:t>
            </a:r>
            <a:endParaRPr lang="en-US" sz="1150" dirty="0"/>
          </a:p>
        </p:txBody>
      </p:sp>
      <p:pic>
        <p:nvPicPr>
          <p:cNvPr id="32" name="Image 7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4032" y="4901184"/>
            <a:ext cx="201168" cy="20116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443216" y="4928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 de teste / piloto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658368" y="5504688"/>
            <a:ext cx="10872216" cy="603504"/>
          </a:xfrm>
          <a:prstGeom prst="roundRect">
            <a:avLst>
              <a:gd name="adj" fmla="val 9091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96112" y="550468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passo: apresentação da viabilidade do projeto.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PepsiCo Petrolina — Biochar</dc:title>
  <dc:subject>PptxGenJS Presentation</dc:subject>
  <dc:creator>RECICLAR · EPA</dc:creator>
  <cp:lastModifiedBy>RECICLAR · EPA</cp:lastModifiedBy>
  <cp:revision>1</cp:revision>
  <dcterms:created xsi:type="dcterms:W3CDTF">2026-09-04T13:35:39Z</dcterms:created>
  <dcterms:modified xsi:type="dcterms:W3CDTF">2026-09-04T13:35:39Z</dcterms:modified>
</cp:coreProperties>
</file>