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biomassa de coco já existe na unidade; a proposta é uma rota tecnológica que combina biochar, energia recuperável e carbono durável. Conceito para discussão — a configuração é a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 biomassa de coco, acontece conversão térmica com oxigênio limitado, sai biochar. Os gases do processo voltam como calor. Três saídas: produto físico, eficiência e remoção de carbono.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eficiência vem da integração: matéria-prima local, energia em circuito e configuração sob medida. A imagem é ilustrativa — a tecnologia ainda será selecionada.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valor não vem de uma fonte só: fluxo atual, biochar, energia e carbono. O desenho mais eficiente captura o conjunto, e cada alavanca é validada com dados reais da 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biomassa capturou CO₂ ao crescer; a pirólise estabiliza parte desse carbono no biochar, que é aplicado num uso elegível. As emissões do ciclo são medidas e descontadas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dimensionamento começa pelo fluxo real: volume e sazonalidade, umidade e propriedades, destinação e economia atual, espaço e energia. A saída é escala, tecnologia, produto e economia.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único e objetivo: agendar a sessão técnica com Operações e Sustentabilidade. Com dados essenciais e uma amostra representativa, a saída é um case pronto para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5.png"/><Relationship Id="rId7" Type="http://schemas.openxmlformats.org/officeDocument/2006/relationships/image" Target="../media/image-7-5.png"/><Relationship Id="rId8" Type="http://schemas.openxmlformats.org/officeDocument/2006/relationships/image" Target="../media/image-7-5.png"/><Relationship Id="rId9" Type="http://schemas.openxmlformats.org/officeDocument/2006/relationships/image" Target="../media/image-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078992"/>
            <a:ext cx="1737360" cy="292608"/>
          </a:xfrm>
          <a:prstGeom prst="roundRect">
            <a:avLst>
              <a:gd name="adj" fmla="val 156250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0789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 / PE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773936"/>
            <a:ext cx="6035040" cy="1776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64"/>
              </a:lnSpc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biomassa de coco</a:t>
            </a:r>
            <a:endParaRPr lang="en-US" sz="4400" dirty="0"/>
          </a:p>
          <a:p>
            <a:pPr indent="0" marL="0">
              <a:lnSpc>
                <a:spcPts val="4664"/>
              </a:lnSpc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 se tornar um</a:t>
            </a:r>
            <a:endParaRPr lang="en-US" sz="4400" dirty="0"/>
          </a:p>
          <a:p>
            <a:pPr indent="0" marL="0">
              <a:lnSpc>
                <a:spcPts val="4664"/>
              </a:lnSpc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 ativo industrial.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98678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rota tecnológica para combinar biochar, energia recuperável e carbono durável — desenhada a partir da realidade da unidade.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5358384"/>
            <a:ext cx="4572000" cy="10058"/>
          </a:xfrm>
          <a:prstGeom prst="rect">
            <a:avLst/>
          </a:prstGeom>
          <a:solidFill>
            <a:srgbClr val="AEB7B9">
              <a:alpha val="4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7315200" cy="86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2"/>
              </a:lnSpc>
              <a:buNone/>
            </a:pPr>
            <a:r>
              <a:rPr lang="en-US" sz="32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pirólise concentra valor</a:t>
            </a:r>
            <a:endParaRPr lang="en-US" sz="3200" dirty="0"/>
          </a:p>
          <a:p>
            <a:pPr indent="0" marL="0">
              <a:lnSpc>
                <a:spcPts val="3392"/>
              </a:lnSpc>
              <a:buNone/>
            </a:pPr>
            <a:r>
              <a:rPr lang="en-US" sz="32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um fluxo que já existe.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31136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térmico converte a biomassa de coco em um sólido rico em carbono e permite recuperar parte da energia dos gases.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8368" y="3163824"/>
            <a:ext cx="3401568" cy="1225296"/>
          </a:xfrm>
          <a:prstGeom prst="roundRect">
            <a:avLst>
              <a:gd name="adj" fmla="val 4478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3328416"/>
            <a:ext cx="548640" cy="548640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9" name="Image 0" descr="/home/user/clipping/design-system/.preview/deck-assets/ico/pilha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3451860"/>
            <a:ext cx="301752" cy="30175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91056" y="35112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950208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de coco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27939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matéria-prima local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370832" y="3163824"/>
            <a:ext cx="3401568" cy="1225296"/>
          </a:xfrm>
          <a:prstGeom prst="roundRect">
            <a:avLst>
              <a:gd name="adj" fmla="val 4478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0" y="3328416"/>
            <a:ext cx="548640" cy="548640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5" name="Image 1" descr="/home/user/clipping/design-system/.preview/deck-assets/ico/reator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444" y="3451860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03520" y="35112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626864" y="3950208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térmica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26864" y="427939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calor + oxigênio limitado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8083296" y="3163824"/>
            <a:ext cx="3401568" cy="1225296"/>
          </a:xfrm>
          <a:prstGeom prst="roundRect">
            <a:avLst>
              <a:gd name="adj" fmla="val 4478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284464" y="3328416"/>
            <a:ext cx="548640" cy="548640"/>
          </a:xfrm>
          <a:prstGeom prst="ellipse">
            <a:avLst/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pic>
        <p:nvPicPr>
          <p:cNvPr id="21" name="Image 2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908" y="3451860"/>
            <a:ext cx="301752" cy="30175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015984" y="35112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8339328" y="3950208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8339328" y="427939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rico em carbono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2395728" y="4700016"/>
            <a:ext cx="7680960" cy="10058"/>
          </a:xfrm>
          <a:prstGeom prst="rect">
            <a:avLst/>
          </a:prstGeom>
          <a:solidFill>
            <a:srgbClr val="AEB7B9">
              <a:alpha val="34000"/>
            </a:srgbClr>
          </a:solidFill>
          <a:ln/>
        </p:spPr>
      </p:sp>
      <p:pic>
        <p:nvPicPr>
          <p:cNvPr id="26" name="Image 3" descr="/home/user/clipping/design-system/.preview/deck-assets/ico/gases-aci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0448" y="4791456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2395728" y="5175504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GASES DO PROCESSO  →  CALOR / ENERGIA RECUPERÁVEL</a:t>
            </a:r>
            <a:endParaRPr lang="en-US" sz="850" dirty="0"/>
          </a:p>
        </p:txBody>
      </p:sp>
      <p:pic>
        <p:nvPicPr>
          <p:cNvPr id="28" name="Image 4" descr="/home/user/clipping/design-system/.preview/deck-assets/ico/bloco-aci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5797296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24128" y="587044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FÍSICO</a:t>
            </a:r>
            <a:endParaRPr lang="en-US" sz="850" dirty="0"/>
          </a:p>
        </p:txBody>
      </p:sp>
      <p:pic>
        <p:nvPicPr>
          <p:cNvPr id="30" name="Image 5" descr="/home/user/clipping/design-system/.preview/deck-assets/ico/calor-ac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7248" y="5797296"/>
            <a:ext cx="256032" cy="25603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493008" y="587044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</a:t>
            </a:r>
            <a:endParaRPr lang="en-US" sz="850" dirty="0"/>
          </a:p>
        </p:txBody>
      </p:sp>
      <p:pic>
        <p:nvPicPr>
          <p:cNvPr id="32" name="Image 6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6128" y="5797296"/>
            <a:ext cx="256032" cy="25603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961888" y="587044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DE CARBONO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60899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 ILUSTRATIVA — TECNOLOGIA A SELECIONAR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969264"/>
            <a:ext cx="612648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 ganha eficiência</a:t>
            </a:r>
            <a:endParaRPr lang="en-US" sz="2700" dirty="0"/>
          </a:p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nasce integrada à planta.</a:t>
            </a:r>
            <a:endParaRPr lang="en-US" sz="2700" dirty="0"/>
          </a:p>
        </p:txBody>
      </p:sp>
      <p:pic>
        <p:nvPicPr>
          <p:cNvPr id="7" name="Image 0" descr="/home/user/clipping/design-system/.preview/deck-assets/ico/pilha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14016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797296" y="242316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272784" y="2395728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Matéria-prima local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272784" y="270662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parte do fluxo já gerado na unidade, reduzindo etapas de manejo quando a logística permitir.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394960" y="3364992"/>
            <a:ext cx="6126480" cy="10058"/>
          </a:xfrm>
          <a:prstGeom prst="rect">
            <a:avLst/>
          </a:prstGeom>
          <a:solidFill>
            <a:srgbClr val="AEB7B9">
              <a:alpha val="24000"/>
            </a:srgbClr>
          </a:solidFill>
          <a:ln/>
        </p:spPr>
      </p:sp>
      <p:pic>
        <p:nvPicPr>
          <p:cNvPr id="12" name="Image 1" descr="/home/user/clipping/design-system/.preview/deck-assets/ico/gases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54787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797296" y="355701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272784" y="3529584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em circuito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272784" y="38404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gases do processo podem retornar como calor, elevando a eficiência e reduzindo demanda externa.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394960" y="4498848"/>
            <a:ext cx="6126480" cy="10058"/>
          </a:xfrm>
          <a:prstGeom prst="rect">
            <a:avLst/>
          </a:prstGeom>
          <a:solidFill>
            <a:srgbClr val="AEB7B9">
              <a:alpha val="24000"/>
            </a:srgbClr>
          </a:solidFill>
          <a:ln/>
        </p:spPr>
      </p:sp>
      <p:pic>
        <p:nvPicPr>
          <p:cNvPr id="17" name="Image 2" descr="/home/user/clipping/design-system/.preview/deck-assets/ico/unidade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468172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797296" y="46908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6272784" y="4663440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 sob medida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272784" y="4974336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Escala, preparo e tecnologia seguem volume, umidade, granulometria e rotina operacional de Petrolina.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394960" y="5815584"/>
            <a:ext cx="6126480" cy="512064"/>
          </a:xfrm>
          <a:prstGeom prst="roundRect">
            <a:avLst>
              <a:gd name="adj" fmla="val 10714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614416" y="581558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uma máquina isolada. É um sistema industrial.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7315200" cy="86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2"/>
              </a:lnSpc>
              <a:buNone/>
            </a:pPr>
            <a:r>
              <a:rPr lang="en-US" sz="32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business case combina</a:t>
            </a:r>
            <a:endParaRPr lang="en-US" sz="3200" dirty="0"/>
          </a:p>
          <a:p>
            <a:pPr indent="0" marL="0">
              <a:lnSpc>
                <a:spcPts val="3392"/>
              </a:lnSpc>
              <a:buNone/>
            </a:pPr>
            <a:r>
              <a:rPr lang="en-US" sz="32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alavancas de valor.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3113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atratividade econômica aumenta quando a solução soma ganhos operacionais, produto, energia e carbono.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8368" y="3072384"/>
            <a:ext cx="2542032" cy="1316736"/>
          </a:xfrm>
          <a:prstGeom prst="roundRect">
            <a:avLst>
              <a:gd name="adj" fmla="val 4167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8" name="Image 0" descr="/home/user/clipping/design-system/.preview/deck-assets/ico/pilh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329184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98448" y="33009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atual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4041648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evitado ou valor preservado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419856" y="3072384"/>
            <a:ext cx="2542032" cy="1316736"/>
          </a:xfrm>
          <a:prstGeom prst="roundRect">
            <a:avLst>
              <a:gd name="adj" fmla="val 4167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3" name="Image 1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329184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059936" y="33009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4041648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e rota de aplicação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181344" y="3072384"/>
            <a:ext cx="2542032" cy="1316736"/>
          </a:xfrm>
          <a:prstGeom prst="roundRect">
            <a:avLst>
              <a:gd name="adj" fmla="val 4167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8" name="Image 2" descr="/home/user/clipping/design-system/.preview/deck-assets/ico/calor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329184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21424" y="33009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19088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419088" y="4041648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eficiência térmica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8942832" y="3072384"/>
            <a:ext cx="2542032" cy="1316736"/>
          </a:xfrm>
          <a:prstGeom prst="roundRect">
            <a:avLst>
              <a:gd name="adj" fmla="val 4167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23" name="Image 3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76" y="329184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582912" y="33009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9180576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80576" y="4041648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líquida certificável</a:t>
            </a:r>
            <a:endParaRPr lang="en-US" sz="950" dirty="0"/>
          </a:p>
        </p:txBody>
      </p:sp>
      <p:sp>
        <p:nvSpPr>
          <p:cNvPr id="27" name="Text 21"/>
          <p:cNvSpPr txBox="1"/>
          <p:nvPr/>
        </p:nvSpPr>
        <p:spPr>
          <a:xfrm>
            <a:off x="658368" y="47000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ROBUSTEZ ECONÔMICA</a:t>
            </a:r>
            <a:endParaRPr lang="en-US" sz="850" dirty="0"/>
          </a:p>
        </p:txBody>
      </p:sp>
      <p:sp>
        <p:nvSpPr>
          <p:cNvPr id="28" name="Text 22"/>
          <p:cNvSpPr txBox="1"/>
          <p:nvPr/>
        </p:nvSpPr>
        <p:spPr>
          <a:xfrm>
            <a:off x="658368" y="4937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não precisa vir de uma única fonte. O desenho mais eficiente captura o conjunto — e valida cada alavanca com dados reais.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7863840" y="4626864"/>
            <a:ext cx="3666744" cy="1005840"/>
          </a:xfrm>
          <a:prstGeom prst="roundRect">
            <a:avLst>
              <a:gd name="adj" fmla="val 545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101584" y="4626864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spc="-3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economia do projeto é resultado da integração.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852160" y="1078992"/>
            <a:ext cx="566928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 transforma carbono</a:t>
            </a:r>
            <a:endParaRPr lang="en-US" sz="2700" dirty="0"/>
          </a:p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biogênico em produto durável.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228600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biomassa capturou CO₂ durante o crescimento. A pirólise estabiliza uma fração desse carbono no biochar.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3163824"/>
            <a:ext cx="475488" cy="475488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8" name="Image 0" descr="/home/user/clipping/design-system/.preview/deck-assets/ico/muda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9145" y="3270809"/>
            <a:ext cx="261518" cy="26151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92240" y="32369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967728" y="32186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32461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 de origem biogênica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852160" y="3785616"/>
            <a:ext cx="5669280" cy="10058"/>
          </a:xfrm>
          <a:prstGeom prst="rect">
            <a:avLst/>
          </a:prstGeom>
          <a:solidFill>
            <a:srgbClr val="AEB7B9">
              <a:alpha val="20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5852160" y="3931920"/>
            <a:ext cx="475488" cy="475488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4" name="Image 1" descr="/home/user/clipping/design-system/.preview/deck-assets/ico/reator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9145" y="4038905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492240" y="4005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6967728" y="39867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Pirólise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144000" y="40142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sob controle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852160" y="4553712"/>
            <a:ext cx="5669280" cy="10058"/>
          </a:xfrm>
          <a:prstGeom prst="rect">
            <a:avLst/>
          </a:prstGeom>
          <a:solidFill>
            <a:srgbClr val="AEB7B9">
              <a:alpha val="20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5852160" y="4700016"/>
            <a:ext cx="475488" cy="475488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20" name="Image 2" descr="/home/user/clipping/design-system/.preview/deck-assets/ico/char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9145" y="480700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492240" y="47731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6967728" y="47548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9144000" y="478231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 em material estável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5852160" y="5321808"/>
            <a:ext cx="5669280" cy="10058"/>
          </a:xfrm>
          <a:prstGeom prst="rect">
            <a:avLst/>
          </a:prstGeom>
          <a:solidFill>
            <a:srgbClr val="AEB7B9">
              <a:alpha val="20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5852160" y="5468112"/>
            <a:ext cx="475488" cy="475488"/>
          </a:xfrm>
          <a:prstGeom prst="ellipse">
            <a:avLst/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pic>
        <p:nvPicPr>
          <p:cNvPr id="26" name="Image 3" descr="/home/user/clipping/design-system/.preview/deck-assets/ico/solo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145" y="5575097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492240" y="554126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6967728" y="55229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elegível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9144000" y="5550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de longa duração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5852160" y="6144768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EMISSÕES DO CICLO SÃO MEDIDAS E DESCONTADAS.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dados convertem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em projeto.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396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dimensionamento começa pelo fluxo real de Petrolina.</a:t>
            </a:r>
            <a:endParaRPr lang="en-US" sz="1200" dirty="0"/>
          </a:p>
        </p:txBody>
      </p:sp>
      <p:pic>
        <p:nvPicPr>
          <p:cNvPr id="7" name="Image 0" descr="/home/user/clipping/design-system/.preview/deck-assets/ico/pilh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077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291693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28895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+ sazonalidade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73168" y="291693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 crítica e perfil de geração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58368" y="3474720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12" name="Image 1" descr="/home/user/clipping/design-system/.preview/deck-assets/ico/secao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6941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60704" y="37033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6758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Umidade + propriedades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773168" y="37033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 necessário e comportamento em teste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58368" y="4261104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17" name="Image 2" descr="/home/user/clipping/design-system/.preview/deck-assets/ico/registro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8056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60704" y="448970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44622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 + economia atual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773168" y="448970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real para o business case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58368" y="5047488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22" name="Image 3" descr="/home/user/clipping/design-system/.preview/deck-assets/ico/unidade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26694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60704" y="527608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481328" y="5248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+ energia + operação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4773168" y="52760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para integrar o sistema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658368" y="5797296"/>
            <a:ext cx="6126480" cy="457200"/>
          </a:xfrm>
          <a:prstGeom prst="roundRect">
            <a:avLst>
              <a:gd name="adj" fmla="val 12000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877824" y="5797296"/>
            <a:ext cx="5760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SAÍDA:  ESCALA · TECNOLOGIA · PRODUTO · ECONOMIA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·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 ·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676656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construir o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 de Petrolina.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2140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próximo passo simples para transformar a oportunidade em decisão.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79806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PARA COMEÇAR</a:t>
            </a:r>
            <a:endParaRPr lang="en-US" sz="850" dirty="0"/>
          </a:p>
        </p:txBody>
      </p:sp>
      <p:pic>
        <p:nvPicPr>
          <p:cNvPr id="8" name="Image 0" descr="/home/user/clipping/design-system/.preview/deck-assets/ico/unidade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145536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60704" y="31546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481328" y="3127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técnica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675888" y="31546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 + Sustentabilidade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58368" y="3712464"/>
            <a:ext cx="5486400" cy="10058"/>
          </a:xfrm>
          <a:prstGeom prst="rect">
            <a:avLst/>
          </a:prstGeom>
          <a:solidFill>
            <a:srgbClr val="AEB7B9">
              <a:alpha val="22000"/>
            </a:srgbClr>
          </a:solidFill>
          <a:ln/>
        </p:spPr>
      </p:sp>
      <p:pic>
        <p:nvPicPr>
          <p:cNvPr id="13" name="Image 1" descr="/home/user/clipping/design-system/.preview/deck-assets/ico/registro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60704" y="394106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481328" y="39136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essenciais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675888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· destinação · integração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58368" y="4498848"/>
            <a:ext cx="5486400" cy="10058"/>
          </a:xfrm>
          <a:prstGeom prst="rect">
            <a:avLst/>
          </a:prstGeom>
          <a:solidFill>
            <a:srgbClr val="AEB7B9">
              <a:alpha val="22000"/>
            </a:srgbClr>
          </a:solidFill>
          <a:ln/>
        </p:spPr>
      </p:sp>
      <p:pic>
        <p:nvPicPr>
          <p:cNvPr id="18" name="Image 2" descr="/home/user/clipping/design-system/.preview/deck-assets/ico/secao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71830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60704" y="472744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481328" y="47000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Amostra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3675888" y="47274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representativa · caracterização + teste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858000" y="2798064"/>
            <a:ext cx="4672584" cy="2395728"/>
          </a:xfrm>
          <a:prstGeom prst="roundRect">
            <a:avLst>
              <a:gd name="adj" fmla="val 2290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114032" y="3017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PRONTO PARA DECISÃO</a:t>
            </a:r>
            <a:endParaRPr lang="en-US" sz="850" dirty="0"/>
          </a:p>
        </p:txBody>
      </p:sp>
      <p:pic>
        <p:nvPicPr>
          <p:cNvPr id="24" name="Image 3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032" y="3419856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24928" y="34472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balanço preliminar</a:t>
            </a:r>
            <a:endParaRPr lang="en-US" sz="1050" dirty="0"/>
          </a:p>
        </p:txBody>
      </p:sp>
      <p:pic>
        <p:nvPicPr>
          <p:cNvPr id="26" name="Image 4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2" y="3767328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424928" y="37947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tecnológico</a:t>
            </a:r>
            <a:endParaRPr lang="en-US" sz="1050" dirty="0"/>
          </a:p>
        </p:txBody>
      </p:sp>
      <p:pic>
        <p:nvPicPr>
          <p:cNvPr id="28" name="Image 5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4032" y="4114800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24928" y="4142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 de uso do biochar</a:t>
            </a:r>
            <a:endParaRPr lang="en-US" sz="1050" dirty="0"/>
          </a:p>
        </p:txBody>
      </p:sp>
      <p:pic>
        <p:nvPicPr>
          <p:cNvPr id="30" name="Image 6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4032" y="4462272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7424928" y="448970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 econômica</a:t>
            </a:r>
            <a:endParaRPr lang="en-US" sz="1050" dirty="0"/>
          </a:p>
        </p:txBody>
      </p:sp>
      <p:pic>
        <p:nvPicPr>
          <p:cNvPr id="32" name="Image 7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4032" y="4809744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424928" y="483717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recomendação de teste / piloto</a:t>
            </a:r>
            <a:endParaRPr lang="en-US" sz="1050" dirty="0"/>
          </a:p>
        </p:txBody>
      </p:sp>
      <p:sp>
        <p:nvSpPr>
          <p:cNvPr id="34" name="Shape 24"/>
          <p:cNvSpPr/>
          <p:nvPr/>
        </p:nvSpPr>
        <p:spPr>
          <a:xfrm>
            <a:off x="658368" y="5504688"/>
            <a:ext cx="10872216" cy="603504"/>
          </a:xfrm>
          <a:prstGeom prst="roundRect">
            <a:avLst>
              <a:gd name="adj" fmla="val 9091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896112" y="5504688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passo proposto: agendar a sessão técnica com a unidade.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PepsiCo Petrolina — Biochar</dc:title>
  <dc:subject>PptxGenJS Presentation</dc:subject>
  <dc:creator>RECICLAR · EPA</dc:creator>
  <cp:lastModifiedBy>RECICLAR · EPA</cp:lastModifiedBy>
  <cp:revision>1</cp:revision>
  <dcterms:created xsi:type="dcterms:W3CDTF">2026-09-02T13:00:45Z</dcterms:created>
  <dcterms:modified xsi:type="dcterms:W3CDTF">2026-09-02T13:00:45Z</dcterms:modified>
</cp:coreProperties>
</file>