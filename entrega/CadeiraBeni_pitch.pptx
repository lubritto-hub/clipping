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0"/>
            <a:ext cx="164592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737360" cy="50292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5029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0"/>
            <a:ext cx="155448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8" name="Shape 6"/>
          <p:cNvSpPr/>
          <p:nvPr/>
        </p:nvSpPr>
        <p:spPr>
          <a:xfrm>
            <a:off x="483870" y="395732"/>
            <a:ext cx="96520" cy="627380"/>
          </a:xfrm>
          <a:prstGeom prst="roundRect">
            <a:avLst>
              <a:gd name="adj" fmla="val 45000"/>
            </a:avLst>
          </a:prstGeom>
          <a:solidFill>
            <a:srgbClr val="8A4A22"/>
          </a:solidFill>
          <a:ln/>
        </p:spPr>
      </p:sp>
      <p:sp>
        <p:nvSpPr>
          <p:cNvPr id="9" name="Shape 7"/>
          <p:cNvSpPr/>
          <p:nvPr/>
        </p:nvSpPr>
        <p:spPr>
          <a:xfrm>
            <a:off x="580390" y="395732"/>
            <a:ext cx="361950" cy="84455"/>
          </a:xfrm>
          <a:prstGeom prst="roundRect">
            <a:avLst>
              <a:gd name="adj" fmla="val 45000"/>
            </a:avLst>
          </a:prstGeom>
          <a:solidFill>
            <a:srgbClr val="8A4A22"/>
          </a:solidFill>
          <a:ln/>
        </p:spPr>
      </p:sp>
      <p:sp>
        <p:nvSpPr>
          <p:cNvPr id="10" name="Shape 8"/>
          <p:cNvSpPr/>
          <p:nvPr/>
        </p:nvSpPr>
        <p:spPr>
          <a:xfrm>
            <a:off x="580390" y="516382"/>
            <a:ext cx="482600" cy="84455"/>
          </a:xfrm>
          <a:prstGeom prst="roundRect">
            <a:avLst>
              <a:gd name="adj" fmla="val 45000"/>
            </a:avLst>
          </a:prstGeom>
          <a:solidFill>
            <a:srgbClr val="8A4A22"/>
          </a:solidFill>
          <a:ln/>
        </p:spPr>
      </p:sp>
      <p:sp>
        <p:nvSpPr>
          <p:cNvPr id="11" name="Shape 9"/>
          <p:cNvSpPr/>
          <p:nvPr/>
        </p:nvSpPr>
        <p:spPr>
          <a:xfrm>
            <a:off x="580390" y="637032"/>
            <a:ext cx="337820" cy="84455"/>
          </a:xfrm>
          <a:prstGeom prst="roundRect">
            <a:avLst>
              <a:gd name="adj" fmla="val 45000"/>
            </a:avLst>
          </a:prstGeom>
          <a:solidFill>
            <a:srgbClr val="8A4A22"/>
          </a:solidFill>
          <a:ln/>
        </p:spPr>
      </p:sp>
      <p:sp>
        <p:nvSpPr>
          <p:cNvPr id="12" name="Shape 10"/>
          <p:cNvSpPr/>
          <p:nvPr/>
        </p:nvSpPr>
        <p:spPr>
          <a:xfrm>
            <a:off x="580390" y="709422"/>
            <a:ext cx="337820" cy="84455"/>
          </a:xfrm>
          <a:prstGeom prst="roundRect">
            <a:avLst>
              <a:gd name="adj" fmla="val 45000"/>
            </a:avLst>
          </a:prstGeom>
          <a:solidFill>
            <a:srgbClr val="D65A2B"/>
          </a:solidFill>
          <a:ln/>
        </p:spPr>
      </p:sp>
      <p:sp>
        <p:nvSpPr>
          <p:cNvPr id="13" name="Shape 11"/>
          <p:cNvSpPr/>
          <p:nvPr/>
        </p:nvSpPr>
        <p:spPr>
          <a:xfrm>
            <a:off x="580390" y="830072"/>
            <a:ext cx="506730" cy="84455"/>
          </a:xfrm>
          <a:prstGeom prst="roundRect">
            <a:avLst>
              <a:gd name="adj" fmla="val 45000"/>
            </a:avLst>
          </a:prstGeom>
          <a:solidFill>
            <a:srgbClr val="D65A2B"/>
          </a:solidFill>
          <a:ln/>
        </p:spPr>
      </p:sp>
      <p:sp>
        <p:nvSpPr>
          <p:cNvPr id="14" name="Shape 12"/>
          <p:cNvSpPr/>
          <p:nvPr/>
        </p:nvSpPr>
        <p:spPr>
          <a:xfrm>
            <a:off x="580390" y="950722"/>
            <a:ext cx="386080" cy="84455"/>
          </a:xfrm>
          <a:prstGeom prst="roundRect">
            <a:avLst>
              <a:gd name="adj" fmla="val 45000"/>
            </a:avLst>
          </a:prstGeom>
          <a:solidFill>
            <a:srgbClr val="D65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532130" y="1047242"/>
            <a:ext cx="84455" cy="144780"/>
          </a:xfrm>
          <a:prstGeom prst="roundRect">
            <a:avLst>
              <a:gd name="adj" fmla="val 45000"/>
            </a:avLst>
          </a:prstGeom>
          <a:solidFill>
            <a:srgbClr val="C89B48"/>
          </a:solidFill>
          <a:ln/>
        </p:spPr>
      </p:sp>
      <p:sp>
        <p:nvSpPr>
          <p:cNvPr id="16" name="Shape 14"/>
          <p:cNvSpPr/>
          <p:nvPr/>
        </p:nvSpPr>
        <p:spPr>
          <a:xfrm>
            <a:off x="918210" y="1047242"/>
            <a:ext cx="84455" cy="144780"/>
          </a:xfrm>
          <a:prstGeom prst="roundRect">
            <a:avLst>
              <a:gd name="adj" fmla="val 45000"/>
            </a:avLst>
          </a:prstGeom>
          <a:solidFill>
            <a:srgbClr val="C89B48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41148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3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MÓVEL PET EM MADEIRA DE REUSO · PROTÓTIPO V2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123444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0300"/>
              </a:lnSpc>
              <a:buNone/>
            </a:pPr>
            <a:r>
              <a:rPr lang="en-US" sz="12400" dirty="0">
                <a:solidFill>
                  <a:srgbClr val="EFE7D6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CADEIRA
</a:t>
            </a:r>
            <a:pPr indent="0" marL="0">
              <a:lnSpc>
                <a:spcPts val="10300"/>
              </a:lnSpc>
              <a:buNone/>
            </a:pPr>
            <a:r>
              <a:rPr lang="en-US" sz="12400" dirty="0">
                <a:solidFill>
                  <a:srgbClr val="D65A2B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BENI</a:t>
            </a:r>
            <a:endParaRPr lang="en-US" sz="12400" dirty="0"/>
          </a:p>
        </p:txBody>
      </p:sp>
      <p:sp>
        <p:nvSpPr>
          <p:cNvPr id="19" name="Text 17"/>
          <p:cNvSpPr/>
          <p:nvPr/>
        </p:nvSpPr>
        <p:spPr>
          <a:xfrm>
            <a:off x="429768" y="39776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FE7D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caminha saiu do canto. Virou mobiliário.</a:t>
            </a:r>
            <a:endParaRPr lang="en-US" sz="1800" dirty="0"/>
          </a:p>
        </p:txBody>
      </p:sp>
      <p:pic>
        <p:nvPicPr>
          <p:cNvPr id="20" name="Image 0" descr="site/assets/product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960120"/>
            <a:ext cx="3931920" cy="35472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FB4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Luiza Britto · Design Thinking e Prototipagem · Insper · 02 jul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0"/>
            <a:ext cx="164592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737360" cy="50292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5029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0"/>
            <a:ext cx="155448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8A4A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PROBLEMA SISTÊMICO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658368"/>
            <a:ext cx="8412480" cy="874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784"/>
              </a:lnSpc>
              <a:buNone/>
            </a:pPr>
            <a:r>
              <a:rPr lang="en-US" sz="44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O PET FICOU DEFINITIVO.</a:t>
            </a:r>
            <a:endParaRPr lang="en-US" sz="4400" dirty="0"/>
          </a:p>
          <a:p>
            <a:pPr indent="0" marL="0">
              <a:lnSpc>
                <a:spcPts val="3784"/>
              </a:lnSpc>
              <a:buNone/>
            </a:pPr>
            <a:r>
              <a:rPr lang="en-US" sz="44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O PRODUTO PET, NÃO.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29768" y="22860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65A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caminha deforma, não lava e vai inteira pro lixo — escondida no canto da sala.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243D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ECOSSISTEMA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36592" y="254203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Madeira urbana de qualidade vira descarte volumoso; o setor roda em espuma e plástico virgem.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35661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R$ 76 BI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38912" y="4224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MERCADO PET BR · 2º DO MUNDO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35661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12–16 H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3456432" y="4224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 DESCANSO POR DIA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35661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12–24 MESES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473952" y="42245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VIDA ÚTIL DE UMA CAMINHA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Luiza Britto · Design Thinking e Prototipagem · Insper · 02 jul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DA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0"/>
            <a:ext cx="164592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737360" cy="50292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5029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0"/>
            <a:ext cx="155448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8A4A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PÚBLICO-ALVO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658368"/>
            <a:ext cx="5303520" cy="8348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12"/>
              </a:lnSpc>
              <a:buNone/>
            </a:pPr>
            <a:r>
              <a:rPr lang="en-US" sz="42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PARA CASAS ONDE</a:t>
            </a:r>
            <a:endParaRPr lang="en-US" sz="4200" dirty="0"/>
          </a:p>
          <a:p>
            <a:pPr indent="0" marL="0">
              <a:lnSpc>
                <a:spcPts val="3612"/>
              </a:lnSpc>
              <a:buNone/>
            </a:pPr>
            <a:r>
              <a:rPr lang="en-US" sz="42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O PET TAMBÉM MORA.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00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Tutor urbano consciente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1480" y="27432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28–50 · capitais · apartamento · cão pequeno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127248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 móvel que fica na sala.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Aceita pátina como história.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Paga por durar e reparar.</a:t>
            </a:r>
            <a:endParaRPr lang="en-US" sz="1400" dirty="0"/>
          </a:p>
        </p:txBody>
      </p:sp>
      <p:pic>
        <p:nvPicPr>
          <p:cNvPr id="13" name="Image 0" descr="site/assets/dog-loo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25880"/>
            <a:ext cx="3154680" cy="31546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669280" y="1325880"/>
            <a:ext cx="3154680" cy="3154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00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69280" y="45354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CACHORRO DE VERDADE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Luiza Britto · Design Thinking e Prototipagem · Insper · 02 jul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0"/>
            <a:ext cx="164592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737360" cy="50292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5029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0"/>
            <a:ext cx="155448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VALIDAÇÃO · 6 CONVERSAS — TUTORES, MARCENEIROS, VETERINÁRIO, CATADORES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033272"/>
            <a:ext cx="36576" cy="822960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960120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i="1" dirty="0">
                <a:solidFill>
                  <a:srgbClr val="EFE7D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“Se parecer móvel, eu deixo na sala.”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3504" y="154533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TUTORA      →  VIROU: LINGUAGEM DE MÓVEL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9768" y="2221992"/>
            <a:ext cx="36576" cy="822960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2148840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i="1" dirty="0">
                <a:solidFill>
                  <a:srgbClr val="EFE7D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“Lavável não é diferencial. É requisito.”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03504" y="273405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SÍNTESE      →  VIROU: CAPA LAVÁVEL NO ROADMAP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3410712"/>
            <a:ext cx="36576" cy="822960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" y="3337560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i="1" dirty="0">
                <a:solidFill>
                  <a:srgbClr val="EFE7D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“Madeira reaproveitada precisa vir com cuidado.”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03504" y="392277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MARCENEIRO · VETERINÁRIO      →  VIROU: TRIAGEM + SANITIZAÇÃO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FB4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Luiza Britto · Design Thinking e Prototipagem · Insper · 02 jul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0"/>
            <a:ext cx="164592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737360" cy="50292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5029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0"/>
            <a:ext cx="155448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8A4A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PROPOSTA DE VALOR SISTÊMICA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658368"/>
            <a:ext cx="8412480" cy="8348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12"/>
              </a:lnSpc>
              <a:buNone/>
            </a:pPr>
            <a:r>
              <a:rPr lang="en-US" sz="42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NÃO É CAMINHA DESCARTÁVEL.</a:t>
            </a:r>
            <a:endParaRPr lang="en-US" sz="4200" dirty="0"/>
          </a:p>
          <a:p>
            <a:pPr indent="0" marL="0">
              <a:lnSpc>
                <a:spcPts val="3612"/>
              </a:lnSpc>
              <a:buNone/>
            </a:pPr>
            <a:r>
              <a:rPr lang="en-US" sz="42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É MOBILIÁRIO REPARÁVEL.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CAMINHA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0" y="239572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D65A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BENI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633472"/>
            <a:ext cx="6309360" cy="10058"/>
          </a:xfrm>
          <a:prstGeom prst="rect">
            <a:avLst/>
          </a:prstGeom>
          <a:solidFill>
            <a:srgbClr val="3A362E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7249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B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Espuma + plástico virgem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72491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00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Madeira que já existia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163824"/>
            <a:ext cx="6309360" cy="10058"/>
          </a:xfrm>
          <a:prstGeom prst="rect">
            <a:avLst/>
          </a:prstGeom>
          <a:solidFill>
            <a:srgbClr val="3A362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2552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B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Estragou? Joga tudo fora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2552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00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Troca por componente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3694176"/>
            <a:ext cx="6309360" cy="10058"/>
          </a:xfrm>
          <a:prstGeom prst="rect">
            <a:avLst/>
          </a:prstGeom>
          <a:solidFill>
            <a:srgbClr val="3A362E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7856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B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 no canto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7856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00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Fica na sala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4315968"/>
            <a:ext cx="1463040" cy="237744"/>
          </a:xfrm>
          <a:prstGeom prst="rect">
            <a:avLst/>
          </a:prstGeom>
          <a:noFill/>
          <a:ln w="9525">
            <a:solidFill>
              <a:srgbClr val="9FB4B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FB4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TECIDOS — EM BREVE</a:t>
            </a:r>
            <a:endParaRPr lang="en-US" sz="800" dirty="0"/>
          </a:p>
        </p:txBody>
      </p:sp>
      <p:pic>
        <p:nvPicPr>
          <p:cNvPr id="22" name="Image 0" descr="site/assets/product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377440"/>
            <a:ext cx="1920240" cy="173239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Luiza Britto · Design Thinking e Prototipagem · Insper · 02 jul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0"/>
            <a:ext cx="164592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737360" cy="50292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5029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0"/>
            <a:ext cx="155448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PROTÓTIPO FÍSICO · DEMONSTRAÇÃO AO VIVO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71323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956"/>
              </a:lnSpc>
              <a:buNone/>
            </a:pPr>
            <a:r>
              <a:rPr lang="en-US" sz="4600" dirty="0">
                <a:solidFill>
                  <a:srgbClr val="EFE7D6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A CADEIRA,</a:t>
            </a:r>
            <a:endParaRPr lang="en-US" sz="4600" dirty="0"/>
          </a:p>
          <a:p>
            <a:pPr indent="0" marL="0">
              <a:lnSpc>
                <a:spcPts val="3956"/>
              </a:lnSpc>
              <a:buNone/>
            </a:pPr>
            <a:r>
              <a:rPr lang="en-US" sz="4600" dirty="0">
                <a:solidFill>
                  <a:srgbClr val="EFE7D6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POR PARTES.</a:t>
            </a:r>
            <a:endParaRPr lang="en-US" sz="4600" dirty="0"/>
          </a:p>
        </p:txBody>
      </p:sp>
      <p:pic>
        <p:nvPicPr>
          <p:cNvPr id="10" name="Image 0" descr="site/assets/product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240280"/>
            <a:ext cx="3291840" cy="296981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343400" y="1024128"/>
            <a:ext cx="4690872" cy="8230"/>
          </a:xfrm>
          <a:prstGeom prst="rect">
            <a:avLst/>
          </a:prstGeom>
          <a:solidFill>
            <a:srgbClr val="4A4438"/>
          </a:solidFill>
          <a:ln/>
        </p:spPr>
      </p:sp>
      <p:sp>
        <p:nvSpPr>
          <p:cNvPr id="12" name="Text 9"/>
          <p:cNvSpPr/>
          <p:nvPr/>
        </p:nvSpPr>
        <p:spPr>
          <a:xfrm>
            <a:off x="4343400" y="10972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ESTRUTURA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06440" y="10698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7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Madeira reaproveitada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47888" y="1088136"/>
            <a:ext cx="777240" cy="237744"/>
          </a:xfrm>
          <a:prstGeom prst="rect">
            <a:avLst/>
          </a:prstGeom>
          <a:noFill/>
          <a:ln w="9525">
            <a:solidFill>
              <a:srgbClr val="C89B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OK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343400" y="1737360"/>
            <a:ext cx="4690872" cy="8230"/>
          </a:xfrm>
          <a:prstGeom prst="rect">
            <a:avLst/>
          </a:prstGeom>
          <a:solidFill>
            <a:srgbClr val="4A4438"/>
          </a:solidFill>
          <a:ln/>
        </p:spPr>
      </p:sp>
      <p:sp>
        <p:nvSpPr>
          <p:cNvPr id="16" name="Text 13"/>
          <p:cNvSpPr/>
          <p:nvPr/>
        </p:nvSpPr>
        <p:spPr>
          <a:xfrm>
            <a:off x="4343400" y="1810512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PERNAS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06440" y="178308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7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Bambu — 4 estacas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47888" y="1801368"/>
            <a:ext cx="777240" cy="237744"/>
          </a:xfrm>
          <a:prstGeom prst="rect">
            <a:avLst/>
          </a:prstGeom>
          <a:noFill/>
          <a:ln w="9525">
            <a:solidFill>
              <a:srgbClr val="D65A2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D65A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V2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343400" y="2450592"/>
            <a:ext cx="4690872" cy="8230"/>
          </a:xfrm>
          <a:prstGeom prst="rect">
            <a:avLst/>
          </a:prstGeom>
          <a:solidFill>
            <a:srgbClr val="4A4438"/>
          </a:solidFill>
          <a:ln/>
        </p:spPr>
      </p:sp>
      <p:sp>
        <p:nvSpPr>
          <p:cNvPr id="20" name="Text 17"/>
          <p:cNvSpPr/>
          <p:nvPr/>
        </p:nvSpPr>
        <p:spPr>
          <a:xfrm>
            <a:off x="4343400" y="252374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FIXAÇÃO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806440" y="24963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7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Encaixe, sem cola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47888" y="2514600"/>
            <a:ext cx="777240" cy="237744"/>
          </a:xfrm>
          <a:prstGeom prst="rect">
            <a:avLst/>
          </a:prstGeom>
          <a:noFill/>
          <a:ln w="9525">
            <a:solidFill>
              <a:srgbClr val="C89B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OK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343400" y="3163824"/>
            <a:ext cx="4690872" cy="8230"/>
          </a:xfrm>
          <a:prstGeom prst="rect">
            <a:avLst/>
          </a:prstGeom>
          <a:solidFill>
            <a:srgbClr val="4A4438"/>
          </a:solidFill>
          <a:ln/>
        </p:spPr>
      </p:sp>
      <p:sp>
        <p:nvSpPr>
          <p:cNvPr id="24" name="Text 21"/>
          <p:cNvSpPr/>
          <p:nvPr/>
        </p:nvSpPr>
        <p:spPr>
          <a:xfrm>
            <a:off x="4343400" y="32369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ACABAMENTO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806440" y="32095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7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Verniz + vinil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247888" y="3227832"/>
            <a:ext cx="777240" cy="237744"/>
          </a:xfrm>
          <a:prstGeom prst="rect">
            <a:avLst/>
          </a:prstGeom>
          <a:noFill/>
          <a:ln w="9525">
            <a:solidFill>
              <a:srgbClr val="C89B4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OK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343400" y="3877056"/>
            <a:ext cx="4690872" cy="8230"/>
          </a:xfrm>
          <a:prstGeom prst="rect">
            <a:avLst/>
          </a:prstGeom>
          <a:solidFill>
            <a:srgbClr val="4A4438"/>
          </a:solidFill>
          <a:ln/>
        </p:spPr>
      </p:sp>
      <p:sp>
        <p:nvSpPr>
          <p:cNvPr id="28" name="Text 25"/>
          <p:cNvSpPr/>
          <p:nvPr/>
        </p:nvSpPr>
        <p:spPr>
          <a:xfrm>
            <a:off x="4343400" y="395020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ASSENTO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806440" y="392277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7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Tecidos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247888" y="3941064"/>
            <a:ext cx="777240" cy="237744"/>
          </a:xfrm>
          <a:prstGeom prst="rect">
            <a:avLst/>
          </a:prstGeom>
          <a:noFill/>
          <a:ln w="9525">
            <a:solidFill>
              <a:srgbClr val="9FB4B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FB4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BREVE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806440" y="352958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FB49E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resiste a unha, xixi e mordida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FB4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Luiza Britto · Design Thinking e Prototipagem · Insper · 02 jul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te/assets/uso-ho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98932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632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TESTE EM USO REAL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6172200" y="841248"/>
            <a:ext cx="2834640" cy="795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40"/>
              </a:lnSpc>
              <a:buNone/>
            </a:pPr>
            <a:r>
              <a:rPr lang="en-US" sz="4000" dirty="0">
                <a:solidFill>
                  <a:srgbClr val="EFE7D6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NA SALA,</a:t>
            </a:r>
            <a:endParaRPr lang="en-US" sz="4000" dirty="0"/>
          </a:p>
          <a:p>
            <a:pPr indent="0" marL="0">
              <a:lnSpc>
                <a:spcPts val="3440"/>
              </a:lnSpc>
              <a:buNone/>
            </a:pPr>
            <a:r>
              <a:rPr lang="en-US" sz="4000" dirty="0">
                <a:solidFill>
                  <a:srgbClr val="EFE7D6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COM CACHORRO.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199632" y="2514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FE7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Subiu sozinho no primeiro dia.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FE7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Aguentou pata, peso e soneca.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EFE7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Ficou na sala. Não no canto.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 rot="-240000">
            <a:off x="6199632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9B48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teste nº 1 · aprovado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FB4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Luiza Britto · Design Thinking e Prototipagem · Insper · 02 jul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0"/>
            <a:ext cx="164592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737360" cy="50292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5029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0"/>
            <a:ext cx="155448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8A4A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PROTÓTIPO DIGITAL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658368"/>
            <a:ext cx="8229600" cy="874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784"/>
              </a:lnSpc>
              <a:buNone/>
            </a:pPr>
            <a:r>
              <a:rPr lang="en-US" sz="44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DO OBJETO AO SISTEMA.</a:t>
            </a:r>
            <a:endParaRPr lang="en-US" sz="4400" dirty="0"/>
          </a:p>
        </p:txBody>
      </p:sp>
      <p:pic>
        <p:nvPicPr>
          <p:cNvPr id="10" name="Image 0" descr="entrega/shots/site-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0"/>
            <a:ext cx="2697480" cy="181236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1480" y="1828800"/>
            <a:ext cx="2697480" cy="181236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00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36941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PEÇA</a:t>
            </a:r>
            <a:endParaRPr lang="en-US" sz="850" dirty="0"/>
          </a:p>
        </p:txBody>
      </p:sp>
      <p:pic>
        <p:nvPicPr>
          <p:cNvPr id="13" name="Image 1" descr="entrega/shots/site-pranch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828800"/>
            <a:ext cx="2697480" cy="181236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46120" y="1828800"/>
            <a:ext cx="2697480" cy="181236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00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46120" y="36941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PRANCHA TÉCNICA</a:t>
            </a:r>
            <a:endParaRPr lang="en-US" sz="850" dirty="0"/>
          </a:p>
        </p:txBody>
      </p:sp>
      <p:pic>
        <p:nvPicPr>
          <p:cNvPr id="16" name="Image 2" descr="entrega/shots/site-suport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828800"/>
            <a:ext cx="2697480" cy="1812369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080760" y="1828800"/>
            <a:ext cx="2697480" cy="181236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1100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080760" y="3694176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SUPORTE CIRCULAR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411480" y="41605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4A22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Documentação navegável do projeto — entregue em HTML + PDF.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Luiza Britto · Design Thinking e Prototipagem · Insper · 02 jul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0"/>
            <a:ext cx="164592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737360" cy="50292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5029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0"/>
            <a:ext cx="155448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ECONOMIA CIRCULAR · CICLO DE VIDA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713232"/>
            <a:ext cx="8229600" cy="8746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784"/>
              </a:lnSpc>
              <a:buNone/>
            </a:pPr>
            <a:r>
              <a:rPr lang="en-US" sz="4400" dirty="0">
                <a:solidFill>
                  <a:srgbClr val="EFE7D6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O CICLO NÃO TERMINA</a:t>
            </a:r>
            <a:endParaRPr lang="en-US" sz="4400" dirty="0"/>
          </a:p>
          <a:p>
            <a:pPr indent="0" marL="0">
              <a:lnSpc>
                <a:spcPts val="3784"/>
              </a:lnSpc>
              <a:buNone/>
            </a:pPr>
            <a:r>
              <a:rPr lang="en-US" sz="4400" dirty="0">
                <a:solidFill>
                  <a:srgbClr val="EFE7D6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NA VENDA.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EFE7D6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COMPROU</a:t>
            </a:r>
            <a:pPr indent="0" marL="0">
              <a:buNone/>
            </a:pPr>
            <a:r>
              <a:rPr lang="en-US" sz="3300" dirty="0">
                <a:solidFill>
                  <a:srgbClr val="D65A2B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  →  </a:t>
            </a:r>
            <a:pPr indent="0" marL="0">
              <a:buNone/>
            </a:pPr>
            <a:r>
              <a:rPr lang="en-US" sz="3300" dirty="0">
                <a:solidFill>
                  <a:srgbClr val="EFE7D6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USOU</a:t>
            </a:r>
            <a:pPr indent="0" marL="0">
              <a:buNone/>
            </a:pPr>
            <a:r>
              <a:rPr lang="en-US" sz="3300" dirty="0">
                <a:solidFill>
                  <a:srgbClr val="D65A2B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  →  </a:t>
            </a:r>
            <a:pPr indent="0" marL="0">
              <a:buNone/>
            </a:pPr>
            <a:r>
              <a:rPr lang="en-US" sz="3300" dirty="0">
                <a:solidFill>
                  <a:srgbClr val="EFE7D6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REPAROU</a:t>
            </a:r>
            <a:pPr indent="0" marL="0">
              <a:buNone/>
            </a:pPr>
            <a:r>
              <a:rPr lang="en-US" sz="3300" dirty="0">
                <a:solidFill>
                  <a:srgbClr val="D65A2B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  →  </a:t>
            </a:r>
            <a:pPr indent="0" marL="0">
              <a:buNone/>
            </a:pPr>
            <a:r>
              <a:rPr lang="en-US" sz="3300" dirty="0">
                <a:solidFill>
                  <a:srgbClr val="EFE7D6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DEVOLVEU</a:t>
            </a:r>
            <a:pPr indent="0" marL="0">
              <a:buNone/>
            </a:pPr>
            <a:r>
              <a:rPr lang="en-US" sz="3300" dirty="0">
                <a:solidFill>
                  <a:srgbClr val="D65A2B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  →  </a:t>
            </a:r>
            <a:pPr indent="0" marL="0">
              <a:buNone/>
            </a:pPr>
            <a:r>
              <a:rPr lang="en-US" sz="3300" dirty="0">
                <a:solidFill>
                  <a:srgbClr val="C89B48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REAPROVEITOU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11480" y="331012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MATÉRIA-PRIMA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354787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B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lote de madeira define a peça.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51176" y="331012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MANUTENÇÃO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51176" y="354787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B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Risco se lixa; verniz reaplica.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90872" y="331012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REPARO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90872" y="354787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B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Estaca sai, estaca entra.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30568" y="331012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FIM DE VIDA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30568" y="3547872"/>
            <a:ext cx="1965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B49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Devolve → triagem → reuso.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42245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FE7D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“Não jogue a Beni fora.”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FB4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Luiza Britto · Design Thinking e Prototipagem · Insper · 02 jul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6DA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0"/>
            <a:ext cx="164592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737360" cy="50292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5029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0"/>
            <a:ext cx="155448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8A4A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PROCESSO PRODUTIVO · ERROS E ACERTOS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658368"/>
            <a:ext cx="8229600" cy="795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40"/>
              </a:lnSpc>
              <a:buNone/>
            </a:pPr>
            <a:r>
              <a:rPr lang="en-US" sz="40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O ERRO TAMBÉM É MATERIAL.</a:t>
            </a:r>
            <a:endParaRPr lang="en-US" sz="4000" dirty="0"/>
          </a:p>
        </p:txBody>
      </p:sp>
      <p:pic>
        <p:nvPicPr>
          <p:cNvPr id="10" name="Image 0" descr="site/assets/v1-chair-bw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691640"/>
            <a:ext cx="1920240" cy="2286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 rot="-360000">
            <a:off x="475488" y="1828800"/>
            <a:ext cx="1417320" cy="292608"/>
          </a:xfrm>
          <a:prstGeom prst="rect">
            <a:avLst/>
          </a:prstGeom>
          <a:noFill/>
          <a:ln w="15240">
            <a:solidFill>
              <a:srgbClr val="D65A2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D65A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NÃO FECHOU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40416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V1 · MARCHETARIA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514600" y="1783080"/>
            <a:ext cx="1965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Cada pé saía diferente — precisão que o reuso não dá.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Quebrou uma parte, perdeu a peça.</a:t>
            </a:r>
            <a:endParaRPr lang="en-US" sz="1200" dirty="0"/>
          </a:p>
        </p:txBody>
      </p:sp>
      <p:pic>
        <p:nvPicPr>
          <p:cNvPr id="14" name="Image 1" descr="site/assets/dog-chai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691640"/>
            <a:ext cx="1920240" cy="2286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 rot="-360000">
            <a:off x="4754880" y="1828800"/>
            <a:ext cx="1645920" cy="292608"/>
          </a:xfrm>
          <a:prstGeom prst="rect">
            <a:avLst/>
          </a:prstGeom>
          <a:noFill/>
          <a:ln w="15240">
            <a:solidFill>
              <a:srgbClr val="243D2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243D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MAIS REPARÁVEL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709160" y="40416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V2 · BAMBU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812280" y="17830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Partes independentes: estaca sai, estaca entra.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Menos madeira. Mais leve.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11480" y="4370832"/>
            <a:ext cx="8321040" cy="457200"/>
          </a:xfrm>
          <a:prstGeom prst="rect">
            <a:avLst/>
          </a:prstGeom>
          <a:solidFill>
            <a:srgbClr val="11100D"/>
          </a:solidFill>
          <a:ln/>
        </p:spPr>
      </p:sp>
      <p:sp>
        <p:nvSpPr>
          <p:cNvPr id="19" name="Text 15"/>
          <p:cNvSpPr/>
          <p:nvPr/>
        </p:nvSpPr>
        <p:spPr>
          <a:xfrm>
            <a:off x="594360" y="4389120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FE7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TENSÕES:  USUÁRIO  ×  MATERIAL  ×  LABORATÓRIO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Luiza Britto · Design Thinking e Prototipagem · Insper · 02 jul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0"/>
            <a:ext cx="164592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737360" cy="50292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5029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0"/>
            <a:ext cx="155448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8A4A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VIABILIDADE SISTÊMICA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658368"/>
            <a:ext cx="8412480" cy="795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40"/>
              </a:lnSpc>
              <a:buNone/>
            </a:pPr>
            <a:r>
              <a:rPr lang="en-US" sz="40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CINCO PROVAS PARA</a:t>
            </a:r>
            <a:endParaRPr lang="en-US" sz="4000" dirty="0"/>
          </a:p>
          <a:p>
            <a:pPr indent="0" marL="0">
              <a:lnSpc>
                <a:spcPts val="3440"/>
              </a:lnSpc>
              <a:buNone/>
            </a:pPr>
            <a:r>
              <a:rPr lang="en-US" sz="40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A CADEIRA EXISTIR.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11480" y="2304288"/>
            <a:ext cx="1508760" cy="402336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304288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EFE7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48840" y="2322576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Fica na sala sem parecer caminha.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2798064"/>
            <a:ext cx="1508760" cy="402336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798064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EFE7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48840" y="281635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Sobe sozinho; plataforma firme e ventilada.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291840"/>
            <a:ext cx="1508760" cy="402336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29184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EFE7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PRODUÇÃO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48840" y="3310128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Cortes retos — qualquer marcenaria reproduz.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785616"/>
            <a:ext cx="1508760" cy="402336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785616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EFE7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ECOSSISTEMA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48840" y="3803904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Aproveita descarte volumoso urbano.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4279392"/>
            <a:ext cx="1508760" cy="402336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4279392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EFE7D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NEGÓCIO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48840" y="429768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6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peça dura; a reposição circula.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Luiza Britto · Design Thinking e Prototipagem · Insper · 02 jul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0"/>
            <a:ext cx="164592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737360" cy="50292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5029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0"/>
            <a:ext cx="155448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8" name="Shape 6"/>
          <p:cNvSpPr/>
          <p:nvPr/>
        </p:nvSpPr>
        <p:spPr>
          <a:xfrm>
            <a:off x="513588" y="513080"/>
            <a:ext cx="111760" cy="726440"/>
          </a:xfrm>
          <a:prstGeom prst="roundRect">
            <a:avLst>
              <a:gd name="adj" fmla="val 45000"/>
            </a:avLst>
          </a:prstGeom>
          <a:solidFill>
            <a:srgbClr val="8A4A22"/>
          </a:solidFill>
          <a:ln/>
        </p:spPr>
      </p:sp>
      <p:sp>
        <p:nvSpPr>
          <p:cNvPr id="9" name="Shape 7"/>
          <p:cNvSpPr/>
          <p:nvPr/>
        </p:nvSpPr>
        <p:spPr>
          <a:xfrm>
            <a:off x="625348" y="513080"/>
            <a:ext cx="419100" cy="97790"/>
          </a:xfrm>
          <a:prstGeom prst="roundRect">
            <a:avLst>
              <a:gd name="adj" fmla="val 45000"/>
            </a:avLst>
          </a:prstGeom>
          <a:solidFill>
            <a:srgbClr val="8A4A22"/>
          </a:solidFill>
          <a:ln/>
        </p:spPr>
      </p:sp>
      <p:sp>
        <p:nvSpPr>
          <p:cNvPr id="10" name="Shape 8"/>
          <p:cNvSpPr/>
          <p:nvPr/>
        </p:nvSpPr>
        <p:spPr>
          <a:xfrm>
            <a:off x="625348" y="652780"/>
            <a:ext cx="558800" cy="97790"/>
          </a:xfrm>
          <a:prstGeom prst="roundRect">
            <a:avLst>
              <a:gd name="adj" fmla="val 45000"/>
            </a:avLst>
          </a:prstGeom>
          <a:solidFill>
            <a:srgbClr val="8A4A22"/>
          </a:solidFill>
          <a:ln/>
        </p:spPr>
      </p:sp>
      <p:sp>
        <p:nvSpPr>
          <p:cNvPr id="11" name="Shape 9"/>
          <p:cNvSpPr/>
          <p:nvPr/>
        </p:nvSpPr>
        <p:spPr>
          <a:xfrm>
            <a:off x="625348" y="792480"/>
            <a:ext cx="391160" cy="97790"/>
          </a:xfrm>
          <a:prstGeom prst="roundRect">
            <a:avLst>
              <a:gd name="adj" fmla="val 45000"/>
            </a:avLst>
          </a:prstGeom>
          <a:solidFill>
            <a:srgbClr val="8A4A22"/>
          </a:solidFill>
          <a:ln/>
        </p:spPr>
      </p:sp>
      <p:sp>
        <p:nvSpPr>
          <p:cNvPr id="12" name="Shape 10"/>
          <p:cNvSpPr/>
          <p:nvPr/>
        </p:nvSpPr>
        <p:spPr>
          <a:xfrm>
            <a:off x="625348" y="876300"/>
            <a:ext cx="391160" cy="97790"/>
          </a:xfrm>
          <a:prstGeom prst="roundRect">
            <a:avLst>
              <a:gd name="adj" fmla="val 45000"/>
            </a:avLst>
          </a:prstGeom>
          <a:solidFill>
            <a:srgbClr val="D65A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25348" y="1016000"/>
            <a:ext cx="586740" cy="97790"/>
          </a:xfrm>
          <a:prstGeom prst="roundRect">
            <a:avLst>
              <a:gd name="adj" fmla="val 45000"/>
            </a:avLst>
          </a:prstGeom>
          <a:solidFill>
            <a:srgbClr val="D65A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5348" y="1155700"/>
            <a:ext cx="447040" cy="97790"/>
          </a:xfrm>
          <a:prstGeom prst="roundRect">
            <a:avLst>
              <a:gd name="adj" fmla="val 45000"/>
            </a:avLst>
          </a:prstGeom>
          <a:solidFill>
            <a:srgbClr val="D65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569468" y="1267460"/>
            <a:ext cx="97790" cy="167640"/>
          </a:xfrm>
          <a:prstGeom prst="roundRect">
            <a:avLst>
              <a:gd name="adj" fmla="val 45000"/>
            </a:avLst>
          </a:prstGeom>
          <a:solidFill>
            <a:srgbClr val="C89B4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6508" y="1267460"/>
            <a:ext cx="97790" cy="167640"/>
          </a:xfrm>
          <a:prstGeom prst="roundRect">
            <a:avLst>
              <a:gd name="adj" fmla="val 45000"/>
            </a:avLst>
          </a:prstGeom>
          <a:solidFill>
            <a:srgbClr val="C89B4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645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EFE7D6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CADEIRA </a:t>
            </a:r>
            <a:pPr indent="0" marL="0">
              <a:buNone/>
            </a:pPr>
            <a:r>
              <a:rPr lang="en-US" sz="9600" dirty="0">
                <a:solidFill>
                  <a:srgbClr val="D65A2B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BENI</a:t>
            </a:r>
            <a:endParaRPr lang="en-US" sz="9600" dirty="0"/>
          </a:p>
        </p:txBody>
      </p:sp>
      <p:sp>
        <p:nvSpPr>
          <p:cNvPr id="18" name="Text 16"/>
          <p:cNvSpPr/>
          <p:nvPr/>
        </p:nvSpPr>
        <p:spPr>
          <a:xfrm>
            <a:off x="429768" y="32004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FE7D6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caminha saiu do canto. Virou mobiliário.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29768" y="3767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89B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OBRIGADA · PERGUNTAS?</a:t>
            </a:r>
            <a:endParaRPr lang="en-US" sz="1100" dirty="0"/>
          </a:p>
        </p:txBody>
      </p:sp>
      <p:pic>
        <p:nvPicPr>
          <p:cNvPr id="20" name="Image 0" descr="site/assets/dog-fa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417320"/>
            <a:ext cx="2468880" cy="24688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 rot="-180000">
            <a:off x="6309360" y="39319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9B48"/>
                </a:solidFill>
                <a:latin typeface="Permanent Marker" pitchFamily="34" charset="0"/>
                <a:ea typeface="Permanent Marker" pitchFamily="34" charset="-122"/>
                <a:cs typeface="Permanent Marker" pitchFamily="34" charset="-120"/>
              </a:rPr>
              <a:t>soneca oficial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FB4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Luiza Britto · Design Thinking e Prototipagem · Insper · 02 jul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0"/>
            <a:ext cx="164592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4" name="Shape 2"/>
          <p:cNvSpPr/>
          <p:nvPr/>
        </p:nvSpPr>
        <p:spPr>
          <a:xfrm>
            <a:off x="3108960" y="0"/>
            <a:ext cx="1737360" cy="50292"/>
          </a:xfrm>
          <a:prstGeom prst="rect">
            <a:avLst/>
          </a:prstGeom>
          <a:solidFill>
            <a:srgbClr val="D65A2B"/>
          </a:solidFill>
          <a:ln/>
        </p:spPr>
      </p:sp>
      <p:sp>
        <p:nvSpPr>
          <p:cNvPr id="5" name="Shape 3"/>
          <p:cNvSpPr/>
          <p:nvPr/>
        </p:nvSpPr>
        <p:spPr>
          <a:xfrm>
            <a:off x="4846320" y="0"/>
            <a:ext cx="1280160" cy="50292"/>
          </a:xfrm>
          <a:prstGeom prst="rect">
            <a:avLst/>
          </a:prstGeom>
          <a:solidFill>
            <a:srgbClr val="F26A1B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0" y="0"/>
            <a:ext cx="1554480" cy="50292"/>
          </a:xfrm>
          <a:prstGeom prst="rect">
            <a:avLst/>
          </a:prstGeom>
          <a:solidFill>
            <a:srgbClr val="8A4A22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0"/>
            <a:ext cx="1463040" cy="50292"/>
          </a:xfrm>
          <a:prstGeom prst="rect">
            <a:avLst/>
          </a:prstGeom>
          <a:solidFill>
            <a:srgbClr val="4B2A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91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8A4A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APÊNDICE · PRÓXIMO PROTÓTIPO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658368"/>
            <a:ext cx="6400800" cy="795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40"/>
              </a:lnSpc>
              <a:buNone/>
            </a:pPr>
            <a:r>
              <a:rPr lang="en-US" sz="4000" dirty="0">
                <a:solidFill>
                  <a:srgbClr val="11100D"/>
                </a:solidFill>
                <a:latin typeface="League Gothic" pitchFamily="34" charset="0"/>
                <a:ea typeface="League Gothic" pitchFamily="34" charset="-122"/>
                <a:cs typeface="League Gothic" pitchFamily="34" charset="-120"/>
              </a:rPr>
              <a:t>O QUE AINDA FALTA.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0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Capa de tecido removível e lavável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1371600" cy="237744"/>
          </a:xfrm>
          <a:prstGeom prst="rect">
            <a:avLst/>
          </a:prstGeom>
          <a:noFill/>
          <a:ln w="9525">
            <a:solidFill>
              <a:srgbClr val="9FB4B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FB4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 BREVE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2532888"/>
            <a:ext cx="7635240" cy="9144"/>
          </a:xfrm>
          <a:prstGeom prst="rect">
            <a:avLst/>
          </a:prstGeom>
          <a:solidFill>
            <a:srgbClr val="3A362E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606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0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Padronizar medidas P e M a partir do lote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0" y="2651760"/>
            <a:ext cx="1371600" cy="237744"/>
          </a:xfrm>
          <a:prstGeom prst="rect">
            <a:avLst/>
          </a:prstGeom>
          <a:noFill/>
          <a:ln w="9525">
            <a:solidFill>
              <a:srgbClr val="8A7B6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 DESENHO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" y="2990088"/>
            <a:ext cx="7635240" cy="9144"/>
          </a:xfrm>
          <a:prstGeom prst="rect">
            <a:avLst/>
          </a:prstGeom>
          <a:solidFill>
            <a:srgbClr val="3A362E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0632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0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Protocolo de sanitização da madeira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3108960"/>
            <a:ext cx="1371600" cy="237744"/>
          </a:xfrm>
          <a:prstGeom prst="rect">
            <a:avLst/>
          </a:prstGeom>
          <a:noFill/>
          <a:ln w="9525">
            <a:solidFill>
              <a:srgbClr val="9FB4B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FB4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HIPÓTESE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" y="3447288"/>
            <a:ext cx="7635240" cy="9144"/>
          </a:xfrm>
          <a:prstGeom prst="rect">
            <a:avLst/>
          </a:prstGeom>
          <a:solidFill>
            <a:srgbClr val="3A362E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5204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0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Testes com mais cães, casas e semanas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566160"/>
            <a:ext cx="1371600" cy="237744"/>
          </a:xfrm>
          <a:prstGeom prst="rect">
            <a:avLst/>
          </a:prstGeom>
          <a:noFill/>
          <a:ln w="9525">
            <a:solidFill>
              <a:srgbClr val="8A7B6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PLANEJADO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3904488"/>
            <a:ext cx="7635240" cy="9144"/>
          </a:xfrm>
          <a:prstGeom prst="rect">
            <a:avLst/>
          </a:prstGeom>
          <a:solidFill>
            <a:srgbClr val="3A362E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9776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00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Rota de retorno da madeira (take-back)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75120" y="4023360"/>
            <a:ext cx="1371600" cy="237744"/>
          </a:xfrm>
          <a:prstGeom prst="rect">
            <a:avLst/>
          </a:prstGeom>
          <a:noFill/>
          <a:ln w="9525">
            <a:solidFill>
              <a:srgbClr val="9FB4B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9FB4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HIPÓTESE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4361688"/>
            <a:ext cx="7635240" cy="9144"/>
          </a:xfrm>
          <a:prstGeom prst="rect">
            <a:avLst/>
          </a:prstGeom>
          <a:solidFill>
            <a:srgbClr val="3A362E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A7B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Próxima leva sob encomenda · reposição: perna avulsa · luizambritto@gmail.com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2026-07-02T03:45:04Z</dcterms:created>
  <dcterms:modified xsi:type="dcterms:W3CDTF">2026-07-02T03:45:04Z</dcterms:modified>
</cp:coreProperties>
</file>