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0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0" y="0"/>
            <a:ext cx="164592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4" name="Shape 2"/>
          <p:cNvSpPr/>
          <p:nvPr/>
        </p:nvSpPr>
        <p:spPr>
          <a:xfrm>
            <a:off x="3108960" y="0"/>
            <a:ext cx="1737360" cy="50292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5" name="Shape 3"/>
          <p:cNvSpPr/>
          <p:nvPr/>
        </p:nvSpPr>
        <p:spPr>
          <a:xfrm>
            <a:off x="4846320" y="0"/>
            <a:ext cx="1280160" cy="50292"/>
          </a:xfrm>
          <a:prstGeom prst="rect">
            <a:avLst/>
          </a:prstGeom>
          <a:solidFill>
            <a:srgbClr val="F26A1B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0" y="0"/>
            <a:ext cx="155448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8" name="Shape 6"/>
          <p:cNvSpPr/>
          <p:nvPr/>
        </p:nvSpPr>
        <p:spPr>
          <a:xfrm>
            <a:off x="483870" y="395732"/>
            <a:ext cx="96520" cy="627380"/>
          </a:xfrm>
          <a:prstGeom prst="roundRect">
            <a:avLst>
              <a:gd name="adj" fmla="val 45000"/>
            </a:avLst>
          </a:prstGeom>
          <a:solidFill>
            <a:srgbClr val="8A4A22"/>
          </a:solidFill>
          <a:ln/>
        </p:spPr>
      </p:sp>
      <p:sp>
        <p:nvSpPr>
          <p:cNvPr id="9" name="Shape 7"/>
          <p:cNvSpPr/>
          <p:nvPr/>
        </p:nvSpPr>
        <p:spPr>
          <a:xfrm>
            <a:off x="580390" y="395732"/>
            <a:ext cx="361950" cy="84455"/>
          </a:xfrm>
          <a:prstGeom prst="roundRect">
            <a:avLst>
              <a:gd name="adj" fmla="val 45000"/>
            </a:avLst>
          </a:prstGeom>
          <a:solidFill>
            <a:srgbClr val="8A4A22"/>
          </a:solidFill>
          <a:ln/>
        </p:spPr>
      </p:sp>
      <p:sp>
        <p:nvSpPr>
          <p:cNvPr id="10" name="Shape 8"/>
          <p:cNvSpPr/>
          <p:nvPr/>
        </p:nvSpPr>
        <p:spPr>
          <a:xfrm>
            <a:off x="580390" y="516382"/>
            <a:ext cx="482600" cy="84455"/>
          </a:xfrm>
          <a:prstGeom prst="roundRect">
            <a:avLst>
              <a:gd name="adj" fmla="val 45000"/>
            </a:avLst>
          </a:prstGeom>
          <a:solidFill>
            <a:srgbClr val="8A4A22"/>
          </a:solidFill>
          <a:ln/>
        </p:spPr>
      </p:sp>
      <p:sp>
        <p:nvSpPr>
          <p:cNvPr id="11" name="Shape 9"/>
          <p:cNvSpPr/>
          <p:nvPr/>
        </p:nvSpPr>
        <p:spPr>
          <a:xfrm>
            <a:off x="580390" y="637032"/>
            <a:ext cx="337820" cy="84455"/>
          </a:xfrm>
          <a:prstGeom prst="roundRect">
            <a:avLst>
              <a:gd name="adj" fmla="val 45000"/>
            </a:avLst>
          </a:prstGeom>
          <a:solidFill>
            <a:srgbClr val="8A4A22"/>
          </a:solidFill>
          <a:ln/>
        </p:spPr>
      </p:sp>
      <p:sp>
        <p:nvSpPr>
          <p:cNvPr id="12" name="Shape 10"/>
          <p:cNvSpPr/>
          <p:nvPr/>
        </p:nvSpPr>
        <p:spPr>
          <a:xfrm>
            <a:off x="580390" y="709422"/>
            <a:ext cx="337820" cy="84455"/>
          </a:xfrm>
          <a:prstGeom prst="roundRect">
            <a:avLst>
              <a:gd name="adj" fmla="val 45000"/>
            </a:avLst>
          </a:prstGeom>
          <a:solidFill>
            <a:srgbClr val="D65A2B"/>
          </a:solidFill>
          <a:ln/>
        </p:spPr>
      </p:sp>
      <p:sp>
        <p:nvSpPr>
          <p:cNvPr id="13" name="Shape 11"/>
          <p:cNvSpPr/>
          <p:nvPr/>
        </p:nvSpPr>
        <p:spPr>
          <a:xfrm>
            <a:off x="580390" y="830072"/>
            <a:ext cx="506730" cy="84455"/>
          </a:xfrm>
          <a:prstGeom prst="roundRect">
            <a:avLst>
              <a:gd name="adj" fmla="val 45000"/>
            </a:avLst>
          </a:prstGeom>
          <a:solidFill>
            <a:srgbClr val="D65A2B"/>
          </a:solidFill>
          <a:ln/>
        </p:spPr>
      </p:sp>
      <p:sp>
        <p:nvSpPr>
          <p:cNvPr id="14" name="Shape 12"/>
          <p:cNvSpPr/>
          <p:nvPr/>
        </p:nvSpPr>
        <p:spPr>
          <a:xfrm>
            <a:off x="580390" y="950722"/>
            <a:ext cx="386080" cy="84455"/>
          </a:xfrm>
          <a:prstGeom prst="roundRect">
            <a:avLst>
              <a:gd name="adj" fmla="val 45000"/>
            </a:avLst>
          </a:prstGeom>
          <a:solidFill>
            <a:srgbClr val="D65A2B"/>
          </a:solidFill>
          <a:ln/>
        </p:spPr>
      </p:sp>
      <p:sp>
        <p:nvSpPr>
          <p:cNvPr id="15" name="Shape 13"/>
          <p:cNvSpPr/>
          <p:nvPr/>
        </p:nvSpPr>
        <p:spPr>
          <a:xfrm>
            <a:off x="532130" y="1047242"/>
            <a:ext cx="84455" cy="144780"/>
          </a:xfrm>
          <a:prstGeom prst="roundRect">
            <a:avLst>
              <a:gd name="adj" fmla="val 45000"/>
            </a:avLst>
          </a:prstGeom>
          <a:solidFill>
            <a:srgbClr val="C89B48"/>
          </a:solidFill>
          <a:ln/>
        </p:spPr>
      </p:sp>
      <p:sp>
        <p:nvSpPr>
          <p:cNvPr id="16" name="Shape 14"/>
          <p:cNvSpPr/>
          <p:nvPr/>
        </p:nvSpPr>
        <p:spPr>
          <a:xfrm>
            <a:off x="918210" y="1047242"/>
            <a:ext cx="84455" cy="144780"/>
          </a:xfrm>
          <a:prstGeom prst="roundRect">
            <a:avLst>
              <a:gd name="adj" fmla="val 45000"/>
            </a:avLst>
          </a:prstGeom>
          <a:solidFill>
            <a:srgbClr val="C89B48"/>
          </a:solidFill>
          <a:ln/>
        </p:spPr>
      </p:sp>
      <p:sp>
        <p:nvSpPr>
          <p:cNvPr id="17" name="Text 15"/>
          <p:cNvSpPr/>
          <p:nvPr/>
        </p:nvSpPr>
        <p:spPr>
          <a:xfrm>
            <a:off x="4023360" y="384048"/>
            <a:ext cx="4709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spc="3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MARCENARIA EM MADEIRA DE REUSO · PARA CÃES PEQUENOS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023360" y="621792"/>
            <a:ext cx="4709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spc="300" kern="0" dirty="0">
                <a:solidFill>
                  <a:srgbClr val="D65A2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PROTÓTIPO V2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65760" y="1207008"/>
            <a:ext cx="493776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10000"/>
              </a:lnSpc>
              <a:buNone/>
            </a:pPr>
            <a:r>
              <a:rPr lang="en-US" sz="12000" dirty="0">
                <a:solidFill>
                  <a:srgbClr val="EFE7D6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CADEIRA
</a:t>
            </a:r>
            <a:pPr algn="l" indent="0" marL="0">
              <a:lnSpc>
                <a:spcPts val="10000"/>
              </a:lnSpc>
              <a:buNone/>
            </a:pPr>
            <a:r>
              <a:rPr lang="en-US" sz="12000" dirty="0">
                <a:solidFill>
                  <a:srgbClr val="D65A2B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BENI</a:t>
            </a:r>
            <a:endParaRPr lang="en-US" sz="12000" dirty="0"/>
          </a:p>
        </p:txBody>
      </p:sp>
      <p:sp>
        <p:nvSpPr>
          <p:cNvPr id="20" name="Text 18"/>
          <p:cNvSpPr/>
          <p:nvPr/>
        </p:nvSpPr>
        <p:spPr>
          <a:xfrm>
            <a:off x="429768" y="3822192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EFE7D6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 caminha saiu do canto. Virou mobiliário.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429768" y="4261104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MADEIRA REAPROVEITADA  ·  BAMBU SUBSTITUÍVEL  ·  TECIDOS EM BREVE</a:t>
            </a:r>
            <a:endParaRPr lang="en-US" sz="950" dirty="0"/>
          </a:p>
        </p:txBody>
      </p:sp>
      <p:pic>
        <p:nvPicPr>
          <p:cNvPr id="22" name="Image 0" descr="site/assets/product-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83480" y="960120"/>
            <a:ext cx="3931920" cy="3547276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411480" y="4809744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BFB4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Luiza Britto · Design Thinking e Prototipagem · Insper · 02 jul 2026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FE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0" y="0"/>
            <a:ext cx="164592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4" name="Shape 2"/>
          <p:cNvSpPr/>
          <p:nvPr/>
        </p:nvSpPr>
        <p:spPr>
          <a:xfrm>
            <a:off x="3108960" y="0"/>
            <a:ext cx="1737360" cy="50292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5" name="Shape 3"/>
          <p:cNvSpPr/>
          <p:nvPr/>
        </p:nvSpPr>
        <p:spPr>
          <a:xfrm>
            <a:off x="4846320" y="0"/>
            <a:ext cx="1280160" cy="50292"/>
          </a:xfrm>
          <a:prstGeom prst="rect">
            <a:avLst/>
          </a:prstGeom>
          <a:solidFill>
            <a:srgbClr val="F26A1B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0" y="0"/>
            <a:ext cx="155448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31089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spc="400" kern="0" dirty="0">
                <a:solidFill>
                  <a:srgbClr val="8A4A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 · VIABILIDADE SISTÊMICA — O PROBLEMA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84048" y="603504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3440"/>
              </a:lnSpc>
              <a:buNone/>
            </a:pPr>
            <a:r>
              <a:rPr lang="en-US" sz="4000" dirty="0">
                <a:solidFill>
                  <a:srgbClr val="11100D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O PET FICOU DEFINITIVO.</a:t>
            </a:r>
            <a:endParaRPr lang="en-US" sz="4000" dirty="0"/>
          </a:p>
          <a:p>
            <a:pPr algn="l" indent="0" marL="0">
              <a:lnSpc>
                <a:spcPts val="3440"/>
              </a:lnSpc>
              <a:buNone/>
            </a:pPr>
            <a:r>
              <a:rPr lang="en-US" sz="4000" dirty="0">
                <a:solidFill>
                  <a:srgbClr val="11100D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O PRODUTO PET, NÃO.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11480" y="1956816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65A2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PELA ÓTICA DO CLIENTE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2249424"/>
            <a:ext cx="39776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caminha de espuma deforma, não aguenta lavagem e vai inteira pro lixo.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Esteticamente, é um objeto que a casa esconde no canto.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Sem reparo possível: estragou uma parte, perdeu tudo.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754880" y="1956816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243D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PELA ÓTICA DO ECOSSISTEMA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754880" y="2249424"/>
            <a:ext cx="39776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Madeira urbana de boa qualidade vira descarte volumoso, sem rota de reuso.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 padrão do setor é espuma + plástico virgem, sem peça de reposição.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Fim de vida não é pensado no design — é problema do aterro.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11480" y="4133088"/>
            <a:ext cx="8321040" cy="566928"/>
          </a:xfrm>
          <a:prstGeom prst="rect">
            <a:avLst/>
          </a:prstGeom>
          <a:solidFill>
            <a:srgbClr val="11100D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4160520"/>
            <a:ext cx="80010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EFE7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MERCADO PET BR: 2º MAIOR DO MUNDO, ~R$ 76 BI/ANO   ·   PETS DESCANSAM 12–16 H/DIA   ·   CAMINHAS DURAM EM MÉDIA 12–24 MESES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11480" y="4809744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Luiza Britto · Design Thinking e Prototipagem · Insper · 02 jul 2026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6DA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0" y="0"/>
            <a:ext cx="164592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4" name="Shape 2"/>
          <p:cNvSpPr/>
          <p:nvPr/>
        </p:nvSpPr>
        <p:spPr>
          <a:xfrm>
            <a:off x="3108960" y="0"/>
            <a:ext cx="1737360" cy="50292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5" name="Shape 3"/>
          <p:cNvSpPr/>
          <p:nvPr/>
        </p:nvSpPr>
        <p:spPr>
          <a:xfrm>
            <a:off x="4846320" y="0"/>
            <a:ext cx="1280160" cy="50292"/>
          </a:xfrm>
          <a:prstGeom prst="rect">
            <a:avLst/>
          </a:prstGeom>
          <a:solidFill>
            <a:srgbClr val="F26A1B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0" y="0"/>
            <a:ext cx="155448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31089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spc="400" kern="0" dirty="0">
                <a:solidFill>
                  <a:srgbClr val="8A4A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 · VIABILIDADE — PÚBLICO-ALVO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84048" y="603504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3440"/>
              </a:lnSpc>
              <a:buNone/>
            </a:pPr>
            <a:r>
              <a:rPr lang="en-US" sz="4000" dirty="0">
                <a:solidFill>
                  <a:srgbClr val="11100D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PARA CASAS ONDE</a:t>
            </a:r>
            <a:endParaRPr lang="en-US" sz="4000" dirty="0"/>
          </a:p>
          <a:p>
            <a:pPr algn="l" indent="0" marL="0">
              <a:lnSpc>
                <a:spcPts val="3440"/>
              </a:lnSpc>
              <a:buNone/>
            </a:pPr>
            <a:r>
              <a:rPr lang="en-US" sz="4000" dirty="0">
                <a:solidFill>
                  <a:srgbClr val="11100D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O PET TAMBÉM MORA.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29768" y="201168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65A2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PERSONA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2267712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00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Tutor urbano consciente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11480" y="261518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28–50 anos · capitais · apartamento · cão pequeno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11480" y="2944368"/>
            <a:ext cx="5029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25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Valoriza peça com história — pátina é narrativa, não defeito.</a:t>
            </a:r>
            <a:endParaRPr lang="en-US" sz="12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25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Quer um móvel que fica na sala, não um acessório que se esconde.</a:t>
            </a:r>
            <a:endParaRPr lang="en-US" sz="12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25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Paga por durabilidade, origem do material e reparo possível.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29768" y="406908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243D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TAMBÉM ALCANÇA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11480" y="431596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Arquitetos e designers de interiores  ·  lojas e curadorias de design  ·  economia circular urbana (ecopontos, cooperativas)</a:t>
            </a:r>
            <a:endParaRPr lang="en-US" sz="1100" dirty="0"/>
          </a:p>
        </p:txBody>
      </p:sp>
      <p:pic>
        <p:nvPicPr>
          <p:cNvPr id="16" name="Image 0" descr="site/assets/dog-lo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417320"/>
            <a:ext cx="2971800" cy="297180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5806440" y="1417320"/>
            <a:ext cx="2971800" cy="2971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00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806440" y="4443984"/>
            <a:ext cx="2971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EM USO · CACHORRO DE VERDADE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411480" y="4809744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Luiza Britto · Design Thinking e Prototipagem · Insper · 02 jul 2026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0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0" y="0"/>
            <a:ext cx="164592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4" name="Shape 2"/>
          <p:cNvSpPr/>
          <p:nvPr/>
        </p:nvSpPr>
        <p:spPr>
          <a:xfrm>
            <a:off x="3108960" y="0"/>
            <a:ext cx="1737360" cy="50292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5" name="Shape 3"/>
          <p:cNvSpPr/>
          <p:nvPr/>
        </p:nvSpPr>
        <p:spPr>
          <a:xfrm>
            <a:off x="4846320" y="0"/>
            <a:ext cx="1280160" cy="50292"/>
          </a:xfrm>
          <a:prstGeom prst="rect">
            <a:avLst/>
          </a:prstGeom>
          <a:solidFill>
            <a:srgbClr val="F26A1B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0" y="0"/>
            <a:ext cx="155448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31089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spc="4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 · VIABILIDADE — VALIDAÇÃO EM CAMPO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84048" y="603504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3440"/>
              </a:lnSpc>
              <a:buNone/>
            </a:pPr>
            <a:r>
              <a:rPr lang="en-US" sz="4000" dirty="0">
                <a:solidFill>
                  <a:srgbClr val="EFE7D6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6 CONVERSAS.</a:t>
            </a:r>
            <a:endParaRPr lang="en-US" sz="4000" dirty="0"/>
          </a:p>
          <a:p>
            <a:pPr algn="l" indent="0" marL="0">
              <a:lnSpc>
                <a:spcPts val="3440"/>
              </a:lnSpc>
              <a:buNone/>
            </a:pPr>
            <a:r>
              <a:rPr lang="en-US" sz="4000" dirty="0">
                <a:solidFill>
                  <a:srgbClr val="EFE7D6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3 FRASES DE OURO.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29768" y="1847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BFB4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TUTORES · MARCENEIROS · VETERINÁRIO · CATADORES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623560" y="1847088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 QUE VIROU DECISÃO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768" y="2267712"/>
            <a:ext cx="32004" cy="713232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2212848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i="1" dirty="0">
                <a:solidFill>
                  <a:srgbClr val="EFE7D6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“Se parecer móvel, eu deixo na sala.”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566928" y="2724912"/>
            <a:ext cx="4754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TUTORA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623560" y="2267712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FB49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  Linguagem de cadeira, não de caminha: madeira, proporção baixa, presença de móvel.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9768" y="3108960"/>
            <a:ext cx="32004" cy="713232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3054096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i="1" dirty="0">
                <a:solidFill>
                  <a:srgbClr val="EFE7D6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“Lavável não é diferencial. É requisito.”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566928" y="3566160"/>
            <a:ext cx="4754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SÍNTESE DAS ENTREVISTAS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623560" y="310896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FB49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  Capa removível e lavável entrou como requisito — em desenho para a próxima leva.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29768" y="3950208"/>
            <a:ext cx="32004" cy="713232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895344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i="1" dirty="0">
                <a:solidFill>
                  <a:srgbClr val="EFE7D6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“Madeira reaproveitada precisa vir com cuidado.”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566928" y="4407408"/>
            <a:ext cx="4754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MARCENEIRO · VETERINÁRIO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23560" y="3950208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FB49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  Triagem do lote + protocolo de sanitização no roadmap do protótipo.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11480" y="4809744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BFB4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Luiza Britto · Design Thinking e Prototipagem · Insper · 02 jul 2026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FE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0" y="0"/>
            <a:ext cx="164592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4" name="Shape 2"/>
          <p:cNvSpPr/>
          <p:nvPr/>
        </p:nvSpPr>
        <p:spPr>
          <a:xfrm>
            <a:off x="3108960" y="0"/>
            <a:ext cx="1737360" cy="50292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5" name="Shape 3"/>
          <p:cNvSpPr/>
          <p:nvPr/>
        </p:nvSpPr>
        <p:spPr>
          <a:xfrm>
            <a:off x="4846320" y="0"/>
            <a:ext cx="1280160" cy="50292"/>
          </a:xfrm>
          <a:prstGeom prst="rect">
            <a:avLst/>
          </a:prstGeom>
          <a:solidFill>
            <a:srgbClr val="F26A1B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0" y="0"/>
            <a:ext cx="155448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31089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spc="400" kern="0" dirty="0">
                <a:solidFill>
                  <a:srgbClr val="8A4A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 · VIABILIDADE — PROPOSTA DE VALOR SISTÊMICA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84048" y="603504"/>
            <a:ext cx="8412480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3268"/>
              </a:lnSpc>
              <a:buNone/>
            </a:pPr>
            <a:r>
              <a:rPr lang="en-US" sz="3800" dirty="0">
                <a:solidFill>
                  <a:srgbClr val="11100D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NÃO É CAMINHA DESCARTÁVEL.</a:t>
            </a:r>
            <a:endParaRPr lang="en-US" sz="3800" dirty="0"/>
          </a:p>
          <a:p>
            <a:pPr algn="l" indent="0" marL="0">
              <a:lnSpc>
                <a:spcPts val="3268"/>
              </a:lnSpc>
              <a:buNone/>
            </a:pPr>
            <a:r>
              <a:rPr lang="en-US" sz="3800" dirty="0">
                <a:solidFill>
                  <a:srgbClr val="11100D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É MOBILIÁRIO REPARÁVEL.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411480" y="184708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CAMINHA CONVENCIONAL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343400" y="184708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65A2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CADEIRA BENI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11480" y="2039112"/>
            <a:ext cx="6583680" cy="10058"/>
          </a:xfrm>
          <a:prstGeom prst="rect">
            <a:avLst/>
          </a:prstGeom>
          <a:solidFill>
            <a:srgbClr val="3A362E"/>
          </a:solidFill>
          <a:ln/>
        </p:spPr>
      </p:sp>
      <p:sp>
        <p:nvSpPr>
          <p:cNvPr id="13" name="Text 11"/>
          <p:cNvSpPr/>
          <p:nvPr/>
        </p:nvSpPr>
        <p:spPr>
          <a:xfrm>
            <a:off x="411480" y="2121408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7B6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Espuma + plástico virgem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343400" y="2121408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1100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Madeira que já existia + bambu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2587752"/>
            <a:ext cx="6583680" cy="10058"/>
          </a:xfrm>
          <a:prstGeom prst="rect">
            <a:avLst/>
          </a:prstGeom>
          <a:solidFill>
            <a:srgbClr val="3A362E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670048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7B6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Estragou uma parte, joga tudo fora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343400" y="2670048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1100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Troca por componente: perna, acabamento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11480" y="3136392"/>
            <a:ext cx="6583680" cy="10058"/>
          </a:xfrm>
          <a:prstGeom prst="rect">
            <a:avLst/>
          </a:prstGeom>
          <a:solidFill>
            <a:srgbClr val="3A362E"/>
          </a:solidFill>
          <a:ln/>
        </p:spPr>
      </p:sp>
      <p:sp>
        <p:nvSpPr>
          <p:cNvPr id="19" name="Text 17"/>
          <p:cNvSpPr/>
          <p:nvPr/>
        </p:nvSpPr>
        <p:spPr>
          <a:xfrm>
            <a:off x="411480" y="3218688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7B6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Objeto escondido no canto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343400" y="3218688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1100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Presença de móvel — fica na sala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11480" y="3685032"/>
            <a:ext cx="6583680" cy="10058"/>
          </a:xfrm>
          <a:prstGeom prst="rect">
            <a:avLst/>
          </a:prstGeom>
          <a:solidFill>
            <a:srgbClr val="3A362E"/>
          </a:solidFill>
          <a:ln/>
        </p:spPr>
      </p:sp>
      <p:sp>
        <p:nvSpPr>
          <p:cNvPr id="22" name="Text 20"/>
          <p:cNvSpPr/>
          <p:nvPr/>
        </p:nvSpPr>
        <p:spPr>
          <a:xfrm>
            <a:off x="411480" y="3767328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7B6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12–24 meses e aterro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343400" y="3767328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1100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Feita pra durar, reparar e voltar ao ciclo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343400" y="4315968"/>
            <a:ext cx="1463040" cy="237744"/>
          </a:xfrm>
          <a:prstGeom prst="rect">
            <a:avLst/>
          </a:prstGeom>
          <a:noFill/>
          <a:ln w="9525">
            <a:solidFill>
              <a:srgbClr val="9FB4B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9FB4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TECIDOS — EM BREVE</a:t>
            </a:r>
            <a:endParaRPr lang="en-US" sz="800" dirty="0"/>
          </a:p>
        </p:txBody>
      </p:sp>
      <p:pic>
        <p:nvPicPr>
          <p:cNvPr id="25" name="Image 0" descr="site/assets/product-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2011680"/>
            <a:ext cx="1828800" cy="1649896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7040880" y="379476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4A22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cada peça muda com o lote de madeira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411480" y="4809744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Luiza Britto · Design Thinking e Prototipagem · Insper · 02 jul 2026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0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0" y="0"/>
            <a:ext cx="164592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4" name="Shape 2"/>
          <p:cNvSpPr/>
          <p:nvPr/>
        </p:nvSpPr>
        <p:spPr>
          <a:xfrm>
            <a:off x="3108960" y="0"/>
            <a:ext cx="1737360" cy="50292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5" name="Shape 3"/>
          <p:cNvSpPr/>
          <p:nvPr/>
        </p:nvSpPr>
        <p:spPr>
          <a:xfrm>
            <a:off x="4846320" y="0"/>
            <a:ext cx="1280160" cy="50292"/>
          </a:xfrm>
          <a:prstGeom prst="rect">
            <a:avLst/>
          </a:prstGeom>
          <a:solidFill>
            <a:srgbClr val="F26A1B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0" y="0"/>
            <a:ext cx="155448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31089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spc="4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 · PROTÓTIPO FÍSICO — DEMONSTRAÇÃO AO VIVO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84048" y="603504"/>
            <a:ext cx="411480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3612"/>
              </a:lnSpc>
              <a:buNone/>
            </a:pPr>
            <a:r>
              <a:rPr lang="en-US" sz="4200" dirty="0">
                <a:solidFill>
                  <a:srgbClr val="EFE7D6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A CADEIRA,</a:t>
            </a:r>
            <a:endParaRPr lang="en-US" sz="4200" dirty="0"/>
          </a:p>
          <a:p>
            <a:pPr algn="l" indent="0" marL="0">
              <a:lnSpc>
                <a:spcPts val="3612"/>
              </a:lnSpc>
              <a:buNone/>
            </a:pPr>
            <a:r>
              <a:rPr lang="en-US" sz="4200" dirty="0">
                <a:solidFill>
                  <a:srgbClr val="EFE7D6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POR PARTES.</a:t>
            </a:r>
            <a:endParaRPr lang="en-US" sz="4200" dirty="0"/>
          </a:p>
        </p:txBody>
      </p:sp>
      <p:pic>
        <p:nvPicPr>
          <p:cNvPr id="10" name="Image 0" descr="site/assets/product-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965960"/>
            <a:ext cx="3383280" cy="3052307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4206240" y="1481328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ESTRUTURA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4206240" y="167335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FE7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Madeira maciça reaproveitada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247888" y="1536192"/>
            <a:ext cx="777240" cy="237744"/>
          </a:xfrm>
          <a:prstGeom prst="rect">
            <a:avLst/>
          </a:prstGeom>
          <a:noFill/>
          <a:ln w="9525">
            <a:solidFill>
              <a:srgbClr val="C89B48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OK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206240" y="1412748"/>
            <a:ext cx="4828032" cy="8230"/>
          </a:xfrm>
          <a:prstGeom prst="rect">
            <a:avLst/>
          </a:prstGeom>
          <a:solidFill>
            <a:srgbClr val="4A4438"/>
          </a:solidFill>
          <a:ln/>
        </p:spPr>
      </p:sp>
      <p:sp>
        <p:nvSpPr>
          <p:cNvPr id="15" name="Text 12"/>
          <p:cNvSpPr/>
          <p:nvPr/>
        </p:nvSpPr>
        <p:spPr>
          <a:xfrm>
            <a:off x="4206240" y="2139696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PERNAS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206240" y="23317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FE7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Bambu substituível — 4 estacas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8247888" y="2194560"/>
            <a:ext cx="777240" cy="237744"/>
          </a:xfrm>
          <a:prstGeom prst="rect">
            <a:avLst/>
          </a:prstGeom>
          <a:noFill/>
          <a:ln w="9525">
            <a:solidFill>
              <a:srgbClr val="D65A2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D65A2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V2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4206240" y="2071116"/>
            <a:ext cx="4828032" cy="8230"/>
          </a:xfrm>
          <a:prstGeom prst="rect">
            <a:avLst/>
          </a:prstGeom>
          <a:solidFill>
            <a:srgbClr val="4A4438"/>
          </a:solidFill>
          <a:ln/>
        </p:spPr>
      </p:sp>
      <p:sp>
        <p:nvSpPr>
          <p:cNvPr id="19" name="Text 16"/>
          <p:cNvSpPr/>
          <p:nvPr/>
        </p:nvSpPr>
        <p:spPr>
          <a:xfrm>
            <a:off x="4206240" y="2798064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FIXAÇÃO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4206240" y="299008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FE7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Encaixe cavilhado, sem cola estrutural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8247888" y="2852928"/>
            <a:ext cx="777240" cy="237744"/>
          </a:xfrm>
          <a:prstGeom prst="rect">
            <a:avLst/>
          </a:prstGeom>
          <a:noFill/>
          <a:ln w="9525">
            <a:solidFill>
              <a:srgbClr val="C89B48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OK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4206240" y="2729484"/>
            <a:ext cx="4828032" cy="8230"/>
          </a:xfrm>
          <a:prstGeom prst="rect">
            <a:avLst/>
          </a:prstGeom>
          <a:solidFill>
            <a:srgbClr val="4A4438"/>
          </a:solidFill>
          <a:ln/>
        </p:spPr>
      </p:sp>
      <p:sp>
        <p:nvSpPr>
          <p:cNvPr id="23" name="Text 20"/>
          <p:cNvSpPr/>
          <p:nvPr/>
        </p:nvSpPr>
        <p:spPr>
          <a:xfrm>
            <a:off x="4206240" y="3456432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ACABAMENTO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206240" y="364845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FE7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Verniz + vinil: resiste a unha, xixi e mordida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47888" y="3511296"/>
            <a:ext cx="777240" cy="237744"/>
          </a:xfrm>
          <a:prstGeom prst="rect">
            <a:avLst/>
          </a:prstGeom>
          <a:noFill/>
          <a:ln w="9525">
            <a:solidFill>
              <a:srgbClr val="C89B48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OK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4206240" y="3387852"/>
            <a:ext cx="4828032" cy="8230"/>
          </a:xfrm>
          <a:prstGeom prst="rect">
            <a:avLst/>
          </a:prstGeom>
          <a:solidFill>
            <a:srgbClr val="4A4438"/>
          </a:solidFill>
          <a:ln/>
        </p:spPr>
      </p:sp>
      <p:sp>
        <p:nvSpPr>
          <p:cNvPr id="27" name="Text 24"/>
          <p:cNvSpPr/>
          <p:nvPr/>
        </p:nvSpPr>
        <p:spPr>
          <a:xfrm>
            <a:off x="4206240" y="411480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ASSENTO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4206240" y="430682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FE7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Tecidos — capa removível e lavável</a:t>
            </a:r>
            <a:endParaRPr lang="en-US" sz="1250" dirty="0"/>
          </a:p>
        </p:txBody>
      </p:sp>
      <p:sp>
        <p:nvSpPr>
          <p:cNvPr id="29" name="Text 26"/>
          <p:cNvSpPr/>
          <p:nvPr/>
        </p:nvSpPr>
        <p:spPr>
          <a:xfrm>
            <a:off x="8247888" y="4169664"/>
            <a:ext cx="777240" cy="237744"/>
          </a:xfrm>
          <a:prstGeom prst="rect">
            <a:avLst/>
          </a:prstGeom>
          <a:noFill/>
          <a:ln w="9525">
            <a:solidFill>
              <a:srgbClr val="9FB4B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9FB4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BREVE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206240" y="4046220"/>
            <a:ext cx="4828032" cy="8230"/>
          </a:xfrm>
          <a:prstGeom prst="rect">
            <a:avLst/>
          </a:prstGeom>
          <a:solidFill>
            <a:srgbClr val="4A4438"/>
          </a:solidFill>
          <a:ln/>
        </p:spPr>
      </p:sp>
      <p:sp>
        <p:nvSpPr>
          <p:cNvPr id="31" name="Text 28"/>
          <p:cNvSpPr/>
          <p:nvPr/>
        </p:nvSpPr>
        <p:spPr>
          <a:xfrm>
            <a:off x="411480" y="4809744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BFB4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Luiza Britto · Design Thinking e Prototipagem · Insper · 02 jul 2026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0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te/assets/uso-hom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598932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532120" y="0"/>
            <a:ext cx="457200" cy="5143500"/>
          </a:xfrm>
          <a:prstGeom prst="rect">
            <a:avLst/>
          </a:prstGeom>
          <a:solidFill>
            <a:srgbClr val="11100D">
              <a:alpha val="6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617220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spc="4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 · PROTÓTIPO FÍSICO — TESTE EM USO REAL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6144768" y="786384"/>
            <a:ext cx="2926080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3268"/>
              </a:lnSpc>
              <a:buNone/>
            </a:pPr>
            <a:r>
              <a:rPr lang="en-US" sz="3800" dirty="0">
                <a:solidFill>
                  <a:srgbClr val="EFE7D6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NA SALA,</a:t>
            </a:r>
            <a:endParaRPr lang="en-US" sz="3800" dirty="0"/>
          </a:p>
          <a:p>
            <a:pPr algn="l" indent="0" marL="0">
              <a:lnSpc>
                <a:spcPts val="3268"/>
              </a:lnSpc>
              <a:buNone/>
            </a:pPr>
            <a:r>
              <a:rPr lang="en-US" sz="3800" dirty="0">
                <a:solidFill>
                  <a:srgbClr val="EFE7D6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COM CACHORRO.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6172200" y="2377440"/>
            <a:ext cx="2743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00" dirty="0">
                <a:solidFill>
                  <a:srgbClr val="EFE7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Subiu sozinho no primeiro dia — altura pensada pra cão pequeno.</a:t>
            </a:r>
            <a:endParaRPr lang="en-US" sz="12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00" dirty="0">
                <a:solidFill>
                  <a:srgbClr val="EFE7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Aguentou pata, peso e soneca comprida.</a:t>
            </a:r>
            <a:endParaRPr lang="en-US" sz="12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00" dirty="0">
                <a:solidFill>
                  <a:srgbClr val="EFE7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Ficou na sala. Não no canto.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 rot="-240000">
            <a:off x="6172200" y="41148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89B48"/>
                </a:solidFill>
                <a:latin typeface="Permanent Marker" pitchFamily="34" charset="0"/>
                <a:ea typeface="Permanent Marker" pitchFamily="34" charset="-122"/>
                <a:cs typeface="Permanent Marker" pitchFamily="34" charset="-120"/>
              </a:rPr>
              <a:t>teste nº 1 · aprovado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11480" y="4809744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BFB4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Luiza Britto · Design Thinking e Prototipagem · Insper · 02 jul 2026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FE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0" y="0"/>
            <a:ext cx="164592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4" name="Shape 2"/>
          <p:cNvSpPr/>
          <p:nvPr/>
        </p:nvSpPr>
        <p:spPr>
          <a:xfrm>
            <a:off x="3108960" y="0"/>
            <a:ext cx="1737360" cy="50292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5" name="Shape 3"/>
          <p:cNvSpPr/>
          <p:nvPr/>
        </p:nvSpPr>
        <p:spPr>
          <a:xfrm>
            <a:off x="4846320" y="0"/>
            <a:ext cx="1280160" cy="50292"/>
          </a:xfrm>
          <a:prstGeom prst="rect">
            <a:avLst/>
          </a:prstGeom>
          <a:solidFill>
            <a:srgbClr val="F26A1B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0" y="0"/>
            <a:ext cx="155448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31089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spc="400" kern="0" dirty="0">
                <a:solidFill>
                  <a:srgbClr val="8A4A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 · PROTÓTIPO DIGITAL — DOCUMENTAÇÃO NAVEGÁVEL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84048" y="603504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3440"/>
              </a:lnSpc>
              <a:buNone/>
            </a:pPr>
            <a:r>
              <a:rPr lang="en-US" sz="4000" dirty="0">
                <a:solidFill>
                  <a:srgbClr val="11100D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DO OBJETO AO SISTEMA.</a:t>
            </a:r>
            <a:endParaRPr lang="en-US" sz="4000" dirty="0"/>
          </a:p>
        </p:txBody>
      </p:sp>
      <p:pic>
        <p:nvPicPr>
          <p:cNvPr id="10" name="Image 0" descr="entrega/shots/site-he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627632"/>
            <a:ext cx="2697480" cy="1812369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11480" y="1627632"/>
            <a:ext cx="2697480" cy="1812369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00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11480" y="3493008"/>
            <a:ext cx="2697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CAPA · A PEÇA</a:t>
            </a:r>
            <a:endParaRPr lang="en-US" sz="850" dirty="0"/>
          </a:p>
        </p:txBody>
      </p:sp>
      <p:pic>
        <p:nvPicPr>
          <p:cNvPr id="13" name="Image 1" descr="entrega/shots/site-pranch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1627632"/>
            <a:ext cx="2697480" cy="1812369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3246120" y="1627632"/>
            <a:ext cx="2697480" cy="1812369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00D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3246120" y="3493008"/>
            <a:ext cx="2697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PRANCHA TÉCNICA</a:t>
            </a:r>
            <a:endParaRPr lang="en-US" sz="850" dirty="0"/>
          </a:p>
        </p:txBody>
      </p:sp>
      <p:pic>
        <p:nvPicPr>
          <p:cNvPr id="16" name="Image 2" descr="entrega/shots/site-suport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627632"/>
            <a:ext cx="2697480" cy="1812369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6080760" y="1627632"/>
            <a:ext cx="2697480" cy="1812369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00D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6080760" y="3493008"/>
            <a:ext cx="2697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SUPORTE CIRCULAR</a:t>
            </a:r>
            <a:endParaRPr lang="en-US" sz="850" dirty="0"/>
          </a:p>
        </p:txBody>
      </p:sp>
      <p:sp>
        <p:nvSpPr>
          <p:cNvPr id="19" name="Text 14"/>
          <p:cNvSpPr/>
          <p:nvPr/>
        </p:nvSpPr>
        <p:spPr>
          <a:xfrm>
            <a:off x="411480" y="397764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Site-documentação com a história do projeto: peça, materiais, processo V1→V2, teste na casa, ciclo e suporte circular. Entregue em HTML + PDF junto com estes slides.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411480" y="4809744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Luiza Britto · Design Thinking e Prototipagem · Insper · 02 jul 2026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0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0" y="0"/>
            <a:ext cx="164592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4" name="Shape 2"/>
          <p:cNvSpPr/>
          <p:nvPr/>
        </p:nvSpPr>
        <p:spPr>
          <a:xfrm>
            <a:off x="3108960" y="0"/>
            <a:ext cx="1737360" cy="50292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5" name="Shape 3"/>
          <p:cNvSpPr/>
          <p:nvPr/>
        </p:nvSpPr>
        <p:spPr>
          <a:xfrm>
            <a:off x="4846320" y="0"/>
            <a:ext cx="1280160" cy="50292"/>
          </a:xfrm>
          <a:prstGeom prst="rect">
            <a:avLst/>
          </a:prstGeom>
          <a:solidFill>
            <a:srgbClr val="F26A1B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0" y="0"/>
            <a:ext cx="155448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31089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spc="4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 · PROCESSO SISTÊMICO — ECONOMIA CIRCULAR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84048" y="603504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3096"/>
              </a:lnSpc>
              <a:buNone/>
            </a:pPr>
            <a:r>
              <a:rPr lang="en-US" sz="3600" dirty="0">
                <a:solidFill>
                  <a:srgbClr val="EFE7D6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O CICLO NÃO TERMINA NA VENDA.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411480" y="1572768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900" dirty="0">
                <a:solidFill>
                  <a:srgbClr val="EFE7D6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COMPROU</a:t>
            </a:r>
            <a:pPr algn="l" indent="0" marL="0">
              <a:buNone/>
            </a:pPr>
            <a:r>
              <a:rPr lang="en-US" sz="2900" dirty="0">
                <a:solidFill>
                  <a:srgbClr val="D65A2B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  →  </a:t>
            </a:r>
            <a:pPr algn="l" indent="0" marL="0">
              <a:buNone/>
            </a:pPr>
            <a:r>
              <a:rPr lang="en-US" sz="2900" dirty="0">
                <a:solidFill>
                  <a:srgbClr val="EFE7D6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USOU</a:t>
            </a:r>
            <a:pPr algn="l" indent="0" marL="0">
              <a:buNone/>
            </a:pPr>
            <a:r>
              <a:rPr lang="en-US" sz="2900" dirty="0">
                <a:solidFill>
                  <a:srgbClr val="D65A2B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  →  </a:t>
            </a:r>
            <a:pPr algn="l" indent="0" marL="0">
              <a:buNone/>
            </a:pPr>
            <a:r>
              <a:rPr lang="en-US" sz="2900" dirty="0">
                <a:solidFill>
                  <a:srgbClr val="EFE7D6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REPAROU</a:t>
            </a:r>
            <a:pPr algn="l" indent="0" marL="0">
              <a:buNone/>
            </a:pPr>
            <a:r>
              <a:rPr lang="en-US" sz="2900" dirty="0">
                <a:solidFill>
                  <a:srgbClr val="D65A2B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  →  </a:t>
            </a:r>
            <a:pPr algn="l" indent="0" marL="0">
              <a:buNone/>
            </a:pPr>
            <a:r>
              <a:rPr lang="en-US" sz="2900" dirty="0">
                <a:solidFill>
                  <a:srgbClr val="EFE7D6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DEVOLVEU</a:t>
            </a:r>
            <a:pPr algn="l" indent="0" marL="0">
              <a:buNone/>
            </a:pPr>
            <a:r>
              <a:rPr lang="en-US" sz="2900" dirty="0">
                <a:solidFill>
                  <a:srgbClr val="D65A2B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  →  </a:t>
            </a:r>
            <a:pPr algn="l" indent="0" marL="0">
              <a:buNone/>
            </a:pPr>
            <a:r>
              <a:rPr lang="en-US" sz="2900" dirty="0">
                <a:solidFill>
                  <a:srgbClr val="C89B48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REAPROVEITOU</a:t>
            </a:r>
            <a:endParaRPr lang="en-US" sz="2900" dirty="0"/>
          </a:p>
        </p:txBody>
      </p:sp>
      <p:sp>
        <p:nvSpPr>
          <p:cNvPr id="11" name="Shape 9"/>
          <p:cNvSpPr/>
          <p:nvPr/>
        </p:nvSpPr>
        <p:spPr>
          <a:xfrm>
            <a:off x="411480" y="2395728"/>
            <a:ext cx="2029968" cy="1627632"/>
          </a:xfrm>
          <a:prstGeom prst="rect">
            <a:avLst/>
          </a:prstGeom>
          <a:solidFill>
            <a:srgbClr val="1A1712"/>
          </a:solidFill>
          <a:ln w="9525">
            <a:solidFill>
              <a:srgbClr val="4A443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1208" y="2505456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MATÉRIA-PRIMA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21208" y="274320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FB49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Madeira de reuso como intenção de design: o lote define a peça.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21208" y="373075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PROTÓTIPO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551176" y="2395728"/>
            <a:ext cx="2029968" cy="1627632"/>
          </a:xfrm>
          <a:prstGeom prst="rect">
            <a:avLst/>
          </a:prstGeom>
          <a:solidFill>
            <a:srgbClr val="1A1712"/>
          </a:solidFill>
          <a:ln w="9525">
            <a:solidFill>
              <a:srgbClr val="4A443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60904" y="2505456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MANUTENÇÃO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660904" y="274320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FB49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Risco e marca se lixa; acabamento reaplicável. Capa lavável em desenho.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660904" y="373075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PROTÓTIPO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4690872" y="2395728"/>
            <a:ext cx="2029968" cy="1627632"/>
          </a:xfrm>
          <a:prstGeom prst="rect">
            <a:avLst/>
          </a:prstGeom>
          <a:solidFill>
            <a:srgbClr val="1A1712"/>
          </a:solidFill>
          <a:ln w="9525">
            <a:solidFill>
              <a:srgbClr val="4A443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2505456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REPARO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800600" y="274320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FB49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estaca de bambu sai uma, entra outra — sem desmontar o resto.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00600" y="373075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PROTÓTIPO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6830568" y="2395728"/>
            <a:ext cx="2029968" cy="1627632"/>
          </a:xfrm>
          <a:prstGeom prst="rect">
            <a:avLst/>
          </a:prstGeom>
          <a:solidFill>
            <a:srgbClr val="1A1712"/>
          </a:solidFill>
          <a:ln w="9525">
            <a:solidFill>
              <a:srgbClr val="4A4438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940296" y="2505456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9FB4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FIM DE VIDA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940296" y="274320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FB49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Devolve → triagem: reuso, novos produtos, protótipos ou descarte responsável.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940296" y="373075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9FB4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EVOLUÇÃO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11480" y="4279392"/>
            <a:ext cx="8321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FE7D6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“Não jogue a Beni fora.”  —  suporte circular: troca, reparo e devolução orientados pós-venda.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11480" y="4809744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BFB4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Luiza Britto · Design Thinking e Prototipagem · Insper · 02 jul 2026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6DA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0" y="0"/>
            <a:ext cx="164592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4" name="Shape 2"/>
          <p:cNvSpPr/>
          <p:nvPr/>
        </p:nvSpPr>
        <p:spPr>
          <a:xfrm>
            <a:off x="3108960" y="0"/>
            <a:ext cx="1737360" cy="50292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5" name="Shape 3"/>
          <p:cNvSpPr/>
          <p:nvPr/>
        </p:nvSpPr>
        <p:spPr>
          <a:xfrm>
            <a:off x="4846320" y="0"/>
            <a:ext cx="1280160" cy="50292"/>
          </a:xfrm>
          <a:prstGeom prst="rect">
            <a:avLst/>
          </a:prstGeom>
          <a:solidFill>
            <a:srgbClr val="F26A1B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0" y="0"/>
            <a:ext cx="155448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31089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spc="400" kern="0" dirty="0">
                <a:solidFill>
                  <a:srgbClr val="8A4A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 · PROCESSO PRODUTIVO — ERROS E ACERTOS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84048" y="603504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3096"/>
              </a:lnSpc>
              <a:buNone/>
            </a:pPr>
            <a:r>
              <a:rPr lang="en-US" sz="3600" dirty="0">
                <a:solidFill>
                  <a:srgbClr val="11100D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O ERRO TAMBÉM É MATERIAL.</a:t>
            </a:r>
            <a:endParaRPr lang="en-US" sz="3600" dirty="0"/>
          </a:p>
        </p:txBody>
      </p:sp>
      <p:pic>
        <p:nvPicPr>
          <p:cNvPr id="10" name="Image 0" descr="site/assets/v1-chair-bw.jpg">    </p:cNvPr>
          <p:cNvPicPr>
            <a:picLocks noChangeAspect="1"/>
          </p:cNvPicPr>
          <p:nvPr/>
        </p:nvPicPr>
        <p:blipFill>
          <a:blip r:embed="rId1"/>
          <a:srcRect l="0" r="0" t="181" b="181"/>
          <a:stretch/>
        </p:blipFill>
        <p:spPr>
          <a:xfrm>
            <a:off x="411480" y="1554480"/>
            <a:ext cx="2103120" cy="20116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 rot="-360000">
            <a:off x="502920" y="1700784"/>
            <a:ext cx="1463040" cy="310896"/>
          </a:xfrm>
          <a:prstGeom prst="rect">
            <a:avLst/>
          </a:prstGeom>
          <a:noFill/>
          <a:ln w="15240">
            <a:solidFill>
              <a:srgbClr val="D65A2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D65A2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NÃO FECHOU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11480" y="3657600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V1 · PÉS E BRAÇOS EM MARCHETARIA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697480" y="1627632"/>
            <a:ext cx="28346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Densidade variável: cada pé saía diferente.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Exigia precisão que a madeira de reuso não dá.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Estética colada: quebrou uma parte, perdeu a peça. E ficou pesada.</a:t>
            </a:r>
            <a:endParaRPr lang="en-US" sz="1100" dirty="0"/>
          </a:p>
        </p:txBody>
      </p:sp>
      <p:pic>
        <p:nvPicPr>
          <p:cNvPr id="14" name="Image 1" descr="site/assets/dog-chair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806440" y="1554480"/>
            <a:ext cx="2011680" cy="20116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 rot="-360000">
            <a:off x="5897880" y="1700784"/>
            <a:ext cx="1737360" cy="310896"/>
          </a:xfrm>
          <a:prstGeom prst="rect">
            <a:avLst/>
          </a:prstGeom>
          <a:noFill/>
          <a:ln w="15240">
            <a:solidFill>
              <a:srgbClr val="243D2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243D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MAIS REPARÁVEL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5806440" y="3657600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V2 · ESTACAS DE BAMBU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7955280" y="1627632"/>
            <a:ext cx="11430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5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Estrutura e pernas viraram partes independentes.</a:t>
            </a:r>
            <a:endParaRPr lang="en-US" sz="9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5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Estaca padronizada: sai uma, entra outra.</a:t>
            </a:r>
            <a:endParaRPr lang="en-US" sz="9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5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Menos madeira na base — mais leve de mover e limpar.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411480" y="4160520"/>
            <a:ext cx="8321040" cy="512064"/>
          </a:xfrm>
          <a:prstGeom prst="rect">
            <a:avLst/>
          </a:prstGeom>
          <a:solidFill>
            <a:srgbClr val="11100D"/>
          </a:solidFill>
          <a:ln/>
        </p:spPr>
      </p:sp>
      <p:sp>
        <p:nvSpPr>
          <p:cNvPr id="19" name="Text 15"/>
          <p:cNvSpPr/>
          <p:nvPr/>
        </p:nvSpPr>
        <p:spPr>
          <a:xfrm>
            <a:off x="594360" y="4187952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EFE7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TENSÕES:   USUÁRIO (conforto + altura + higiene)   ×   MATERIAL (variação do reuso)   ×   LABORATÓRIO (tempo e ferramentas)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411480" y="4809744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Luiza Britto · Design Thinking e Prototipagem · Insper · 02 jul 2026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FE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0" y="0"/>
            <a:ext cx="164592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4" name="Shape 2"/>
          <p:cNvSpPr/>
          <p:nvPr/>
        </p:nvSpPr>
        <p:spPr>
          <a:xfrm>
            <a:off x="3108960" y="0"/>
            <a:ext cx="1737360" cy="50292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5" name="Shape 3"/>
          <p:cNvSpPr/>
          <p:nvPr/>
        </p:nvSpPr>
        <p:spPr>
          <a:xfrm>
            <a:off x="4846320" y="0"/>
            <a:ext cx="1280160" cy="50292"/>
          </a:xfrm>
          <a:prstGeom prst="rect">
            <a:avLst/>
          </a:prstGeom>
          <a:solidFill>
            <a:srgbClr val="F26A1B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0" y="0"/>
            <a:ext cx="155448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31089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spc="400" kern="0" dirty="0">
                <a:solidFill>
                  <a:srgbClr val="8A4A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VIABILIDADE SISTÊMICA — SÍNTESE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84048" y="603504"/>
            <a:ext cx="841248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2924"/>
              </a:lnSpc>
              <a:buNone/>
            </a:pPr>
            <a:r>
              <a:rPr lang="en-US" sz="3400" dirty="0">
                <a:solidFill>
                  <a:srgbClr val="11100D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CINCO PROVAS PARA A CADEIRA EXISTIR.</a:t>
            </a:r>
            <a:endParaRPr lang="en-US" sz="3400" dirty="0"/>
          </a:p>
        </p:txBody>
      </p:sp>
      <p:sp>
        <p:nvSpPr>
          <p:cNvPr id="10" name="Shape 8"/>
          <p:cNvSpPr/>
          <p:nvPr/>
        </p:nvSpPr>
        <p:spPr>
          <a:xfrm>
            <a:off x="411480" y="1627632"/>
            <a:ext cx="1554480" cy="512064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627632"/>
            <a:ext cx="15544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EFE7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CLIENTE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48840" y="1655064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Cabe na sala sem parecer caminha — linguagem de móvel, presença discreta.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148840" y="2139696"/>
            <a:ext cx="6583680" cy="9144"/>
          </a:xfrm>
          <a:prstGeom prst="rect">
            <a:avLst/>
          </a:prstGeom>
          <a:solidFill>
            <a:srgbClr val="3A362E"/>
          </a:solidFill>
          <a:ln/>
        </p:spPr>
      </p:sp>
      <p:sp>
        <p:nvSpPr>
          <p:cNvPr id="14" name="Shape 12"/>
          <p:cNvSpPr/>
          <p:nvPr/>
        </p:nvSpPr>
        <p:spPr>
          <a:xfrm>
            <a:off x="411480" y="2249424"/>
            <a:ext cx="1554480" cy="512064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15" name="Text 13"/>
          <p:cNvSpPr/>
          <p:nvPr/>
        </p:nvSpPr>
        <p:spPr>
          <a:xfrm>
            <a:off x="411480" y="2249424"/>
            <a:ext cx="15544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EFE7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48840" y="2276856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Altura baixa pra subir sozinho; plataforma firme e ventilada.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2148840" y="2761488"/>
            <a:ext cx="6583680" cy="9144"/>
          </a:xfrm>
          <a:prstGeom prst="rect">
            <a:avLst/>
          </a:prstGeom>
          <a:solidFill>
            <a:srgbClr val="3A362E"/>
          </a:solidFill>
          <a:ln/>
        </p:spPr>
      </p:sp>
      <p:sp>
        <p:nvSpPr>
          <p:cNvPr id="18" name="Shape 16"/>
          <p:cNvSpPr/>
          <p:nvPr/>
        </p:nvSpPr>
        <p:spPr>
          <a:xfrm>
            <a:off x="411480" y="2871216"/>
            <a:ext cx="1554480" cy="512064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19" name="Text 17"/>
          <p:cNvSpPr/>
          <p:nvPr/>
        </p:nvSpPr>
        <p:spPr>
          <a:xfrm>
            <a:off x="411480" y="2871216"/>
            <a:ext cx="15544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EFE7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PRODUÇÃO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48840" y="2898648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Cortes retos e encaixes simples — marcenaria de baixa complexidade reproduz.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2148840" y="3383280"/>
            <a:ext cx="6583680" cy="9144"/>
          </a:xfrm>
          <a:prstGeom prst="rect">
            <a:avLst/>
          </a:prstGeom>
          <a:solidFill>
            <a:srgbClr val="3A362E"/>
          </a:solidFill>
          <a:ln/>
        </p:spPr>
      </p:sp>
      <p:sp>
        <p:nvSpPr>
          <p:cNvPr id="22" name="Shape 20"/>
          <p:cNvSpPr/>
          <p:nvPr/>
        </p:nvSpPr>
        <p:spPr>
          <a:xfrm>
            <a:off x="411480" y="3493008"/>
            <a:ext cx="1554480" cy="512064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3493008"/>
            <a:ext cx="15544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EFE7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ECOSSISTEMA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48840" y="352044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Aproveita sobras rígidas que virariam descarte volumoso urbano.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2148840" y="4005072"/>
            <a:ext cx="6583680" cy="9144"/>
          </a:xfrm>
          <a:prstGeom prst="rect">
            <a:avLst/>
          </a:prstGeom>
          <a:solidFill>
            <a:srgbClr val="3A362E"/>
          </a:solidFill>
          <a:ln/>
        </p:spPr>
      </p:sp>
      <p:sp>
        <p:nvSpPr>
          <p:cNvPr id="26" name="Shape 24"/>
          <p:cNvSpPr/>
          <p:nvPr/>
        </p:nvSpPr>
        <p:spPr>
          <a:xfrm>
            <a:off x="411480" y="4114800"/>
            <a:ext cx="1554480" cy="512064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27" name="Text 25"/>
          <p:cNvSpPr/>
          <p:nvPr/>
        </p:nvSpPr>
        <p:spPr>
          <a:xfrm>
            <a:off x="411480" y="4114800"/>
            <a:ext cx="15544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EFE7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NEGÓCIO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2148840" y="4142232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peça dura; a reposição circula — perna vendida como componente.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2148840" y="4626864"/>
            <a:ext cx="6583680" cy="9144"/>
          </a:xfrm>
          <a:prstGeom prst="rect">
            <a:avLst/>
          </a:prstGeom>
          <a:solidFill>
            <a:srgbClr val="3A362E"/>
          </a:solidFill>
          <a:ln/>
        </p:spPr>
      </p:sp>
      <p:sp>
        <p:nvSpPr>
          <p:cNvPr id="30" name="Text 28"/>
          <p:cNvSpPr/>
          <p:nvPr/>
        </p:nvSpPr>
        <p:spPr>
          <a:xfrm>
            <a:off x="411480" y="4809744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Luiza Britto · Design Thinking e Prototipagem · Insper · 02 jul 2026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0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0" y="0"/>
            <a:ext cx="164592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4" name="Shape 2"/>
          <p:cNvSpPr/>
          <p:nvPr/>
        </p:nvSpPr>
        <p:spPr>
          <a:xfrm>
            <a:off x="3108960" y="0"/>
            <a:ext cx="1737360" cy="50292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5" name="Shape 3"/>
          <p:cNvSpPr/>
          <p:nvPr/>
        </p:nvSpPr>
        <p:spPr>
          <a:xfrm>
            <a:off x="4846320" y="0"/>
            <a:ext cx="1280160" cy="50292"/>
          </a:xfrm>
          <a:prstGeom prst="rect">
            <a:avLst/>
          </a:prstGeom>
          <a:solidFill>
            <a:srgbClr val="F26A1B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0" y="0"/>
            <a:ext cx="155448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8" name="Shape 6"/>
          <p:cNvSpPr/>
          <p:nvPr/>
        </p:nvSpPr>
        <p:spPr>
          <a:xfrm>
            <a:off x="513588" y="513080"/>
            <a:ext cx="111760" cy="726440"/>
          </a:xfrm>
          <a:prstGeom prst="roundRect">
            <a:avLst>
              <a:gd name="adj" fmla="val 45000"/>
            </a:avLst>
          </a:prstGeom>
          <a:solidFill>
            <a:srgbClr val="8A4A22"/>
          </a:solidFill>
          <a:ln/>
        </p:spPr>
      </p:sp>
      <p:sp>
        <p:nvSpPr>
          <p:cNvPr id="9" name="Shape 7"/>
          <p:cNvSpPr/>
          <p:nvPr/>
        </p:nvSpPr>
        <p:spPr>
          <a:xfrm>
            <a:off x="625348" y="513080"/>
            <a:ext cx="419100" cy="97790"/>
          </a:xfrm>
          <a:prstGeom prst="roundRect">
            <a:avLst>
              <a:gd name="adj" fmla="val 45000"/>
            </a:avLst>
          </a:prstGeom>
          <a:solidFill>
            <a:srgbClr val="8A4A22"/>
          </a:solidFill>
          <a:ln/>
        </p:spPr>
      </p:sp>
      <p:sp>
        <p:nvSpPr>
          <p:cNvPr id="10" name="Shape 8"/>
          <p:cNvSpPr/>
          <p:nvPr/>
        </p:nvSpPr>
        <p:spPr>
          <a:xfrm>
            <a:off x="625348" y="652780"/>
            <a:ext cx="558800" cy="97790"/>
          </a:xfrm>
          <a:prstGeom prst="roundRect">
            <a:avLst>
              <a:gd name="adj" fmla="val 45000"/>
            </a:avLst>
          </a:prstGeom>
          <a:solidFill>
            <a:srgbClr val="8A4A22"/>
          </a:solidFill>
          <a:ln/>
        </p:spPr>
      </p:sp>
      <p:sp>
        <p:nvSpPr>
          <p:cNvPr id="11" name="Shape 9"/>
          <p:cNvSpPr/>
          <p:nvPr/>
        </p:nvSpPr>
        <p:spPr>
          <a:xfrm>
            <a:off x="625348" y="792480"/>
            <a:ext cx="391160" cy="97790"/>
          </a:xfrm>
          <a:prstGeom prst="roundRect">
            <a:avLst>
              <a:gd name="adj" fmla="val 45000"/>
            </a:avLst>
          </a:prstGeom>
          <a:solidFill>
            <a:srgbClr val="8A4A22"/>
          </a:solidFill>
          <a:ln/>
        </p:spPr>
      </p:sp>
      <p:sp>
        <p:nvSpPr>
          <p:cNvPr id="12" name="Shape 10"/>
          <p:cNvSpPr/>
          <p:nvPr/>
        </p:nvSpPr>
        <p:spPr>
          <a:xfrm>
            <a:off x="625348" y="876300"/>
            <a:ext cx="391160" cy="97790"/>
          </a:xfrm>
          <a:prstGeom prst="roundRect">
            <a:avLst>
              <a:gd name="adj" fmla="val 45000"/>
            </a:avLst>
          </a:prstGeom>
          <a:solidFill>
            <a:srgbClr val="D65A2B"/>
          </a:solidFill>
          <a:ln/>
        </p:spPr>
      </p:sp>
      <p:sp>
        <p:nvSpPr>
          <p:cNvPr id="13" name="Shape 11"/>
          <p:cNvSpPr/>
          <p:nvPr/>
        </p:nvSpPr>
        <p:spPr>
          <a:xfrm>
            <a:off x="625348" y="1016000"/>
            <a:ext cx="586740" cy="97790"/>
          </a:xfrm>
          <a:prstGeom prst="roundRect">
            <a:avLst>
              <a:gd name="adj" fmla="val 45000"/>
            </a:avLst>
          </a:prstGeom>
          <a:solidFill>
            <a:srgbClr val="D65A2B"/>
          </a:solidFill>
          <a:ln/>
        </p:spPr>
      </p:sp>
      <p:sp>
        <p:nvSpPr>
          <p:cNvPr id="14" name="Shape 12"/>
          <p:cNvSpPr/>
          <p:nvPr/>
        </p:nvSpPr>
        <p:spPr>
          <a:xfrm>
            <a:off x="625348" y="1155700"/>
            <a:ext cx="447040" cy="97790"/>
          </a:xfrm>
          <a:prstGeom prst="roundRect">
            <a:avLst>
              <a:gd name="adj" fmla="val 45000"/>
            </a:avLst>
          </a:prstGeom>
          <a:solidFill>
            <a:srgbClr val="D65A2B"/>
          </a:solidFill>
          <a:ln/>
        </p:spPr>
      </p:sp>
      <p:sp>
        <p:nvSpPr>
          <p:cNvPr id="15" name="Shape 13"/>
          <p:cNvSpPr/>
          <p:nvPr/>
        </p:nvSpPr>
        <p:spPr>
          <a:xfrm>
            <a:off x="569468" y="1267460"/>
            <a:ext cx="97790" cy="167640"/>
          </a:xfrm>
          <a:prstGeom prst="roundRect">
            <a:avLst>
              <a:gd name="adj" fmla="val 45000"/>
            </a:avLst>
          </a:prstGeom>
          <a:solidFill>
            <a:srgbClr val="C89B48"/>
          </a:solidFill>
          <a:ln/>
        </p:spPr>
      </p:sp>
      <p:sp>
        <p:nvSpPr>
          <p:cNvPr id="16" name="Shape 14"/>
          <p:cNvSpPr/>
          <p:nvPr/>
        </p:nvSpPr>
        <p:spPr>
          <a:xfrm>
            <a:off x="1016508" y="1267460"/>
            <a:ext cx="97790" cy="167640"/>
          </a:xfrm>
          <a:prstGeom prst="roundRect">
            <a:avLst>
              <a:gd name="adj" fmla="val 45000"/>
            </a:avLst>
          </a:prstGeom>
          <a:solidFill>
            <a:srgbClr val="C89B48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1600200"/>
            <a:ext cx="8412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600" dirty="0">
                <a:solidFill>
                  <a:srgbClr val="EFE7D6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CADEIRA </a:t>
            </a:r>
            <a:pPr algn="l" indent="0" marL="0">
              <a:buNone/>
            </a:pPr>
            <a:r>
              <a:rPr lang="en-US" sz="9600" dirty="0">
                <a:solidFill>
                  <a:srgbClr val="D65A2B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BENI</a:t>
            </a:r>
            <a:endParaRPr lang="en-US" sz="9600" dirty="0"/>
          </a:p>
        </p:txBody>
      </p:sp>
      <p:sp>
        <p:nvSpPr>
          <p:cNvPr id="18" name="Text 16"/>
          <p:cNvSpPr/>
          <p:nvPr/>
        </p:nvSpPr>
        <p:spPr>
          <a:xfrm>
            <a:off x="429768" y="312724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EFE7D6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 caminha saiu do canto. Virou mobiliário.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429768" y="3703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OBRIGADA · PERGUNTAS?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29768" y="40233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BFB4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Documentação digital entregue em HTML + PDF · luizambritto@gmail.com</a:t>
            </a:r>
            <a:endParaRPr lang="en-US" sz="950" dirty="0"/>
          </a:p>
        </p:txBody>
      </p:sp>
      <p:pic>
        <p:nvPicPr>
          <p:cNvPr id="21" name="Image 0" descr="site/assets/dog-fa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1417320"/>
            <a:ext cx="2468880" cy="246888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 rot="-180000">
            <a:off x="6309360" y="393192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89B48"/>
                </a:solidFill>
                <a:latin typeface="Permanent Marker" pitchFamily="34" charset="0"/>
                <a:ea typeface="Permanent Marker" pitchFamily="34" charset="-122"/>
                <a:cs typeface="Permanent Marker" pitchFamily="34" charset="-120"/>
              </a:rPr>
              <a:t>soneca oficial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411480" y="4809744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BFB4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Luiza Britto · Design Thinking e Prototipagem · Insper · 02 jul 2026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FE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0" y="0"/>
            <a:ext cx="164592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4" name="Shape 2"/>
          <p:cNvSpPr/>
          <p:nvPr/>
        </p:nvSpPr>
        <p:spPr>
          <a:xfrm>
            <a:off x="3108960" y="0"/>
            <a:ext cx="1737360" cy="50292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5" name="Shape 3"/>
          <p:cNvSpPr/>
          <p:nvPr/>
        </p:nvSpPr>
        <p:spPr>
          <a:xfrm>
            <a:off x="4846320" y="0"/>
            <a:ext cx="1280160" cy="50292"/>
          </a:xfrm>
          <a:prstGeom prst="rect">
            <a:avLst/>
          </a:prstGeom>
          <a:solidFill>
            <a:srgbClr val="F26A1B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0" y="0"/>
            <a:ext cx="155448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31089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spc="400" kern="0" dirty="0">
                <a:solidFill>
                  <a:srgbClr val="8A4A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APÊNDICE — O QUE AINDA FALTA (HONESTO)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84048" y="603504"/>
            <a:ext cx="64008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3096"/>
              </a:lnSpc>
              <a:buNone/>
            </a:pPr>
            <a:r>
              <a:rPr lang="en-US" sz="3600" dirty="0">
                <a:solidFill>
                  <a:srgbClr val="11100D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PRÓXIMO PROTÓTIPO.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411480" y="1645920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00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Capa de tecido removível e lavável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675120" y="1682496"/>
            <a:ext cx="1371600" cy="237744"/>
          </a:xfrm>
          <a:prstGeom prst="rect">
            <a:avLst/>
          </a:prstGeom>
          <a:noFill/>
          <a:ln w="9525">
            <a:solidFill>
              <a:srgbClr val="9FB4B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9FB4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EM BREVE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11480" y="2029968"/>
            <a:ext cx="7635240" cy="9144"/>
          </a:xfrm>
          <a:prstGeom prst="rect">
            <a:avLst/>
          </a:prstGeom>
          <a:solidFill>
            <a:srgbClr val="3A362E"/>
          </a:solidFill>
          <a:ln/>
        </p:spPr>
      </p:sp>
      <p:sp>
        <p:nvSpPr>
          <p:cNvPr id="13" name="Text 11"/>
          <p:cNvSpPr/>
          <p:nvPr/>
        </p:nvSpPr>
        <p:spPr>
          <a:xfrm>
            <a:off x="411480" y="2121408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00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Padronizar medidas P e M a partir do lote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675120" y="2157984"/>
            <a:ext cx="1371600" cy="237744"/>
          </a:xfrm>
          <a:prstGeom prst="rect">
            <a:avLst/>
          </a:prstGeom>
          <a:noFill/>
          <a:ln w="9525">
            <a:solidFill>
              <a:srgbClr val="8A7B6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EM DESENHO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11480" y="2505456"/>
            <a:ext cx="7635240" cy="9144"/>
          </a:xfrm>
          <a:prstGeom prst="rect">
            <a:avLst/>
          </a:prstGeom>
          <a:solidFill>
            <a:srgbClr val="3A362E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596896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00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Protocolo de sanitização da madeira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675120" y="2633472"/>
            <a:ext cx="1371600" cy="237744"/>
          </a:xfrm>
          <a:prstGeom prst="rect">
            <a:avLst/>
          </a:prstGeom>
          <a:noFill/>
          <a:ln w="9525">
            <a:solidFill>
              <a:srgbClr val="9FB4B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9FB4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HIPÓTESE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11480" y="2980944"/>
            <a:ext cx="7635240" cy="9144"/>
          </a:xfrm>
          <a:prstGeom prst="rect">
            <a:avLst/>
          </a:prstGeom>
          <a:solidFill>
            <a:srgbClr val="3A362E"/>
          </a:solidFill>
          <a:ln/>
        </p:spPr>
      </p:sp>
      <p:sp>
        <p:nvSpPr>
          <p:cNvPr id="19" name="Text 17"/>
          <p:cNvSpPr/>
          <p:nvPr/>
        </p:nvSpPr>
        <p:spPr>
          <a:xfrm>
            <a:off x="411480" y="3072384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00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Testes com mais cães, casas e semanas de uso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675120" y="3108960"/>
            <a:ext cx="1371600" cy="237744"/>
          </a:xfrm>
          <a:prstGeom prst="rect">
            <a:avLst/>
          </a:prstGeom>
          <a:noFill/>
          <a:ln w="9525">
            <a:solidFill>
              <a:srgbClr val="8A7B6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PLANEJADO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11480" y="3456432"/>
            <a:ext cx="7635240" cy="9144"/>
          </a:xfrm>
          <a:prstGeom prst="rect">
            <a:avLst/>
          </a:prstGeom>
          <a:solidFill>
            <a:srgbClr val="3A362E"/>
          </a:solidFill>
          <a:ln/>
        </p:spPr>
      </p:sp>
      <p:sp>
        <p:nvSpPr>
          <p:cNvPr id="22" name="Text 20"/>
          <p:cNvSpPr/>
          <p:nvPr/>
        </p:nvSpPr>
        <p:spPr>
          <a:xfrm>
            <a:off x="411480" y="3547872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00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Rota de retorno da madeira (take-back)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675120" y="3584448"/>
            <a:ext cx="1371600" cy="237744"/>
          </a:xfrm>
          <a:prstGeom prst="rect">
            <a:avLst/>
          </a:prstGeom>
          <a:noFill/>
          <a:ln w="9525">
            <a:solidFill>
              <a:srgbClr val="9FB4B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9FB4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HIPÓTESE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11480" y="3931920"/>
            <a:ext cx="7635240" cy="9144"/>
          </a:xfrm>
          <a:prstGeom prst="rect">
            <a:avLst/>
          </a:prstGeom>
          <a:solidFill>
            <a:srgbClr val="3A362E"/>
          </a:solidFill>
          <a:ln/>
        </p:spPr>
      </p:sp>
      <p:sp>
        <p:nvSpPr>
          <p:cNvPr id="25" name="Text 23"/>
          <p:cNvSpPr/>
          <p:nvPr/>
        </p:nvSpPr>
        <p:spPr>
          <a:xfrm>
            <a:off x="411480" y="4160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Próxima leva sob encomenda: cada peça muda conforme a madeira disponível. Reposição: perna de bambu avulsa.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11480" y="4809744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Luiza Britto · Design Thinking e Prototipagem · Insper · 02 jul 2026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2026-07-02T03:30:23Z</dcterms:created>
  <dcterms:modified xsi:type="dcterms:W3CDTF">2026-07-02T03:30:23Z</dcterms:modified>
</cp:coreProperties>
</file>