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Shape 6"/>
          <p:cNvSpPr/>
          <p:nvPr/>
        </p:nvSpPr>
        <p:spPr>
          <a:xfrm>
            <a:off x="483870" y="395732"/>
            <a:ext cx="96520" cy="62738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9" name="Shape 7"/>
          <p:cNvSpPr/>
          <p:nvPr/>
        </p:nvSpPr>
        <p:spPr>
          <a:xfrm>
            <a:off x="580390" y="395732"/>
            <a:ext cx="36195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0" name="Shape 8"/>
          <p:cNvSpPr/>
          <p:nvPr/>
        </p:nvSpPr>
        <p:spPr>
          <a:xfrm>
            <a:off x="580390" y="516382"/>
            <a:ext cx="48260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1" name="Shape 9"/>
          <p:cNvSpPr/>
          <p:nvPr/>
        </p:nvSpPr>
        <p:spPr>
          <a:xfrm>
            <a:off x="580390" y="637032"/>
            <a:ext cx="33782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2" name="Shape 10"/>
          <p:cNvSpPr/>
          <p:nvPr/>
        </p:nvSpPr>
        <p:spPr>
          <a:xfrm>
            <a:off x="580390" y="709422"/>
            <a:ext cx="33782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3" name="Shape 11"/>
          <p:cNvSpPr/>
          <p:nvPr/>
        </p:nvSpPr>
        <p:spPr>
          <a:xfrm>
            <a:off x="580390" y="830072"/>
            <a:ext cx="50673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4" name="Shape 12"/>
          <p:cNvSpPr/>
          <p:nvPr/>
        </p:nvSpPr>
        <p:spPr>
          <a:xfrm>
            <a:off x="580390" y="950722"/>
            <a:ext cx="38608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130" y="1047242"/>
            <a:ext cx="84455" cy="14478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210" y="1047242"/>
            <a:ext cx="84455" cy="14478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7" name="Text 15"/>
          <p:cNvSpPr/>
          <p:nvPr/>
        </p:nvSpPr>
        <p:spPr>
          <a:xfrm>
            <a:off x="3840480" y="41148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3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MÓVEL PET EM MADEIRA DE REUSO · PROTÓTIPO V2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5760" y="12344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300"/>
              </a:lnSpc>
              <a:buNone/>
            </a:pPr>
            <a:r>
              <a:rPr lang="en-US" sz="124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CADEIRA
</a:t>
            </a:r>
            <a:pPr indent="0" marL="0">
              <a:lnSpc>
                <a:spcPts val="10300"/>
              </a:lnSpc>
              <a:buNone/>
            </a:pPr>
            <a:r>
              <a:rPr lang="en-US" sz="124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BENI</a:t>
            </a:r>
            <a:endParaRPr lang="en-US" sz="12400" dirty="0"/>
          </a:p>
        </p:txBody>
      </p:sp>
      <p:sp>
        <p:nvSpPr>
          <p:cNvPr id="19" name="Text 17"/>
          <p:cNvSpPr/>
          <p:nvPr/>
        </p:nvSpPr>
        <p:spPr>
          <a:xfrm>
            <a:off x="429768" y="397764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caminha saiu do canto. Virou mobiliário.</a:t>
            </a:r>
            <a:endParaRPr lang="en-US" sz="1800" dirty="0"/>
          </a:p>
        </p:txBody>
      </p:sp>
      <p:pic>
        <p:nvPicPr>
          <p:cNvPr id="20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960120"/>
            <a:ext cx="3931920" cy="354727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PROBLEMA SISTÊMICO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8412480" cy="874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84"/>
              </a:lnSpc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PET FICOU DEFINITIVO.</a:t>
            </a:r>
            <a:endParaRPr lang="en-US" sz="4400" dirty="0"/>
          </a:p>
          <a:p>
            <a:pPr indent="0" marL="0">
              <a:lnSpc>
                <a:spcPts val="3784"/>
              </a:lnSpc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PRODUTO PET, NÃO.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29768" y="228600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542032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caminha deforma, não lava e vai inteira pro lixo — escondida no canto da sala.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2286000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243D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ECOSSISTEMA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36592" y="2542032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maciça de móveis antigos vira descarte volumoso — e cada peça reusada substitui madeira nova.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356616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R$ 76 BI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38912" y="42245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PET BR · 2º DO MUNDO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356616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12–16 H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3456432" y="42245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 DESCANSO POR DIA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46520" y="356616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12–24 MESES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6473952" y="42245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VIDA ÚTIL DE UMA CAMINHA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DA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PÚBLICO-ALVO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5303520" cy="83488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PARA CASAS ONDE</a:t>
            </a:r>
            <a:endParaRPr lang="en-US" sz="42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PET TAMBÉM MORA.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11480" y="23957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Tutor urbano consciente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11480" y="27432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28–50 · capitais · apartamento · cão pequeno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3127248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Quer móvel que fica na sala.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Aceita pátina como história.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 por durar e reparar.</a:t>
            </a:r>
            <a:endParaRPr lang="en-US" sz="1400" dirty="0"/>
          </a:p>
        </p:txBody>
      </p:sp>
      <p:pic>
        <p:nvPicPr>
          <p:cNvPr id="13" name="Image 0" descr="site/assets/dog-lo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3154680" cy="31546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669280" y="1325880"/>
            <a:ext cx="3154680" cy="3154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0" y="4535424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CACHORRO DE VERDADE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VALIDAÇÃO · CERTEZAS &amp; SUPOSIÇÕES DA PESQUISA · 6 ENTREVISTAS — TUTORES, MARCENEIRO, VETERINÁRIO, CATADOR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" y="1033272"/>
            <a:ext cx="36576" cy="822960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10" name="Text 8"/>
          <p:cNvSpPr/>
          <p:nvPr/>
        </p:nvSpPr>
        <p:spPr>
          <a:xfrm>
            <a:off x="603504" y="96012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“Higiene — urina, pelos, ácaros — é fator obrigatório de aceitação.”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3504" y="1545336"/>
            <a:ext cx="8138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CERTEZA · PESQUISA      →  VIROU: VERNIZ LAVÁVEL AGORA, CAPA REMOVÍVEL NO ROADMAP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221992"/>
            <a:ext cx="36576" cy="822960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" y="214884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“Só confio no reaproveitado com protocolo claro de sanitização.”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03504" y="2734056"/>
            <a:ext cx="8138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SUPOSIÇÃO · CONSUMIDORES      →  VIROU: TRIAGEM, TRATAMENTO E VERNIZ NO PROCESSO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10712"/>
            <a:ext cx="36576" cy="822960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" y="333756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“Peroba e jacarandá, hoje, só se obtêm por reuso.”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603504" y="3922776"/>
            <a:ext cx="8138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CERTEZA · MADEIRA-FONTE      →  VIROU: MINERAÇÃO URBANA COMO VALOR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PROPOSTA DE VALOR SISTÊMICA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8412480" cy="83488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NÃO É CAMINHA DESCARTÁVEL.</a:t>
            </a:r>
            <a:endParaRPr lang="en-US" sz="42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É MOBILIÁRIO REPARÁVEL.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11480" y="23957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CAMINHA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0" y="23957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2633472"/>
            <a:ext cx="630936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72491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nova, insumo virgem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272491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que já existia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1480" y="3163824"/>
            <a:ext cx="630936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25526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Estragou? Joga tudo fora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325526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Troca por componente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" y="3694176"/>
            <a:ext cx="630936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378561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no canto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0" y="378561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Fica na sala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0" y="4315968"/>
            <a:ext cx="146304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TECIDOS — EM BREVE</a:t>
            </a:r>
            <a:endParaRPr lang="en-US" sz="800" dirty="0"/>
          </a:p>
        </p:txBody>
      </p:sp>
      <p:pic>
        <p:nvPicPr>
          <p:cNvPr id="22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2377440"/>
            <a:ext cx="1920240" cy="173239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 FÍSICO · DEMONSTRAÇÃO AO VIVO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713232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956"/>
              </a:lnSpc>
              <a:buNone/>
            </a:pPr>
            <a:r>
              <a:rPr lang="en-US" sz="46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A CADEIRA,</a:t>
            </a:r>
            <a:endParaRPr lang="en-US" sz="4600" dirty="0"/>
          </a:p>
          <a:p>
            <a:pPr indent="0" marL="0">
              <a:lnSpc>
                <a:spcPts val="3956"/>
              </a:lnSpc>
              <a:buNone/>
            </a:pPr>
            <a:r>
              <a:rPr lang="en-US" sz="46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POR PARTES.</a:t>
            </a:r>
            <a:endParaRPr lang="en-US" sz="4600" dirty="0"/>
          </a:p>
        </p:txBody>
      </p:sp>
      <p:pic>
        <p:nvPicPr>
          <p:cNvPr id="10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240280"/>
            <a:ext cx="3291840" cy="296981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343400" y="1024128"/>
            <a:ext cx="469087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12" name="Text 9"/>
          <p:cNvSpPr/>
          <p:nvPr/>
        </p:nvSpPr>
        <p:spPr>
          <a:xfrm>
            <a:off x="4343400" y="10972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806440" y="106984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reaproveitada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47888" y="1088136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343400" y="1737360"/>
            <a:ext cx="469087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16" name="Text 13"/>
          <p:cNvSpPr/>
          <p:nvPr/>
        </p:nvSpPr>
        <p:spPr>
          <a:xfrm>
            <a:off x="4343400" y="181051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PERNAS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806440" y="17830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Bambu — 4 estacas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47888" y="1801368"/>
            <a:ext cx="777240" cy="237744"/>
          </a:xfrm>
          <a:prstGeom prst="rect">
            <a:avLst/>
          </a:prstGeom>
          <a:noFill/>
          <a:ln w="9525">
            <a:solidFill>
              <a:srgbClr val="D65A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343400" y="2450592"/>
            <a:ext cx="469087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20" name="Text 17"/>
          <p:cNvSpPr/>
          <p:nvPr/>
        </p:nvSpPr>
        <p:spPr>
          <a:xfrm>
            <a:off x="4343400" y="25237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FIXAÇÃO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806440" y="249631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Encaixe, sem cola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247888" y="2514600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4343400" y="3163824"/>
            <a:ext cx="469087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24" name="Text 21"/>
          <p:cNvSpPr/>
          <p:nvPr/>
        </p:nvSpPr>
        <p:spPr>
          <a:xfrm>
            <a:off x="4343400" y="323697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ACABAMENTO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806440" y="320954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Verniz + vinil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247888" y="3227832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4343400" y="3877056"/>
            <a:ext cx="469087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28" name="Text 25"/>
          <p:cNvSpPr/>
          <p:nvPr/>
        </p:nvSpPr>
        <p:spPr>
          <a:xfrm>
            <a:off x="4343400" y="395020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ASSENTO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806440" y="392277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Tecidos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247888" y="3941064"/>
            <a:ext cx="77724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BREVE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806440" y="352958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FB4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resiste a unha, xixi e mordida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te/assets/uso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98932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99632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TESTE EM USO REAL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172200" y="841248"/>
            <a:ext cx="2834640" cy="795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NA SALA,</a:t>
            </a:r>
            <a:endParaRPr lang="en-US" sz="4000" dirty="0"/>
          </a:p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COM CACHORRO.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199632" y="25146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Subiu sozinho no primeiro dia.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Aguentou pata, peso e soneca.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Ficou na sala. Não no canto.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 rot="-240000">
            <a:off x="6199632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9B48"/>
                </a:solidFill>
                <a:latin typeface="Permanent Marker" pitchFamily="34" charset="0"/>
                <a:ea typeface="Permanent Marker" pitchFamily="34" charset="-122"/>
                <a:cs typeface="Permanent Marker" pitchFamily="34" charset="-120"/>
              </a:rPr>
              <a:t>teste nº 1 · aprovado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 DIGITAL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8229600" cy="874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84"/>
              </a:lnSpc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DO OBJETO AO SISTEMA.</a:t>
            </a:r>
            <a:endParaRPr lang="en-US" sz="4400" dirty="0"/>
          </a:p>
        </p:txBody>
      </p:sp>
      <p:pic>
        <p:nvPicPr>
          <p:cNvPr id="10" name="Image 0" descr="entrega/shots/site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2697480" cy="1812369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11480" y="1828800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1480" y="3694176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PEÇA</a:t>
            </a:r>
            <a:endParaRPr lang="en-US" sz="850" dirty="0"/>
          </a:p>
        </p:txBody>
      </p:sp>
      <p:pic>
        <p:nvPicPr>
          <p:cNvPr id="13" name="Image 1" descr="entrega/shots/site-pranch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828800"/>
            <a:ext cx="2697480" cy="1812369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246120" y="1828800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246120" y="3694176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PRANCHA TÉCNICA</a:t>
            </a:r>
            <a:endParaRPr lang="en-US" sz="850" dirty="0"/>
          </a:p>
        </p:txBody>
      </p:sp>
      <p:pic>
        <p:nvPicPr>
          <p:cNvPr id="16" name="Image 2" descr="entrega/shots/site-supor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828800"/>
            <a:ext cx="2697480" cy="1812369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080760" y="1828800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080760" y="3694176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SUPORTE CIRCULAR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411480" y="4160520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4A2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Documentação navegável do projeto — entregue em HTML + PDF.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ECONOMIA CIRCULAR · CICLO DE VIDA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713232"/>
            <a:ext cx="8229600" cy="874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84"/>
              </a:lnSpc>
              <a:buNone/>
            </a:pPr>
            <a:r>
              <a:rPr lang="en-US" sz="44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CICLO NÃO TERMINA</a:t>
            </a:r>
            <a:endParaRPr lang="en-US" sz="4400" dirty="0"/>
          </a:p>
          <a:p>
            <a:pPr indent="0" marL="0">
              <a:lnSpc>
                <a:spcPts val="3784"/>
              </a:lnSpc>
              <a:buNone/>
            </a:pPr>
            <a:r>
              <a:rPr lang="en-US" sz="44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NA VENDA.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11480" y="246888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COMPROU</a:t>
            </a:r>
            <a:pPr indent="0" marL="0">
              <a:buNone/>
            </a:pPr>
            <a:r>
              <a:rPr lang="en-US" sz="33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indent="0" marL="0">
              <a:buNone/>
            </a:pPr>
            <a:r>
              <a:rPr lang="en-US" sz="33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USOU</a:t>
            </a:r>
            <a:pPr indent="0" marL="0">
              <a:buNone/>
            </a:pPr>
            <a:r>
              <a:rPr lang="en-US" sz="33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indent="0" marL="0">
              <a:buNone/>
            </a:pPr>
            <a:r>
              <a:rPr lang="en-US" sz="33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REPAROU</a:t>
            </a:r>
            <a:pPr indent="0" marL="0">
              <a:buNone/>
            </a:pPr>
            <a:r>
              <a:rPr lang="en-US" sz="33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indent="0" marL="0">
              <a:buNone/>
            </a:pPr>
            <a:r>
              <a:rPr lang="en-US" sz="33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DEVOLVEU</a:t>
            </a:r>
            <a:pPr indent="0" marL="0">
              <a:buNone/>
            </a:pPr>
            <a:r>
              <a:rPr lang="en-US" sz="33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indent="0" marL="0">
              <a:buNone/>
            </a:pPr>
            <a:r>
              <a:rPr lang="en-US" sz="3300" dirty="0">
                <a:solidFill>
                  <a:srgbClr val="C89B48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REAPROVEITOU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411480" y="331012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MATÉRIA-PRIMA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3547872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lote de madeira define a peça.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51176" y="331012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MANUTENÇÃO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51176" y="3547872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Risco se lixa; verniz reaplica.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690872" y="331012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REPARO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90872" y="3547872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Estaca sai, estaca entra.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30568" y="331012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FIM DE VIDA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830568" y="3547872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Devolve → triagem → reuso.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42245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“Não jogue a Beni fora.”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DA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PROCESSO PRODUTIVO · ERROS E ACERTOS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8229600" cy="795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ERRO TAMBÉM É MATERIAL.</a:t>
            </a:r>
            <a:endParaRPr lang="en-US" sz="4000" dirty="0"/>
          </a:p>
        </p:txBody>
      </p:sp>
      <p:pic>
        <p:nvPicPr>
          <p:cNvPr id="10" name="Image 0" descr="site/assets/v1-chair-b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691640"/>
            <a:ext cx="1920240" cy="2286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 rot="-360000">
            <a:off x="475488" y="1828800"/>
            <a:ext cx="1417320" cy="292608"/>
          </a:xfrm>
          <a:prstGeom prst="rect">
            <a:avLst/>
          </a:prstGeom>
          <a:noFill/>
          <a:ln w="15240">
            <a:solidFill>
              <a:srgbClr val="D65A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NÃO FECHOU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1480" y="404164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V1 · MARCHETARIA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514600" y="1783080"/>
            <a:ext cx="1965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Cada pé saía diferente — precisão que o reuso não dá.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Quebrou uma parte, perdeu a peça.</a:t>
            </a:r>
            <a:endParaRPr lang="en-US" sz="1200" dirty="0"/>
          </a:p>
        </p:txBody>
      </p:sp>
      <p:pic>
        <p:nvPicPr>
          <p:cNvPr id="14" name="Image 1" descr="site/assets/dog-chai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1691640"/>
            <a:ext cx="1920240" cy="22860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 rot="-360000">
            <a:off x="4754880" y="1828800"/>
            <a:ext cx="1645920" cy="292608"/>
          </a:xfrm>
          <a:prstGeom prst="rect">
            <a:avLst/>
          </a:prstGeom>
          <a:noFill/>
          <a:ln w="15240">
            <a:solidFill>
              <a:srgbClr val="243D2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243D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MAIS REPARÁVEL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709160" y="404164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V2 · BAMBU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6812280" y="178308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Partes independentes: estaca sai, estaca entra.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madeira. Mais leve.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" y="4370832"/>
            <a:ext cx="8321040" cy="457200"/>
          </a:xfrm>
          <a:prstGeom prst="rect">
            <a:avLst/>
          </a:prstGeom>
          <a:solidFill>
            <a:srgbClr val="11100D"/>
          </a:solidFill>
          <a:ln/>
        </p:spPr>
      </p:sp>
      <p:sp>
        <p:nvSpPr>
          <p:cNvPr id="19" name="Text 15"/>
          <p:cNvSpPr/>
          <p:nvPr/>
        </p:nvSpPr>
        <p:spPr>
          <a:xfrm>
            <a:off x="594360" y="4389120"/>
            <a:ext cx="8046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TENSÕES:  USUÁRIO  ×  MATERIAL  ×  LABORATÓRIO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VIABILIDADE SISTÊMICA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8412480" cy="795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CINCO PROVAS PARA</a:t>
            </a:r>
            <a:endParaRPr lang="en-US" sz="4000" dirty="0"/>
          </a:p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A CADEIRA EXISTIR.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411480" y="2304288"/>
            <a:ext cx="1508760" cy="402336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304288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48840" y="2322576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Fica na sala sem parecer caminha.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2798064"/>
            <a:ext cx="1508760" cy="402336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798064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48840" y="281635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Sobe sozinho; plataforma firme e ventilada.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" y="3291840"/>
            <a:ext cx="1508760" cy="402336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291840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48840" y="3310128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Cortes retos — qualquer marcenaria reproduz.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1480" y="3785616"/>
            <a:ext cx="1508760" cy="402336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3785616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ECOSSISTEMA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148840" y="3803904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Aproveita descarte volumoso urbano.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1480" y="4279392"/>
            <a:ext cx="1508760" cy="402336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279392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NEGÓCIO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48840" y="4297680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peça dura; a reposição circula.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Shape 6"/>
          <p:cNvSpPr/>
          <p:nvPr/>
        </p:nvSpPr>
        <p:spPr>
          <a:xfrm>
            <a:off x="513588" y="513080"/>
            <a:ext cx="111760" cy="72644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9" name="Shape 7"/>
          <p:cNvSpPr/>
          <p:nvPr/>
        </p:nvSpPr>
        <p:spPr>
          <a:xfrm>
            <a:off x="625348" y="513080"/>
            <a:ext cx="41910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0" name="Shape 8"/>
          <p:cNvSpPr/>
          <p:nvPr/>
        </p:nvSpPr>
        <p:spPr>
          <a:xfrm>
            <a:off x="625348" y="652780"/>
            <a:ext cx="55880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1" name="Shape 9"/>
          <p:cNvSpPr/>
          <p:nvPr/>
        </p:nvSpPr>
        <p:spPr>
          <a:xfrm>
            <a:off x="625348" y="792480"/>
            <a:ext cx="39116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2" name="Shape 10"/>
          <p:cNvSpPr/>
          <p:nvPr/>
        </p:nvSpPr>
        <p:spPr>
          <a:xfrm>
            <a:off x="625348" y="876300"/>
            <a:ext cx="39116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348" y="1016000"/>
            <a:ext cx="58674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5348" y="1155700"/>
            <a:ext cx="44704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69468" y="1267460"/>
            <a:ext cx="97790" cy="16764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6508" y="1267460"/>
            <a:ext cx="97790" cy="16764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64592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CADEIRA </a:t>
            </a:r>
            <a:pPr indent="0" marL="0">
              <a:buNone/>
            </a:pPr>
            <a:r>
              <a:rPr lang="en-US" sz="96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BENI</a:t>
            </a:r>
            <a:endParaRPr lang="en-US" sz="9600" dirty="0"/>
          </a:p>
        </p:txBody>
      </p:sp>
      <p:sp>
        <p:nvSpPr>
          <p:cNvPr id="18" name="Text 16"/>
          <p:cNvSpPr/>
          <p:nvPr/>
        </p:nvSpPr>
        <p:spPr>
          <a:xfrm>
            <a:off x="429768" y="320040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caminha saiu do canto. Virou mobiliário.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29768" y="37673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OBRIGADA · PERGUNTAS?</a:t>
            </a:r>
            <a:endParaRPr lang="en-US" sz="1100" dirty="0"/>
          </a:p>
        </p:txBody>
      </p:sp>
      <p:pic>
        <p:nvPicPr>
          <p:cNvPr id="20" name="Image 0" descr="site/assets/dog-f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417320"/>
            <a:ext cx="2468880" cy="24688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 rot="-180000">
            <a:off x="6309360" y="393192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B48"/>
                </a:solidFill>
                <a:latin typeface="Permanent Marker" pitchFamily="34" charset="0"/>
                <a:ea typeface="Permanent Marker" pitchFamily="34" charset="-122"/>
                <a:cs typeface="Permanent Marker" pitchFamily="34" charset="-120"/>
              </a:rPr>
              <a:t>soneca oficial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Projeto Aplicado em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APÊNDICE · PRÓXIMO PROTÓTIPO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6400800" cy="795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QUE AINDA FALTA.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11480" y="21488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Capa de tecido removível e lavável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75120" y="2194560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 BREVE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11480" y="253288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6060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Padronizar medidas P e M a partir do lote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75120" y="2651760"/>
            <a:ext cx="1371600" cy="237744"/>
          </a:xfrm>
          <a:prstGeom prst="rect">
            <a:avLst/>
          </a:prstGeom>
          <a:noFill/>
          <a:ln w="9525">
            <a:solidFill>
              <a:srgbClr val="8A7B6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 DESENHO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11480" y="299008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0632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Protocolo de sanitização da madeira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75120" y="3108960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11480" y="344728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35204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Testes com mais cães, casas e semanas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75120" y="3566160"/>
            <a:ext cx="1371600" cy="237744"/>
          </a:xfrm>
          <a:prstGeom prst="rect">
            <a:avLst/>
          </a:prstGeom>
          <a:noFill/>
          <a:ln w="9525">
            <a:solidFill>
              <a:srgbClr val="8A7B6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PLANEJADO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11480" y="390448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9776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Rota de retorno da madeira (take-back)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75120" y="4023360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11480" y="436168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4526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Próxima leva sob encomenda · reposição: perna avulsa · luizambritto@gmail.com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2026-07-02T04:00:18Z</dcterms:created>
  <dcterms:modified xsi:type="dcterms:W3CDTF">2026-07-02T04:00:18Z</dcterms:modified>
</cp:coreProperties>
</file>